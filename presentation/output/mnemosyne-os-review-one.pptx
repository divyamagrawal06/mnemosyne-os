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62028792c6994d03" /><Relationship Type="http://schemas.openxmlformats.org/officeDocument/2006/relationships/extended-properties" Target="/docProps/app.xml" Id="R46bdb4db2d4c47e5" /><Relationship Type="http://schemas.openxmlformats.org/officeDocument/2006/relationships/officeDocument" Target="/ppt/presentation.xml" Id="Rdc08d3076be94af5" /></Relationships>
</file>

<file path=ppt/presentation.xml><?xml version="1.0" encoding="utf-8"?>
<p:presentation xmlns:p="http://schemas.openxmlformats.org/presentationml/2006/main">
  <p:sldMasterIdLst>
    <p:sldMasterId xmlns:r="http://schemas.openxmlformats.org/officeDocument/2006/relationships" id="2147483648" r:id="Ra3253e5e5a2341c9"/>
  </p:sldMasterIdLst>
  <p:notesMasterIdLst>
    <p:notesMasterId xmlns:r="http://schemas.openxmlformats.org/officeDocument/2006/relationships" r:id="R970f40d920fe446c"/>
  </p:notesMasterIdLst>
  <p:sldIdLst>
    <p:sldId xmlns:r="http://schemas.openxmlformats.org/officeDocument/2006/relationships" id="256" r:id="R09bda8bfc81e4486"/>
    <p:sldId xmlns:r="http://schemas.openxmlformats.org/officeDocument/2006/relationships" id="257" r:id="R59f4d765f4ed4ec3"/>
    <p:sldId xmlns:r="http://schemas.openxmlformats.org/officeDocument/2006/relationships" id="258" r:id="R5107d7275f29401b"/>
    <p:sldId xmlns:r="http://schemas.openxmlformats.org/officeDocument/2006/relationships" id="259" r:id="R358ec32563f9437e"/>
    <p:sldId xmlns:r="http://schemas.openxmlformats.org/officeDocument/2006/relationships" id="260" r:id="R60a575d1532f4cf1"/>
    <p:sldId xmlns:r="http://schemas.openxmlformats.org/officeDocument/2006/relationships" id="261" r:id="R5e4dea9a4a004469"/>
    <p:sldId xmlns:r="http://schemas.openxmlformats.org/officeDocument/2006/relationships" id="262" r:id="R4b02b902f3214b84"/>
    <p:sldId xmlns:r="http://schemas.openxmlformats.org/officeDocument/2006/relationships" id="263" r:id="R59e8b54b6c5548a0"/>
    <p:sldId xmlns:r="http://schemas.openxmlformats.org/officeDocument/2006/relationships" id="264" r:id="R1b335b71cc744348"/>
    <p:sldId xmlns:r="http://schemas.openxmlformats.org/officeDocument/2006/relationships" id="265" r:id="R4caca5c29fbf4847"/>
    <p:sldId xmlns:r="http://schemas.openxmlformats.org/officeDocument/2006/relationships" id="266" r:id="Rbd12b4a5599345f5"/>
    <p:sldId xmlns:r="http://schemas.openxmlformats.org/officeDocument/2006/relationships" id="267" r:id="Rc96364e1264b4b60"/>
    <p:sldId xmlns:r="http://schemas.openxmlformats.org/officeDocument/2006/relationships" id="268" r:id="R62b7d5528c924d63"/>
    <p:sldId xmlns:r="http://schemas.openxmlformats.org/officeDocument/2006/relationships" id="269" r:id="R923d76076be444a5"/>
    <p:sldId xmlns:r="http://schemas.openxmlformats.org/officeDocument/2006/relationships" id="270" r:id="R8fea88f29591426e"/>
    <p:sldId xmlns:r="http://schemas.openxmlformats.org/officeDocument/2006/relationships" id="271" r:id="Rb4176294e5cd402b"/>
    <p:sldId xmlns:r="http://schemas.openxmlformats.org/officeDocument/2006/relationships" id="272" r:id="R29be2ae378d54f10"/>
    <p:sldId xmlns:r="http://schemas.openxmlformats.org/officeDocument/2006/relationships" id="273" r:id="R4d020631cc7f4cda"/>
    <p:sldId xmlns:r="http://schemas.openxmlformats.org/officeDocument/2006/relationships" id="274" r:id="Rdc22ddb7586348d0"/>
    <p:sldId xmlns:r="http://schemas.openxmlformats.org/officeDocument/2006/relationships" id="275" r:id="Rde98887997f64734"/>
    <p:sldId xmlns:r="http://schemas.openxmlformats.org/officeDocument/2006/relationships" id="276" r:id="R1e0f0dc26ac2477d"/>
    <p:sldId xmlns:r="http://schemas.openxmlformats.org/officeDocument/2006/relationships" id="277" r:id="R5984b265e9704ccc"/>
    <p:sldId xmlns:r="http://schemas.openxmlformats.org/officeDocument/2006/relationships" id="278" r:id="R80ca9e56d14a4da9"/>
    <p:sldId xmlns:r="http://schemas.openxmlformats.org/officeDocument/2006/relationships" id="279" r:id="R5b759644ee0f4ca2"/>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bedd0327c75b481c" /><Relationship Type="http://schemas.openxmlformats.org/officeDocument/2006/relationships/slideMaster" Target="/ppt/slideMasters/slideMaster1.xml" Id="Ra3253e5e5a2341c9" /><Relationship Type="http://schemas.openxmlformats.org/officeDocument/2006/relationships/notesMaster" Target="/ppt/notesMasters/notesMaster1.xml" Id="R970f40d920fe446c" /><Relationship Type="http://schemas.openxmlformats.org/officeDocument/2006/relationships/presProps" Target="/ppt/presProps.xml" Id="Rc344876dfe864fce" /><Relationship Type="http://schemas.openxmlformats.org/officeDocument/2006/relationships/tableStyles" Target="/ppt/tableStyles.xml" Id="Rabde97eb4c9b4ed8" /><Relationship Type="http://schemas.openxmlformats.org/officeDocument/2006/relationships/slide" Target="/ppt/slides/slide1.xml" Id="R09bda8bfc81e4486" /><Relationship Type="http://schemas.openxmlformats.org/officeDocument/2006/relationships/slide" Target="/ppt/slides/slide2.xml" Id="R59f4d765f4ed4ec3" /><Relationship Type="http://schemas.openxmlformats.org/officeDocument/2006/relationships/slide" Target="/ppt/slides/slide3.xml" Id="R5107d7275f29401b" /><Relationship Type="http://schemas.openxmlformats.org/officeDocument/2006/relationships/slide" Target="/ppt/slides/slide4.xml" Id="R358ec32563f9437e" /><Relationship Type="http://schemas.openxmlformats.org/officeDocument/2006/relationships/slide" Target="/ppt/slides/slide5.xml" Id="R60a575d1532f4cf1" /><Relationship Type="http://schemas.openxmlformats.org/officeDocument/2006/relationships/slide" Target="/ppt/slides/slide6.xml" Id="R5e4dea9a4a004469" /><Relationship Type="http://schemas.openxmlformats.org/officeDocument/2006/relationships/slide" Target="/ppt/slides/slide7.xml" Id="R4b02b902f3214b84" /><Relationship Type="http://schemas.openxmlformats.org/officeDocument/2006/relationships/slide" Target="/ppt/slides/slide8.xml" Id="R59e8b54b6c5548a0" /><Relationship Type="http://schemas.openxmlformats.org/officeDocument/2006/relationships/slide" Target="/ppt/slides/slide9.xml" Id="R1b335b71cc744348" /><Relationship Type="http://schemas.openxmlformats.org/officeDocument/2006/relationships/slide" Target="/ppt/slides/slide10.xml" Id="R4caca5c29fbf4847" /><Relationship Type="http://schemas.openxmlformats.org/officeDocument/2006/relationships/slide" Target="/ppt/slides/slide11.xml" Id="Rbd12b4a5599345f5" /><Relationship Type="http://schemas.openxmlformats.org/officeDocument/2006/relationships/slide" Target="/ppt/slides/slide12.xml" Id="Rc96364e1264b4b60" /><Relationship Type="http://schemas.openxmlformats.org/officeDocument/2006/relationships/slide" Target="/ppt/slides/slide13.xml" Id="R62b7d5528c924d63" /><Relationship Type="http://schemas.openxmlformats.org/officeDocument/2006/relationships/slide" Target="/ppt/slides/slide14.xml" Id="R923d76076be444a5" /><Relationship Type="http://schemas.openxmlformats.org/officeDocument/2006/relationships/slide" Target="/ppt/slides/slide15.xml" Id="R8fea88f29591426e" /><Relationship Type="http://schemas.openxmlformats.org/officeDocument/2006/relationships/slide" Target="/ppt/slides/slide16.xml" Id="Rb4176294e5cd402b" /><Relationship Type="http://schemas.openxmlformats.org/officeDocument/2006/relationships/slide" Target="/ppt/slides/slide17.xml" Id="R29be2ae378d54f10" /><Relationship Type="http://schemas.openxmlformats.org/officeDocument/2006/relationships/slide" Target="/ppt/slides/slide18.xml" Id="R4d020631cc7f4cda" /><Relationship Type="http://schemas.openxmlformats.org/officeDocument/2006/relationships/slide" Target="/ppt/slides/slide19.xml" Id="Rdc22ddb7586348d0" /><Relationship Type="http://schemas.openxmlformats.org/officeDocument/2006/relationships/slide" Target="/ppt/slides/slide20.xml" Id="Rde98887997f64734" /><Relationship Type="http://schemas.openxmlformats.org/officeDocument/2006/relationships/slide" Target="/ppt/slides/slide21.xml" Id="R1e0f0dc26ac2477d" /><Relationship Type="http://schemas.openxmlformats.org/officeDocument/2006/relationships/slide" Target="/ppt/slides/slide22.xml" Id="R5984b265e9704ccc" /><Relationship Type="http://schemas.openxmlformats.org/officeDocument/2006/relationships/slide" Target="/ppt/slides/slide23.xml" Id="R80ca9e56d14a4da9" /><Relationship Type="http://schemas.openxmlformats.org/officeDocument/2006/relationships/slide" Target="/ppt/slides/slide24.xml" Id="R5b759644ee0f4ca2"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21dcc07c33f24451"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d0e92cd70a3a4795" /><Relationship Type="http://schemas.openxmlformats.org/officeDocument/2006/relationships/notesMaster" Target="/ppt/notesMasters/notesMaster1.xml" Id="R8db5c7e652614c6e" /></Relationships>
</file>

<file path=ppt/notesSlides/_rels/notesSlide2.xml.rels>&#65279;<?xml version="1.0" encoding="utf-8"?><Relationships xmlns="http://schemas.openxmlformats.org/package/2006/relationships"><Relationship Type="http://schemas.openxmlformats.org/officeDocument/2006/relationships/slide" Target="/ppt/slides/slide2.xml" Id="R4ec0dd74fafc4987" /><Relationship Type="http://schemas.openxmlformats.org/officeDocument/2006/relationships/notesMaster" Target="/ppt/notesMasters/notesMaster1.xml" Id="R288bda966898499d" /></Relationships>
</file>

<file path=ppt/notesSlides/_rels/notesSlide3.xml.rels>&#65279;<?xml version="1.0" encoding="utf-8"?><Relationships xmlns="http://schemas.openxmlformats.org/package/2006/relationships"><Relationship Type="http://schemas.openxmlformats.org/officeDocument/2006/relationships/slide" Target="/ppt/slides/slide3.xml" Id="R42bd24616d3f4661" /><Relationship Type="http://schemas.openxmlformats.org/officeDocument/2006/relationships/notesMaster" Target="/ppt/notesMasters/notesMaster1.xml" Id="R978e3777eb9e4033" /></Relationships>
</file>

<file path=ppt/notesSlides/_rels/notesSlide4.xml.rels>&#65279;<?xml version="1.0" encoding="utf-8"?><Relationships xmlns="http://schemas.openxmlformats.org/package/2006/relationships"><Relationship Type="http://schemas.openxmlformats.org/officeDocument/2006/relationships/slide" Target="/ppt/slides/slide4.xml" Id="R16355db6db27451e" /><Relationship Type="http://schemas.openxmlformats.org/officeDocument/2006/relationships/notesMaster" Target="/ppt/notesMasters/notesMaster1.xml" Id="Re56e6c140b824c2b" /></Relationships>
</file>

<file path=ppt/notesSlides/_rels/notesSlide5.xml.rels>&#65279;<?xml version="1.0" encoding="utf-8"?><Relationships xmlns="http://schemas.openxmlformats.org/package/2006/relationships"><Relationship Type="http://schemas.openxmlformats.org/officeDocument/2006/relationships/slide" Target="/ppt/slides/slide5.xml" Id="R2785143989c54001" /><Relationship Type="http://schemas.openxmlformats.org/officeDocument/2006/relationships/notesMaster" Target="/ppt/notesMasters/notesMaster1.xml" Id="R0d35da20952f498f" /></Relationships>
</file>

<file path=ppt/notesSlides/_rels/notesSlide6.xml.rels>&#65279;<?xml version="1.0" encoding="utf-8"?><Relationships xmlns="http://schemas.openxmlformats.org/package/2006/relationships"><Relationship Type="http://schemas.openxmlformats.org/officeDocument/2006/relationships/slide" Target="/ppt/slides/slide6.xml" Id="R1cbf66b2507f4ba5" /><Relationship Type="http://schemas.openxmlformats.org/officeDocument/2006/relationships/notesMaster" Target="/ppt/notesMasters/notesMaster1.xml" Id="R220a914cd523493b" /></Relationships>
</file>

<file path=ppt/notesSlides/_rels/notesSlide7.xml.rels>&#65279;<?xml version="1.0" encoding="utf-8"?><Relationships xmlns="http://schemas.openxmlformats.org/package/2006/relationships"><Relationship Type="http://schemas.openxmlformats.org/officeDocument/2006/relationships/slide" Target="/ppt/slides/slide7.xml" Id="R280be3ec6cbf43df" /><Relationship Type="http://schemas.openxmlformats.org/officeDocument/2006/relationships/notesMaster" Target="/ppt/notesMasters/notesMaster1.xml" Id="Radf969aed7084fb3" /></Relationships>
</file>

<file path=ppt/notesSlides/_rels/notesSlide8.xml.rels>&#65279;<?xml version="1.0" encoding="utf-8"?><Relationships xmlns="http://schemas.openxmlformats.org/package/2006/relationships"><Relationship Type="http://schemas.openxmlformats.org/officeDocument/2006/relationships/slide" Target="/ppt/slides/slide8.xml" Id="R1079003795c4430a" /><Relationship Type="http://schemas.openxmlformats.org/officeDocument/2006/relationships/notesMaster" Target="/ppt/notesMasters/notesMaster1.xml" Id="Rfa3b2847000648ac" /></Relationships>
</file>

<file path=ppt/notesSlides/_rels/notesSlide9.xml.rels>&#65279;<?xml version="1.0" encoding="utf-8"?><Relationships xmlns="http://schemas.openxmlformats.org/package/2006/relationships"><Relationship Type="http://schemas.openxmlformats.org/officeDocument/2006/relationships/slide" Target="/ppt/slides/slide9.xml" Id="R336a39736a114ffb" /><Relationship Type="http://schemas.openxmlformats.org/officeDocument/2006/relationships/notesMaster" Target="/ppt/notesMasters/notesMaster1.xml" Id="R08576143d53f4bfd"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7c7d83dd423a4807" /><Relationship Type="http://schemas.openxmlformats.org/officeDocument/2006/relationships/notesMaster" Target="/ppt/notesMasters/notesMaster1.xml" Id="Rf78c6c7f1de44f81"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956f749b9bad417d" /><Relationship Type="http://schemas.openxmlformats.org/officeDocument/2006/relationships/notesMaster" Target="/ppt/notesMasters/notesMaster1.xml" Id="R5466e313e291482b"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e31894b0c0a646d0" /><Relationship Type="http://schemas.openxmlformats.org/officeDocument/2006/relationships/notesMaster" Target="/ppt/notesMasters/notesMaster1.xml" Id="R52511fe34b90416d"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8e8b415ee91743ad" /><Relationship Type="http://schemas.openxmlformats.org/officeDocument/2006/relationships/notesMaster" Target="/ppt/notesMasters/notesMaster1.xml" Id="R8100732251cc4cf9"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16000a67cdcd4348" /><Relationship Type="http://schemas.openxmlformats.org/officeDocument/2006/relationships/notesMaster" Target="/ppt/notesMasters/notesMaster1.xml" Id="R8424e2812f344098"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592a90d70d7d43b6" /><Relationship Type="http://schemas.openxmlformats.org/officeDocument/2006/relationships/notesMaster" Target="/ppt/notesMasters/notesMaster1.xml" Id="R3997ca237c22417e"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79ef5db41efd448a" /><Relationship Type="http://schemas.openxmlformats.org/officeDocument/2006/relationships/notesMaster" Target="/ppt/notesMasters/notesMaster1.xml" Id="Rfdbd587b608244a9"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59de6109e2c5423e" /><Relationship Type="http://schemas.openxmlformats.org/officeDocument/2006/relationships/notesMaster" Target="/ppt/notesMasters/notesMaster1.xml" Id="R4e515fbc88d3497b"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9682017072714e15" /><Relationship Type="http://schemas.openxmlformats.org/officeDocument/2006/relationships/notesMaster" Target="/ppt/notesMasters/notesMaster1.xml" Id="R6892a87e59364ba2"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5ba5d09c74b74acb" /><Relationship Type="http://schemas.openxmlformats.org/officeDocument/2006/relationships/notesMaster" Target="/ppt/notesMasters/notesMaster1.xml" Id="Rb22be92830f743dc"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6479ba457a3146a7" /><Relationship Type="http://schemas.openxmlformats.org/officeDocument/2006/relationships/notesMaster" Target="/ppt/notesMasters/notesMaster1.xml" Id="R1bd33df2cc074fef"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dc92338ec3244e0d" /><Relationship Type="http://schemas.openxmlformats.org/officeDocument/2006/relationships/notesMaster" Target="/ppt/notesMasters/notesMaster1.xml" Id="Rd7e02c0b2a1f4ae6"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0ad195640f9b4501" /><Relationship Type="http://schemas.openxmlformats.org/officeDocument/2006/relationships/notesMaster" Target="/ppt/notesMasters/notesMaster1.xml" Id="R4b4d98fdc26e4aeb"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194b126b1a654652" /><Relationship Type="http://schemas.openxmlformats.org/officeDocument/2006/relationships/notesMaster" Target="/ppt/notesMasters/notesMaster1.xml" Id="R765d1598d2af4532"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353d38158a6445a5" /><Relationship Type="http://schemas.openxmlformats.org/officeDocument/2006/relationships/notesMaster" Target="/ppt/notesMasters/notesMaster1.xml" Id="R07048b4915b54e56"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Introduce the research OS and state that the demonstration now boots its own kernel with protected userspace tasks and persistent storage. The original proposal title ends with Verified AI-Assisted Recovery. In this review, verified refers to implemented deterministic policy checks; no formal proof is claimed. The cover is conceptual artwork, not experimental evidence.</a:t>
            </a:r>
          </a:p>
          <a:p xmlns:a="http://schemas.openxmlformats.org/drawingml/2006/main">
            <a:r>
              <a:t/>
            </a:r>
          </a:p>
          <a:p xmlns:a="http://schemas.openxmlformats.org/drawingml/2006/main">
            <a:r>
              <a:t>Sources and evidence</a:t>
            </a:r>
          </a:p>
          <a:p xmlns:a="http://schemas.openxmlformats.org/drawingml/2006/main">
            <a:r>
              <a:t>Review I requirements supplied by the project author. Rubric, algorithms, ownership placeholders and completion method: docs/review-one-guide.md. Implementation baseline f09a43143e36db9d0b38b7fc7d69b6cb51d37059, 9 October 2026.</a:t>
            </a:r>
          </a:p>
          <a:p xmlns:a="http://schemas.openxmlformats.org/drawingml/2006/main">
            <a:r>
              <a:t/>
            </a:r>
          </a:p>
          <a:p xmlns:a="http://schemas.openxmlformats.org/drawingml/2006/main">
            <a:r>
              <a:t>Repository: docs/implementation-status.md, docs/build-scope.md and docs/professor-brief.md. This is a single-core research prototype, not a formally verified kernel or a complete general-purpose OS.</a:t>
            </a:r>
          </a:p>
          <a:p xmlns:a="http://schemas.openxmlformats.org/drawingml/2006/main">
            <a:r>
              <a:t/>
            </a:r>
          </a:p>
          <a:p xmlns:a="http://schemas.openxmlformats.org/drawingml/2006/main">
            <a:r>
              <a:t>Concept artwork generated previously with image_gen. Source asset: presentation/assets/cover-memory.png. Full prompt provenance: presentation/assets/provenance.json. This is not a photograph or program output.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a counter or key-value service as the example. Restoration must account for both state and authority. The current prototype reconstructs a restricted worker and compares its effects in memory. It does not implement an external recipient protocol for exactly-once effects.</a:t>
            </a:r>
          </a:p>
          <a:p xmlns:a="http://schemas.openxmlformats.org/drawingml/2006/main">
            <a:r>
              <a:t/>
            </a:r>
          </a:p>
          <a:p xmlns:a="http://schemas.openxmlformats.org/drawingml/2006/main">
            <a:r>
              <a:t>Sources and evidence</a:t>
            </a:r>
          </a:p>
          <a:p xmlns:a="http://schemas.openxmlformats.org/drawingml/2006/main">
            <a:r>
              <a:t>Review I requirements supplied by the project author. Rubric, algorithms, ownership placeholders and completion method: docs/review-one-guide.md. Implementation baseline f09a43143e36db9d0b38b7fc7d69b6cb51d37059, 9 October 2026.</a:t>
            </a:r>
          </a:p>
          <a:p xmlns:a="http://schemas.openxmlformats.org/drawingml/2006/main">
            <a:r>
              <a:t/>
            </a:r>
          </a:p>
          <a:p xmlns:a="http://schemas.openxmlformats.org/drawingml/2006/main">
            <a:r>
              <a:t>Lee et al. Implementing Linearizability at Large Scale and Low Latency. SOSP 2015. https://web.stanford.edu/~ouster/cgi-bin/papers/rifl.pdf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kernel is the experimental environment for recovery. Explain acceptance as observable behavior rather than a feature list: a CPU-hog is preempted, a sibling survives a fault, a file survives reboot, stale handles fail, and a recovered worker accepts a new request.</a:t>
            </a:r>
          </a:p>
          <a:p xmlns:a="http://schemas.openxmlformats.org/drawingml/2006/main">
            <a:r>
              <a:t/>
            </a:r>
          </a:p>
          <a:p xmlns:a="http://schemas.openxmlformats.org/drawingml/2006/main">
            <a:r>
              <a:t>Sources and evidence</a:t>
            </a:r>
          </a:p>
          <a:p xmlns:a="http://schemas.openxmlformats.org/drawingml/2006/main">
            <a:r>
              <a:t>Review I requirements supplied by the project author. Rubric, algorithms, ownership placeholders and completion method: docs/review-one-guide.md. Implementation baseline f09a43143e36db9d0b38b7fc7d69b6cb51d37059, 9 October 2026.</a:t>
            </a:r>
          </a:p>
          <a:p xmlns:a="http://schemas.openxmlformats.org/drawingml/2006/main">
            <a:r>
              <a:t/>
            </a:r>
          </a:p>
          <a:p xmlns:a="http://schemas.openxmlformats.org/drawingml/2006/main">
            <a:r>
              <a:t>Repository: docs/implementation-status.md, docs/build-scope.md and docs/professor-brief.md. This is a single-core research prototype, not a formally verified kernel or a complete general-purpose OS.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seL4 is a reference for carefully defined kernel authority and verification obligations. Theseus explores a different Rust OS structure with strong component state boundaries. Our implementation does not reuse their proofs, structures wholesale, or reported results.</a:t>
            </a:r>
          </a:p>
          <a:p xmlns:a="http://schemas.openxmlformats.org/drawingml/2006/main">
            <a:r>
              <a:t/>
            </a:r>
          </a:p>
          <a:p xmlns:a="http://schemas.openxmlformats.org/drawingml/2006/main">
            <a:r>
              <a:t>Sources and evidence</a:t>
            </a:r>
          </a:p>
          <a:p xmlns:a="http://schemas.openxmlformats.org/drawingml/2006/main">
            <a:r>
              <a:t>Klein et al. seL4: Formal Verification of an OS Kernel. SOSP 2009. https://sel4.systems/Research/pdfs/sel4-formal-verification-os-kernel.pdf</a:t>
            </a:r>
          </a:p>
          <a:p xmlns:a="http://schemas.openxmlformats.org/drawingml/2006/main">
            <a:r>
              <a:t/>
            </a:r>
          </a:p>
          <a:p xmlns:a="http://schemas.openxmlformats.org/drawingml/2006/main">
            <a:r>
              <a:t>Boos, Liyanage, Ijaz and Zhong. Theseus: an Experiment in Operating System Structure and State Management. OSDI 2020. https://www.usenix.org/conference/osdi20/presentation/boos</a:t>
            </a:r>
          </a:p>
          <a:p xmlns:a="http://schemas.openxmlformats.org/drawingml/2006/main">
            <a:r>
              <a:t/>
            </a:r>
          </a:p>
          <a:p xmlns:a="http://schemas.openxmlformats.org/drawingml/2006/main">
            <a:r>
              <a:t>Repository: docs/implementation-status.md, docs/build-scope.md and docs/professor-brief.md. This is a single-core research prototype, not a formally verified kernel or a complete general-purpose OS.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RIFL explains why replay equality by itself cannot solve distributed duplicate effects. CrashMonkey motivates bounded crash testing, though its tool is not ported here. LLM-Modulo motivates separating generation from checking. Soundness of the checker and correctness of execution still require their own argument.</a:t>
            </a:r>
          </a:p>
          <a:p xmlns:a="http://schemas.openxmlformats.org/drawingml/2006/main">
            <a:r>
              <a:t/>
            </a:r>
          </a:p>
          <a:p xmlns:a="http://schemas.openxmlformats.org/drawingml/2006/main">
            <a:r>
              <a:t>Sources and evidence</a:t>
            </a:r>
          </a:p>
          <a:p xmlns:a="http://schemas.openxmlformats.org/drawingml/2006/main">
            <a:r>
              <a:t>Lee et al. Implementing Linearizability at Large Scale and Low Latency. SOSP 2015. https://web.stanford.edu/~ouster/cgi-bin/papers/rifl.pdf</a:t>
            </a:r>
          </a:p>
          <a:p xmlns:a="http://schemas.openxmlformats.org/drawingml/2006/main">
            <a:r>
              <a:t/>
            </a:r>
          </a:p>
          <a:p xmlns:a="http://schemas.openxmlformats.org/drawingml/2006/main">
            <a:r>
              <a:t>Mohan, Martinez, Ponnapalli, Raju and Chidambaram. Finding Crash-Consistency Bugs with Bounded Black-Box Crash Testing. OSDI 2018. https://www.usenix.org/conference/osdi18/presentation/mohan</a:t>
            </a:r>
          </a:p>
          <a:p xmlns:a="http://schemas.openxmlformats.org/drawingml/2006/main">
            <a:r>
              <a:t/>
            </a:r>
          </a:p>
          <a:p xmlns:a="http://schemas.openxmlformats.org/drawingml/2006/main">
            <a:r>
              <a:t>Gundawar, Valmeekam, Verma and Kambhampati. Robust Planning with Compound LLM Architectures: An LLM-Modulo Approach. arXiv:2411.14484v1, 2024. https://arxiv.org/html/2411.14484v1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Distinguish using a library from claiming to have written an interpreter or bootloader. The project contribution is the integrated OS and its constrained recovery protocol. THIRD_PARTY.md and Cargo.lock record the reuse boundary and exact resolved dependencies.</a:t>
            </a:r>
          </a:p>
          <a:p xmlns:a="http://schemas.openxmlformats.org/drawingml/2006/main">
            <a:r>
              <a:t/>
            </a:r>
          </a:p>
          <a:p xmlns:a="http://schemas.openxmlformats.org/drawingml/2006/main">
            <a:r>
              <a:t>Sources and evidence</a:t>
            </a:r>
          </a:p>
          <a:p xmlns:a="http://schemas.openxmlformats.org/drawingml/2006/main">
            <a:r>
              <a:t>Repository: THIRD_PARTY.md, Cargo.lock and third-party/licenses. Limine bootloader v10.8.5-binary commit 7a9013f305de0bea1f6310e76e7baba30499fef0; Rust OSDev x86_64 0.15.4; linked_list_allocator 0.10.6; Wasmi 2.0.0; wat 1.228.0. https://github.com/limine-bootloader/limine https://github.com/rust-osdev/x86_64 https://github.com/wasmi-labs/wasmi</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Walk down the diagram. Linux is the development or cloud host and runs QEMU. QEMU supplies virtual hardware to the separate MnemosyneOS kernel. The guest console, filesystem, interpreter manager and recovery executor are inside privileged init. Counter, hog and fault services are separate ring-3 tasks. ATA is currently a kernel driver. The optional browser dashboard shows older host experiment suites, and an optional host AI adapter supplies candidate JSON through the operator.</a:t>
            </a:r>
          </a:p>
          <a:p xmlns:a="http://schemas.openxmlformats.org/drawingml/2006/main">
            <a:r>
              <a:t/>
            </a:r>
          </a:p>
          <a:p xmlns:a="http://schemas.openxmlformats.org/drawingml/2006/main">
            <a:r>
              <a:t>Sources and evidence</a:t>
            </a:r>
          </a:p>
          <a:p xmlns:a="http://schemas.openxmlformats.org/drawingml/2006/main">
            <a:r>
              <a:t>Repository: kernel/src/main.rs, arch.rs, memory.rs, paging.rs, tasks.rs, user-memory.rs and task-entry.S. The user ELF is compiled into the kernel; no arbitrary application loader is claimed.</a:t>
            </a:r>
          </a:p>
          <a:p xmlns:a="http://schemas.openxmlformats.org/drawingml/2006/main">
            <a:r>
              <a:t/>
            </a:r>
          </a:p>
          <a:p xmlns:a="http://schemas.openxmlformats.org/drawingml/2006/main">
            <a:r>
              <a:t>Repository: docs/implementation-status.md, docs/build-scope.md and docs/professor-brief.md. This is a single-core research prototype, not a formally verified kernel or a complete general-purpose OS.</a:t>
            </a:r>
          </a:p>
          <a:p xmlns:a="http://schemas.openxmlformats.org/drawingml/2006/main">
            <a:r>
              <a:t/>
            </a:r>
          </a:p>
          <a:p xmlns:a="http://schemas.openxmlformats.org/drawingml/2006/main">
            <a:r>
              <a:t>Repository: docs/cloud-demo.md, tools/run-image.py and tools/dev.py. The prebuilt bundle requires Python 3 and QEMU on a non-Azure x86-64 Linux host. Run-image uses a 256-MiB, one-CPU guest without a NIC. The self-test uses fresh disks and two bounded boots.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are intentional implementation limits. No FP/SIMD sharing or arbitrary native ELF loader is supported. The fixed Wasm profile excludes threads, tables, floating point and a start function. Filesystem checksums detect corruption; they do not authenticate an adversarial rewrite.</a:t>
            </a:r>
          </a:p>
          <a:p xmlns:a="http://schemas.openxmlformats.org/drawingml/2006/main">
            <a:r>
              <a:t/>
            </a:r>
          </a:p>
          <a:p xmlns:a="http://schemas.openxmlformats.org/drawingml/2006/main">
            <a:r>
              <a:t>Sources and evidence</a:t>
            </a:r>
          </a:p>
          <a:p xmlns:a="http://schemas.openxmlformats.org/drawingml/2006/main">
            <a:r>
              <a:t>Repository: kernel/src/main.rs, arch.rs, memory.rs, paging.rs, tasks.rs, user-memory.rs and task-entry.S. The user ELF is compiled into the kernel; no arbitrary application loader is claimed.</a:t>
            </a:r>
          </a:p>
          <a:p xmlns:a="http://schemas.openxmlformats.org/drawingml/2006/main">
            <a:r>
              <a:t/>
            </a:r>
          </a:p>
          <a:p xmlns:a="http://schemas.openxmlformats.org/drawingml/2006/main">
            <a:r>
              <a:t>Repository: crates/chronicle-fs/src/lib.rs, kernel/src/ata.rs and userland/init/src/shell.rs. Eight shared filesystem tests. ATA is in the kernel; filesystem policy runs in trusted userspace init. Flush ordering is an assumption.</a:t>
            </a:r>
          </a:p>
          <a:p xmlns:a="http://schemas.openxmlformats.org/drawingml/2006/main">
            <a:r>
              <a:t/>
            </a:r>
          </a:p>
          <a:p xmlns:a="http://schemas.openxmlformats.org/drawingml/2006/main">
            <a:r>
              <a:t>Repository: crates/service-runtime/src/lib.rs and tests.rs, workloads/kv/service.wat, userland/init/src/shell.rs. Eighteen runtime tests. The fixed profile has full-copy Wasm snapshots, synthetic clock/random inputs and in-memory effects.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timer or a blocking syscall saves the current task context. The scheduler wakes eligible sleepers and selects the next ready task, changes CR3 and restores its frame. IPC first checks the handle and user buffer, then queues a bounded message stamped with the sender identity. A receive can block; a full queue produces an error. The idle path is implemented, but the standard demo keeps cpu-hog runnable.</a:t>
            </a:r>
          </a:p>
          <a:p xmlns:a="http://schemas.openxmlformats.org/drawingml/2006/main">
            <a:r>
              <a:t/>
            </a:r>
          </a:p>
          <a:p xmlns:a="http://schemas.openxmlformats.org/drawingml/2006/main">
            <a:r>
              <a:t>Sources and evidence</a:t>
            </a:r>
          </a:p>
          <a:p xmlns:a="http://schemas.openxmlformats.org/drawingml/2006/main">
            <a:r>
              <a:t>Repository: kernel/src/main.rs, arch.rs, memory.rs, paging.rs, tasks.rs, user-memory.rs and task-entry.S. The user ELF is compiled into the kernel; no arbitrary application loader is claimed.</a:t>
            </a:r>
          </a:p>
          <a:p xmlns:a="http://schemas.openxmlformats.org/drawingml/2006/main">
            <a:r>
              <a:t/>
            </a:r>
          </a:p>
          <a:p xmlns:a="http://schemas.openxmlformats.org/drawingml/2006/main">
            <a:r>
              <a:t>Repository: crates/capability/src/lib.rs and kernel/src/tasks.rs. Eight capability tests, typed handles, generation checks, attenuation/subtree revocation in the table, checked syscalls and endpoint invalidation on restore. No cross-process delegation syscall.</a:t>
            </a:r>
          </a:p>
          <a:p xmlns:a="http://schemas.openxmlformats.org/drawingml/2006/main">
            <a:r>
              <a:t/>
            </a:r>
          </a:p>
          <a:p xmlns:a="http://schemas.openxmlformats.org/drawingml/2006/main">
            <a:r>
              <a:t>Recorded guest evidence: docs/evidence/guest-demo.log and guest-reboot.log, capture 2026-10-09T07:18:25.765818+00:00, source 1bc81f15606e7ce8465111ad7858d49d1f20455e, ISO SHA-256 849a71cce8b08ce174fc130d943d7c171b078d6ea6b7c14fcf6136e59967fbe5. The later f09a431 change concerns packaging notices/docs, and its release kernel including embedded userspace was compared byte-for-byte with the Linux-tested binary. These are saved results, not a new live run.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ChronicleFS commits a complete immutable root in an unused slot. Payload and header have separate flushes. Mount accepts only structurally valid checksummed roots and chooses the newest generation. A failed final flush can be ambiguous, so remount is required. The current volume has 64 retained generations, no GC, 32 files and a 192-KiB file bound. Guest reboot success is narrower evidence than physical power-loss correctness.</a:t>
            </a:r>
          </a:p>
          <a:p xmlns:a="http://schemas.openxmlformats.org/drawingml/2006/main">
            <a:r>
              <a:t/>
            </a:r>
          </a:p>
          <a:p xmlns:a="http://schemas.openxmlformats.org/drawingml/2006/main">
            <a:r>
              <a:t>Sources and evidence</a:t>
            </a:r>
          </a:p>
          <a:p xmlns:a="http://schemas.openxmlformats.org/drawingml/2006/main">
            <a:r>
              <a:t>Repository: crates/chronicle-fs/src/lib.rs, kernel/src/ata.rs and userland/init/src/shell.rs. Eight shared filesystem tests. ATA is in the kernel; filesystem policy runs in trusted userspace init. Flush ordering is an assumption.</a:t>
            </a:r>
          </a:p>
          <a:p xmlns:a="http://schemas.openxmlformats.org/drawingml/2006/main">
            <a:r>
              <a:t/>
            </a:r>
          </a:p>
          <a:p xmlns:a="http://schemas.openxmlformats.org/drawingml/2006/main">
            <a:r>
              <a:t>Recorded guest evidence: docs/evidence/guest-demo.log and guest-reboot.log, capture 2026-10-09T07:18:25.765818+00:00, source 1bc81f15606e7ce8465111ad7858d49d1f20455e, ISO SHA-256 849a71cce8b08ce174fc130d943d7c171b078d6ea6b7c14fcf6136e59967fbe5. The later f09a431 change concerns packaging notices/docs, and its release kernel including embedded userspace was compared byte-for-byte with the Linux-tested binary. These are saved results, not a new live run.</a:t>
            </a:r>
          </a:p>
          <a:p xmlns:a="http://schemas.openxmlformats.org/drawingml/2006/main">
            <a:r>
              <a:t/>
            </a:r>
          </a:p>
          <a:p xmlns:a="http://schemas.openxmlformats.org/drawingml/2006/main">
            <a:r>
              <a:t>Mohan, Martinez, Ponnapalli, Raju and Chidambaram. Finding Crash-Consistency Bugs with Bounded Black-Box Crash Testing. OSDI 2018. https://www.usenix.org/conference/osdi18/presentation/mohan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Do not describe Wasm recovery as COW. The native path retains a checkpoint and copies modified pages on write. The saved native run reports two page copies. The Wasm path uses a durable recovery bundle and a new interpreter instance. Neither is a universal multi-service snapshot or an external effect delivery protocol.</a:t>
            </a:r>
          </a:p>
          <a:p xmlns:a="http://schemas.openxmlformats.org/drawingml/2006/main">
            <a:r>
              <a:t/>
            </a:r>
          </a:p>
          <a:p xmlns:a="http://schemas.openxmlformats.org/drawingml/2006/main">
            <a:r>
              <a:t>Sources and evidence</a:t>
            </a:r>
          </a:p>
          <a:p xmlns:a="http://schemas.openxmlformats.org/drawingml/2006/main">
            <a:r>
              <a:t>Repository: kernel/src/main.rs, arch.rs, memory.rs, paging.rs, tasks.rs, user-memory.rs and task-entry.S. The user ELF is compiled into the kernel; no arbitrary application loader is claimed.</a:t>
            </a:r>
          </a:p>
          <a:p xmlns:a="http://schemas.openxmlformats.org/drawingml/2006/main">
            <a:r>
              <a:t/>
            </a:r>
          </a:p>
          <a:p xmlns:a="http://schemas.openxmlformats.org/drawingml/2006/main">
            <a:r>
              <a:t>Repository: crates/service-runtime/src/lib.rs and tests.rs, workloads/kv/service.wat, userland/init/src/shell.rs. Eighteen runtime tests. The fixed profile has full-copy Wasm snapshots, synthetic clock/random inputs and in-memory effects.</a:t>
            </a:r>
          </a:p>
          <a:p xmlns:a="http://schemas.openxmlformats.org/drawingml/2006/main">
            <a:r>
              <a:t/>
            </a:r>
          </a:p>
          <a:p xmlns:a="http://schemas.openxmlformats.org/drawingml/2006/main">
            <a:r>
              <a:t>Recorded guest evidence: docs/evidence/guest-demo.log and guest-reboot.log, capture 2026-10-09T07:18:25.765818+00:00, source 1bc81f15606e7ce8465111ad7858d49d1f20455e, ISO SHA-256 849a71cce8b08ce174fc130d943d7c171b078d6ea6b7c14fcf6136e59967fbe5. The later f09a431 change concerns packaging notices/docs, and its release kernel including embedded userspace was compared byte-for-byte with the Linux-tested binary. These are saved results, not a new live run.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failed interpreter instance is discarded. Parse a bounded plan, verify identity, authority, requested rights, resource budgets and rollback. The private token is consumed only after revalidating execution-time context. Replay uses a fresh private instance and compares every event, state digest and effect. Commit the result before promoting the recovered live worker. Any check or commit failure rejects publication. The flowchart summarizes the implemented restricted Wasm path.</a:t>
            </a:r>
          </a:p>
          <a:p xmlns:a="http://schemas.openxmlformats.org/drawingml/2006/main">
            <a:r>
              <a:t/>
            </a:r>
          </a:p>
          <a:p xmlns:a="http://schemas.openxmlformats.org/drawingml/2006/main">
            <a:r>
              <a:t>Sources and evidence</a:t>
            </a:r>
          </a:p>
          <a:p xmlns:a="http://schemas.openxmlformats.org/drawingml/2006/main">
            <a:r>
              <a:t>Repository: crates/recovery-policy/src/lib.rs, userland/init/src/shell.rs, tools/ai-plan.py and tools/test-ai-plan.py. Six policy and four adapter tests. The optional online model path has not been evaluated by the offline acceptance run.</a:t>
            </a:r>
          </a:p>
          <a:p xmlns:a="http://schemas.openxmlformats.org/drawingml/2006/main">
            <a:r>
              <a:t/>
            </a:r>
          </a:p>
          <a:p xmlns:a="http://schemas.openxmlformats.org/drawingml/2006/main">
            <a:r>
              <a:t>Repository: crates/service-runtime/src/lib.rs and tests.rs, workloads/kv/service.wat, userland/init/src/shell.rs. Eighteen runtime tests. The fixed profile has full-copy Wasm snapshots, synthetic clock/random inputs and in-memory effects.</a:t>
            </a:r>
          </a:p>
          <a:p xmlns:a="http://schemas.openxmlformats.org/drawingml/2006/main">
            <a:r>
              <a:t/>
            </a:r>
          </a:p>
          <a:p xmlns:a="http://schemas.openxmlformats.org/drawingml/2006/main">
            <a:r>
              <a:t>Repository: crates/chronicle-fs/src/lib.rs, kernel/src/ata.rs and userland/init/src/shell.rs. Eight shared filesystem tests. ATA is in the kernel; filesystem policy runs in trusted userspace init. Flush ordering is an assumption.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a shortened display of the recorded candidate, not a paste-ready plan. plan-show supplies the full digest and current epoch. The DSL has one action and denies unknown fields. An optional host model may propose this JSON, but cannot execute it. The demo uses an offline deterministic candidate; online model reliability and benefit remain unevaluated.</a:t>
            </a:r>
          </a:p>
          <a:p xmlns:a="http://schemas.openxmlformats.org/drawingml/2006/main">
            <a:r>
              <a:t/>
            </a:r>
          </a:p>
          <a:p xmlns:a="http://schemas.openxmlformats.org/drawingml/2006/main">
            <a:r>
              <a:t>Sources and evidence</a:t>
            </a:r>
          </a:p>
          <a:p xmlns:a="http://schemas.openxmlformats.org/drawingml/2006/main">
            <a:r>
              <a:t>Repository: crates/recovery-policy/src/lib.rs, userland/init/src/shell.rs, tools/ai-plan.py and tools/test-ai-plan.py. Six policy and four adapter tests. The optional online model path has not been evaluated by the offline acceptance run.</a:t>
            </a:r>
          </a:p>
          <a:p xmlns:a="http://schemas.openxmlformats.org/drawingml/2006/main">
            <a:r>
              <a:t/>
            </a:r>
          </a:p>
          <a:p xmlns:a="http://schemas.openxmlformats.org/drawingml/2006/main">
            <a:r>
              <a:t>Recorded guest evidence: docs/evidence/guest-demo.log and guest-reboot.log, capture 2026-10-09T07:18:25.765818+00:00, source 1bc81f15606e7ce8465111ad7858d49d1f20455e, ISO SHA-256 849a71cce8b08ce174fc130d943d7c171b078d6ea6b7c14fcf6136e59967fbe5. The later f09a431 change concerns packaging notices/docs, and its release kernel including embedded userspace was compared byte-for-byte with the Linux-tested binary. These are saved results, not a new live run.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behaviors now execute in the guest under the custom kernel. Earlier host-only experiments are not being substituted for these results. The negative syscall demo rejects forged or inappropriate authority and invalid user pointers. Native containment targets the separate fault-service, not the trusted init process.</a:t>
            </a:r>
          </a:p>
          <a:p xmlns:a="http://schemas.openxmlformats.org/drawingml/2006/main">
            <a:r>
              <a:t/>
            </a:r>
          </a:p>
          <a:p xmlns:a="http://schemas.openxmlformats.org/drawingml/2006/main">
            <a:r>
              <a:t>Sources and evidence</a:t>
            </a:r>
          </a:p>
          <a:p xmlns:a="http://schemas.openxmlformats.org/drawingml/2006/main">
            <a:r>
              <a:t>Repository: kernel/src/main.rs, arch.rs, memory.rs, paging.rs, tasks.rs, user-memory.rs and task-entry.S. The user ELF is compiled into the kernel; no arbitrary application loader is claimed.</a:t>
            </a:r>
          </a:p>
          <a:p xmlns:a="http://schemas.openxmlformats.org/drawingml/2006/main">
            <a:r>
              <a:t/>
            </a:r>
          </a:p>
          <a:p xmlns:a="http://schemas.openxmlformats.org/drawingml/2006/main">
            <a:r>
              <a:t>Repository: crates/capability/src/lib.rs and kernel/src/tasks.rs. Eight capability tests, typed handles, generation checks, attenuation/subtree revocation in the table, checked syscalls and endpoint invalidation on restore. No cross-process delegation syscall.</a:t>
            </a:r>
          </a:p>
          <a:p xmlns:a="http://schemas.openxmlformats.org/drawingml/2006/main">
            <a:r>
              <a:t/>
            </a:r>
          </a:p>
          <a:p xmlns:a="http://schemas.openxmlformats.org/drawingml/2006/main">
            <a:r>
              <a:t>Recorded guest evidence: docs/evidence/guest-demo.log and guest-reboot.log, capture 2026-10-09T07:18:25.765818+00:00, source 1bc81f15606e7ce8465111ad7858d49d1f20455e, ISO SHA-256 849a71cce8b08ce174fc130d943d7c171b078d6ea6b7c14fcf6136e59967fbe5. The later f09a431 change concerns packaging notices/docs, and its release kernel including embedded userspace was compared byte-for-byte with the Linux-tested binary. These are saved results, not a new live run.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filesystem, Wasmi embedding and verifier execute inside the OS but are not yet independent service processes. The disk is real virtual block storage and persists across QEMU boots. A Wasm trap discards the failed interpreter; a native fault in trusted init is fatal. Keep these different containment boundaries explicit.</a:t>
            </a:r>
          </a:p>
          <a:p xmlns:a="http://schemas.openxmlformats.org/drawingml/2006/main">
            <a:r>
              <a:t/>
            </a:r>
          </a:p>
          <a:p xmlns:a="http://schemas.openxmlformats.org/drawingml/2006/main">
            <a:r>
              <a:t>Sources and evidence</a:t>
            </a:r>
          </a:p>
          <a:p xmlns:a="http://schemas.openxmlformats.org/drawingml/2006/main">
            <a:r>
              <a:t>Repository: crates/chronicle-fs/src/lib.rs, kernel/src/ata.rs and userland/init/src/shell.rs. Eight shared filesystem tests. ATA is in the kernel; filesystem policy runs in trusted userspace init. Flush ordering is an assumption.</a:t>
            </a:r>
          </a:p>
          <a:p xmlns:a="http://schemas.openxmlformats.org/drawingml/2006/main">
            <a:r>
              <a:t/>
            </a:r>
          </a:p>
          <a:p xmlns:a="http://schemas.openxmlformats.org/drawingml/2006/main">
            <a:r>
              <a:t>Repository: crates/service-runtime/src/lib.rs and tests.rs, workloads/kv/service.wat, userland/init/src/shell.rs. Eighteen runtime tests. The fixed profile has full-copy Wasm snapshots, synthetic clock/random inputs and in-memory effects.</a:t>
            </a:r>
          </a:p>
          <a:p xmlns:a="http://schemas.openxmlformats.org/drawingml/2006/main">
            <a:r>
              <a:t/>
            </a:r>
          </a:p>
          <a:p xmlns:a="http://schemas.openxmlformats.org/drawingml/2006/main">
            <a:r>
              <a:t>Repository: crates/recovery-policy/src/lib.rs, userland/init/src/shell.rs, tools/ai-plan.py and tools/test-ai-plan.py. Six policy and four adapter tests. The optional online model path has not been evaluated by the offline acceptance run.</a:t>
            </a:r>
          </a:p>
          <a:p xmlns:a="http://schemas.openxmlformats.org/drawingml/2006/main">
            <a:r>
              <a:t/>
            </a:r>
          </a:p>
          <a:p xmlns:a="http://schemas.openxmlformats.org/drawingml/2006/main">
            <a:r>
              <a:t>Repository: docs/implementation-status.md, docs/build-scope.md and docs/professor-brief.md. This is a single-core research prototype, not a formally verified kernel or a complete general-purpose OS.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are excerpts and counts from the saved two-boot acceptance, not a screenshot of a new live run. All six guest stages pass. The next boot reads the persistence marker, rejects a plan requesting excessive rights, replays the durable bundle and accepts a new live request. The integrated increment also passed 40 Rust and 17 Python tests; those counts do not measure implementation completeness. Zero elapsed ticks in one sample means below timer resolution, not zero work.</a:t>
            </a:r>
          </a:p>
          <a:p xmlns:a="http://schemas.openxmlformats.org/drawingml/2006/main">
            <a:r>
              <a:t/>
            </a:r>
          </a:p>
          <a:p xmlns:a="http://schemas.openxmlformats.org/drawingml/2006/main">
            <a:r>
              <a:t>Sources and evidence</a:t>
            </a:r>
          </a:p>
          <a:p xmlns:a="http://schemas.openxmlformats.org/drawingml/2006/main">
            <a:r>
              <a:t>Recorded guest evidence: docs/evidence/guest-demo.log and guest-reboot.log, capture 2026-10-09T07:18:25.765818+00:00, source 1bc81f15606e7ce8465111ad7858d49d1f20455e, ISO SHA-256 849a71cce8b08ce174fc130d943d7c171b078d6ea6b7c14fcf6136e59967fbe5. The later f09a431 change concerns packaging notices/docs, and its release kernel including embedded userspace was compared byte-for-byte with the Linux-tested binary. These are saved results, not a new live run.</a:t>
            </a:r>
          </a:p>
          <a:p xmlns:a="http://schemas.openxmlformats.org/drawingml/2006/main">
            <a:r>
              <a:t/>
            </a:r>
          </a:p>
          <a:p xmlns:a="http://schemas.openxmlformats.org/drawingml/2006/main">
            <a:r>
              <a:t>Validation completed for the integrated OS increment: 40 Rust unit tests (8 capability, 8 filesystem, 6 policy, 18 runtime); 17 Python tests (13 dashboard, 4 AI adapter); debug/release kernel boots and two-boot guest acceptance. The presentation update does not rerun all software checks. Reproduce via tools/dev.py test, check, boot and guest-test; Python test files run directly.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Be direct: six of six bounded prototype acceptance gates have evidence. That number cannot establish the percentage of the original proposal. The final denominator must be an agreed weighted set of implementation acceptance criteria. Split partial work into concrete deliverables, attach evidence and keep slide preparation out of the numerator. The project is executable; its full-project percentage is currently unquantified.</a:t>
            </a:r>
          </a:p>
          <a:p xmlns:a="http://schemas.openxmlformats.org/drawingml/2006/main">
            <a:r>
              <a:t/>
            </a:r>
          </a:p>
          <a:p xmlns:a="http://schemas.openxmlformats.org/drawingml/2006/main">
            <a:r>
              <a:t>Sources and evidence</a:t>
            </a:r>
          </a:p>
          <a:p xmlns:a="http://schemas.openxmlformats.org/drawingml/2006/main">
            <a:r>
              <a:t>Review I requirements supplied by the project author. Rubric, algorithms, ownership placeholders and completion method: docs/review-one-guide.md. Implementation baseline f09a43143e36db9d0b38b7fc7d69b6cb51d37059, 9 October 2026.</a:t>
            </a:r>
          </a:p>
          <a:p xmlns:a="http://schemas.openxmlformats.org/drawingml/2006/main">
            <a:r>
              <a:t/>
            </a:r>
          </a:p>
          <a:p xmlns:a="http://schemas.openxmlformats.org/drawingml/2006/main">
            <a:r>
              <a:t>Repository: docs/implementation-status.md, docs/build-scope.md and docs/professor-brief.md. This is a single-core research prototype, not a formally verified kernel or a complete general-purpose OS.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an editable allocation proposal, not evidence of individual work already performed. Assign real names and agree responsibilities before submission. Combine workstreams if there are fewer than four team members. Every member should understand the architecture and be able to run the core demo. Use actual commits and reviewed work to support individual attribution.</a:t>
            </a:r>
          </a:p>
          <a:p xmlns:a="http://schemas.openxmlformats.org/drawingml/2006/main">
            <a:r>
              <a:t/>
            </a:r>
          </a:p>
          <a:p xmlns:a="http://schemas.openxmlformats.org/drawingml/2006/main">
            <a:r>
              <a:t>Sources and evidence</a:t>
            </a:r>
          </a:p>
          <a:p xmlns:a="http://schemas.openxmlformats.org/drawingml/2006/main">
            <a:r>
              <a:t>Review I requirements supplied by the project author. Rubric, algorithms, ownership placeholders and completion method: docs/review-one-guide.md. Implementation baseline f09a43143e36db9d0b38b7fc7d69b6cb51d37059, 9 October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Run the two-boot self-test before the presentation. In the live guest, narrate each of the six demo stages and require the final passed:true event. The run-image commands need the prebuilt ISO in the extracted bundle; a source checkout can instead run tools/dev.py guest-test --release and run --release. Use a fresh disk filename for a fresh rehearsal because ChronicleFS retains a finite number of generations.</a:t>
            </a:r>
          </a:p>
          <a:p xmlns:a="http://schemas.openxmlformats.org/drawingml/2006/main">
            <a:r>
              <a:t/>
            </a:r>
          </a:p>
          <a:p xmlns:a="http://schemas.openxmlformats.org/drawingml/2006/main">
            <a:r>
              <a:t>Sources and evidence</a:t>
            </a:r>
          </a:p>
          <a:p xmlns:a="http://schemas.openxmlformats.org/drawingml/2006/main">
            <a:r>
              <a:t>Repository: docs/cloud-demo.md, tools/run-image.py and tools/dev.py. The prebuilt bundle requires Python 3 and QEMU on a non-Azure x86-64 Linux host. Run-image uses a 256-MiB, one-CPU guest without a NIC. The self-test uses fresh disks and two bounded boots.</a:t>
            </a:r>
          </a:p>
          <a:p xmlns:a="http://schemas.openxmlformats.org/drawingml/2006/main">
            <a:r>
              <a:t/>
            </a:r>
          </a:p>
          <a:p xmlns:a="http://schemas.openxmlformats.org/drawingml/2006/main">
            <a:r>
              <a:t>Recorded guest evidence: docs/evidence/guest-demo.log and guest-reboot.log, capture 2026-10-09T07:18:25.765818+00:00, source 1bc81f15606e7ce8465111ad7858d49d1f20455e, ISO SHA-256 849a71cce8b08ce174fc130d943d7c171b078d6ea6b7c14fcf6136e59967fbe5. The later f09a431 change concerns packaging notices/docs, and its release kernel including embedded userspace was compared byte-for-byte with the Linux-tested binary. These are saved results, not a new live run.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full QEMU exit and another boot demonstrates persistence beyond a running process. Immediately after recovering the saved fixture, the specified KV request returns 180. Type shutdown when finished; the intentional CPU-hog otherwise continues to run. The self-test also exercises a privilege-amplifying plan rejection. Do not paste a plan from a different disk or epoch.</a:t>
            </a:r>
          </a:p>
          <a:p xmlns:a="http://schemas.openxmlformats.org/drawingml/2006/main">
            <a:r>
              <a:t/>
            </a:r>
          </a:p>
          <a:p xmlns:a="http://schemas.openxmlformats.org/drawingml/2006/main">
            <a:r>
              <a:t>Sources and evidence</a:t>
            </a:r>
          </a:p>
          <a:p xmlns:a="http://schemas.openxmlformats.org/drawingml/2006/main">
            <a:r>
              <a:t>Repository: docs/cloud-demo.md, tools/run-image.py and tools/dev.py. The prebuilt bundle requires Python 3 and QEMU on a non-Azure x86-64 Linux host. Run-image uses a 256-MiB, one-CPU guest without a NIC. The self-test uses fresh disks and two bounded boots.</a:t>
            </a:r>
          </a:p>
          <a:p xmlns:a="http://schemas.openxmlformats.org/drawingml/2006/main">
            <a:r>
              <a:t/>
            </a:r>
          </a:p>
          <a:p xmlns:a="http://schemas.openxmlformats.org/drawingml/2006/main">
            <a:r>
              <a:t>Recorded guest evidence: docs/evidence/guest-demo.log and guest-reboot.log, capture 2026-10-09T07:18:25.765818+00:00, source 1bc81f15606e7ce8465111ad7858d49d1f20455e, ISO SHA-256 849a71cce8b08ce174fc130d943d7c171b078d6ea6b7c14fcf6136e59967fbe5. The later f09a431 change concerns packaging notices/docs, and its release kernel including embedded userspace was compared byte-for-byte with the Linux-tested binary. These are saved results, not a new live run.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Prioritize measurable acceptance instead of adding a desktop or unrelated features. Use seeded fault cases, raw samples, a stated measurement environment and baselines such as restart-only versus checkpoint/replay. Define an external-effect protocol only if retained in the final agreed scope. A live AI call alone would not show an improvement over a deterministic proposer.</a:t>
            </a:r>
          </a:p>
          <a:p xmlns:a="http://schemas.openxmlformats.org/drawingml/2006/main">
            <a:r>
              <a:t/>
            </a:r>
          </a:p>
          <a:p xmlns:a="http://schemas.openxmlformats.org/drawingml/2006/main">
            <a:r>
              <a:t>Sources and evidence</a:t>
            </a:r>
          </a:p>
          <a:p xmlns:a="http://schemas.openxmlformats.org/drawingml/2006/main">
            <a:r>
              <a:t>Review I requirements supplied by the project author. Rubric, algorithms, ownership placeholders and completion method: docs/review-one-guide.md. Implementation baseline f09a43143e36db9d0b38b7fc7d69b6cb51d37059, 9 October 2026.</a:t>
            </a:r>
          </a:p>
          <a:p xmlns:a="http://schemas.openxmlformats.org/drawingml/2006/main">
            <a:r>
              <a:t/>
            </a:r>
          </a:p>
          <a:p xmlns:a="http://schemas.openxmlformats.org/drawingml/2006/main">
            <a:r>
              <a:t>Repository: docs/implementation-status.md, docs/build-scope.md and docs/professor-brief.md. This is a single-core research prototype, not a formally verified kernel or a complete general-purpose OS.</a:t>
            </a:r>
          </a:p>
          <a:p xmlns:a="http://schemas.openxmlformats.org/drawingml/2006/main">
            <a:r>
              <a:t/>
            </a:r>
          </a:p>
          <a:p xmlns:a="http://schemas.openxmlformats.org/drawingml/2006/main">
            <a:r>
              <a:t>Repository: crates/recovery-policy/src/lib.rs, userland/init/src/shell.rs, tools/ai-plan.py and tools/test-ai-plan.py. Six policy and four adapter tests. The optional online model path has not been evaluated by the offline acceptance run.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End the main presentation with what is working and what must be evaluated next. Do not claim a novel protocol or a percentage merely because every module has some code. The following slides are backup for questions and source references.</a:t>
            </a:r>
          </a:p>
          <a:p xmlns:a="http://schemas.openxmlformats.org/drawingml/2006/main">
            <a:r>
              <a:t/>
            </a:r>
          </a:p>
          <a:p xmlns:a="http://schemas.openxmlformats.org/drawingml/2006/main">
            <a:r>
              <a:t>Sources and evidence</a:t>
            </a:r>
          </a:p>
          <a:p xmlns:a="http://schemas.openxmlformats.org/drawingml/2006/main">
            <a:r>
              <a:t>Review I requirements supplied by the project author. Rubric, algorithms, ownership placeholders and completion method: docs/review-one-guide.md. Implementation baseline f09a43143e36db9d0b38b7fc7d69b6cb51d37059, 9 October 2026.</a:t>
            </a:r>
          </a:p>
          <a:p xmlns:a="http://schemas.openxmlformats.org/drawingml/2006/main">
            <a:r>
              <a:t/>
            </a:r>
          </a:p>
          <a:p xmlns:a="http://schemas.openxmlformats.org/drawingml/2006/main">
            <a:r>
              <a:t>Repository: docs/implementation-status.md, docs/build-scope.md and docs/professor-brief.md. This is a single-core research prototype, not a formally verified kernel or a complete general-purpose OS.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If asked about microkernel purity, explain that ATA is still in the kernel and several userspace services are co-located in init. If asked why not seL4, say a seL4-based recovery study is a credible alternative, but the agreed project includes kernel construction. The OS does not need a GUI to demonstrate its kernel, filesystem or scheduler.</a:t>
            </a:r>
          </a:p>
          <a:p xmlns:a="http://schemas.openxmlformats.org/drawingml/2006/main">
            <a:r>
              <a:t/>
            </a:r>
          </a:p>
          <a:p xmlns:a="http://schemas.openxmlformats.org/drawingml/2006/main">
            <a:r>
              <a:t>Sources and evidence</a:t>
            </a:r>
          </a:p>
          <a:p xmlns:a="http://schemas.openxmlformats.org/drawingml/2006/main">
            <a:r>
              <a:t>Repository: docs/implementation-status.md, docs/build-scope.md and docs/professor-brief.md. This is a single-core research prototype, not a formally verified kernel or a complete general-purpose OS.</a:t>
            </a:r>
          </a:p>
          <a:p xmlns:a="http://schemas.openxmlformats.org/drawingml/2006/main">
            <a:r>
              <a:t/>
            </a:r>
          </a:p>
          <a:p xmlns:a="http://schemas.openxmlformats.org/drawingml/2006/main">
            <a:r>
              <a:t>Review I requirements supplied by the project author. Rubric, algorithms, ownership placeholders and completion method: docs/review-one-guide.md. Implementation baseline f09a43143e36db9d0b38b7fc7d69b6cb51d37059, 9 October 2026.</a:t>
            </a:r>
          </a:p>
          <a:p xmlns:a="http://schemas.openxmlformats.org/drawingml/2006/main">
            <a:r>
              <a:t/>
            </a:r>
          </a:p>
          <a:p xmlns:a="http://schemas.openxmlformats.org/drawingml/2006/main">
            <a:r>
              <a:t>Klein et al. seL4: Formal Verification of an OS Kernel. SOSP 2009. https://sel4.systems/Research/pdfs/sel4-formal-verification-os-kernel.pdf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Primary paper links are provided below. Extended background is in docs/deep-research.md and pinned repository source pointers are in docs/source-reading-guide.md. Current executable evidence is under docs/evidence, separate from the older presentation/evidence baseline. The private GitHub repository is https://github.com/divyamagrawal06/mnemosyne-os and may require access for the professor.</a:t>
            </a:r>
          </a:p>
          <a:p xmlns:a="http://schemas.openxmlformats.org/drawingml/2006/main">
            <a:r>
              <a:t/>
            </a:r>
          </a:p>
          <a:p xmlns:a="http://schemas.openxmlformats.org/drawingml/2006/main">
            <a:r>
              <a:t>Sources and evidence</a:t>
            </a:r>
          </a:p>
          <a:p xmlns:a="http://schemas.openxmlformats.org/drawingml/2006/main">
            <a:r>
              <a:t>Klein et al. seL4: Formal Verification of an OS Kernel. SOSP 2009. https://sel4.systems/Research/pdfs/sel4-formal-verification-os-kernel.pdf</a:t>
            </a:r>
          </a:p>
          <a:p xmlns:a="http://schemas.openxmlformats.org/drawingml/2006/main">
            <a:r>
              <a:t/>
            </a:r>
          </a:p>
          <a:p xmlns:a="http://schemas.openxmlformats.org/drawingml/2006/main">
            <a:r>
              <a:t>Boos, Liyanage, Ijaz and Zhong. Theseus: an Experiment in Operating System Structure and State Management. OSDI 2020. https://www.usenix.org/conference/osdi20/presentation/boos</a:t>
            </a:r>
          </a:p>
          <a:p xmlns:a="http://schemas.openxmlformats.org/drawingml/2006/main">
            <a:r>
              <a:t/>
            </a:r>
          </a:p>
          <a:p xmlns:a="http://schemas.openxmlformats.org/drawingml/2006/main">
            <a:r>
              <a:t>Lee et al. Implementing Linearizability at Large Scale and Low Latency. SOSP 2015. https://web.stanford.edu/~ouster/cgi-bin/papers/rifl.pdf</a:t>
            </a:r>
          </a:p>
          <a:p xmlns:a="http://schemas.openxmlformats.org/drawingml/2006/main">
            <a:r>
              <a:t/>
            </a:r>
          </a:p>
          <a:p xmlns:a="http://schemas.openxmlformats.org/drawingml/2006/main">
            <a:r>
              <a:t>Mohan, Martinez, Ponnapalli, Raju and Chidambaram. Finding Crash-Consistency Bugs with Bounded Black-Box Crash Testing. OSDI 2018. https://www.usenix.org/conference/osdi18/presentation/mohan</a:t>
            </a:r>
          </a:p>
          <a:p xmlns:a="http://schemas.openxmlformats.org/drawingml/2006/main">
            <a:r>
              <a:t/>
            </a:r>
          </a:p>
          <a:p xmlns:a="http://schemas.openxmlformats.org/drawingml/2006/main">
            <a:r>
              <a:t>Gundawar, Valmeekam, Verma and Kambhampati. Robust Planning with Compound LLM Architectures: An LLM-Modulo Approach. arXiv:2411.14484v1, 2024. https://arxiv.org/html/2411.14484v1</a:t>
            </a:r>
          </a:p>
          <a:p xmlns:a="http://schemas.openxmlformats.org/drawingml/2006/main">
            <a:r>
              <a:t/>
            </a:r>
          </a:p>
          <a:p xmlns:a="http://schemas.openxmlformats.org/drawingml/2006/main">
            <a:r>
              <a:t>Repository: THIRD_PARTY.md, Cargo.lock and third-party/licenses. Limine bootloader v10.8.5-binary commit 7a9013f305de0bea1f6310e76e7baba30499fef0; Rust OSDev x86_64 0.15.4; linked_list_allocator 0.10.6; Wasmi 2.0.0; wat 1.228.0. https://github.com/limine-bootloader/limine https://github.com/rust-osdev/x86_64 https://github.com/wasmi-labs/wasmi</a:t>
            </a:r>
          </a:p>
          <a:p xmlns:a="http://schemas.openxmlformats.org/drawingml/2006/main">
            <a:r>
              <a:t/>
            </a:r>
          </a:p>
          <a:p xmlns:a="http://schemas.openxmlformats.org/drawingml/2006/main">
            <a:r>
              <a:t>Recorded guest evidence: docs/evidence/guest-demo.log and guest-reboot.log, capture 2026-10-09T07:18:25.765818+00:00, source 1bc81f15606e7ce8465111ad7858d49d1f20455e, ISO SHA-256 849a71cce8b08ce174fc130d943d7c171b078d6ea6b7c14fcf6136e59967fbe5. The later f09a431 change concerns packaging notices/docs, and its release kernel including embedded userspace was compared byte-for-byte with the Linux-tested binary. These are saved results, not a new live run.</a:t>
            </a:r>
          </a:p>
          <a:p xmlns:a="http://schemas.openxmlformats.org/drawingml/2006/main">
            <a:r>
              <a:t/>
            </a:r>
          </a:p>
          <a:p xmlns:a="http://schemas.openxmlformats.org/drawingml/2006/main">
            <a:r>
              <a:t>Repository: docs/cloud-demo.md, tools/run-image.py and tools/dev.py. The prebuilt bundle requires Python 3 and QEMU on a non-Azure x86-64 Linux host. Run-image uses a 256-MiB, one-CPU guest without a NIC. The self-test uses fresh disks and two bounded boots.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0a410a48868a4875"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76edf54361184bf8"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1e1df80819514311"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b9520059e73842ab"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c39cc1102d524090"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15d95853058941ae"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515EE0DF-723F-4ED0-A6D5-0E15B42AC05D}"/>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C276930A-8300-43A8-85F1-D9EA9D803A61}"/>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9E5C2A2A-BCE4-4B62-B83D-D5671C0E1FDA}"/>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D0DE5152-54C0-434B-85A3-503C7788A9CA}"/>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AB6C295E-C174-4FE7-A7BC-6DB1222020F2}"/>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0EDBFD93-E775-472F-8C4C-FD73A12D2EAA}"/>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85247B84-44B8-4C17-9995-5DC9AB79C001}"/>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825F1276-77FE-4869-986E-96E3CF7A6281}"/>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55EBACFF-EAA1-471D-ADDC-F2F3B8DB5199}"/>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6C977581-320B-489A-AE7F-6A46C3212203}"/>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5d22311ee07e45ee" /><Relationship Type="http://schemas.openxmlformats.org/officeDocument/2006/relationships/slideLayout" Target="/ppt/slideLayouts/slideLayout1.xml" Id="R16a425b853cb4b11" /><Relationship Type="http://schemas.openxmlformats.org/officeDocument/2006/relationships/slideLayout" Target="/ppt/slideLayouts/slideLayout2.xml" Id="R41b8973c7cf84456" /><Relationship Type="http://schemas.openxmlformats.org/officeDocument/2006/relationships/slideLayout" Target="/ppt/slideLayouts/slideLayout3.xml" Id="R0df1d516ba714358" /><Relationship Type="http://schemas.openxmlformats.org/officeDocument/2006/relationships/slideLayout" Target="/ppt/slideLayouts/slideLayout4.xml" Id="R35cc5a411e464f5c" /><Relationship Type="http://schemas.openxmlformats.org/officeDocument/2006/relationships/slideLayout" Target="/ppt/slideLayouts/slideLayout5.xml" Id="R46af6137b0d54282" /><Relationship Type="http://schemas.openxmlformats.org/officeDocument/2006/relationships/slideLayout" Target="/ppt/slideLayouts/slideLayout6.xml" Id="R1b19d980408e47c8"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16a425b853cb4b11"/>
    <p:sldLayoutId xmlns:r="http://schemas.openxmlformats.org/officeDocument/2006/relationships" id="2147483650" r:id="R41b8973c7cf84456"/>
    <p:sldLayoutId xmlns:r="http://schemas.openxmlformats.org/officeDocument/2006/relationships" id="2147483651" r:id="R0df1d516ba714358"/>
    <p:sldLayoutId xmlns:r="http://schemas.openxmlformats.org/officeDocument/2006/relationships" id="2147483652" r:id="R35cc5a411e464f5c"/>
    <p:sldLayoutId xmlns:r="http://schemas.openxmlformats.org/officeDocument/2006/relationships" id="2147483653" r:id="R46af6137b0d54282"/>
    <p:sldLayoutId xmlns:r="http://schemas.openxmlformats.org/officeDocument/2006/relationships" id="2147483654" r:id="R1b19d980408e47c8"/>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ff6f951346e94bf9" /><Relationship Type="http://schemas.openxmlformats.org/officeDocument/2006/relationships/image" Target="/ppt/media/image.png" Id="R1670063dc0bc4b50" /><Relationship Type="http://schemas.openxmlformats.org/officeDocument/2006/relationships/notesSlide" Target="/ppt/notesSlides/notesSlide1.xml" Id="R781600f72bd14f8b"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8aa9c5d86b9b47a5" /><Relationship Type="http://schemas.openxmlformats.org/officeDocument/2006/relationships/notesSlide" Target="/ppt/notesSlides/notesSlide2.xml" Id="R7116c33905a24ec2"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8f448e8c2fa84574" /><Relationship Type="http://schemas.openxmlformats.org/officeDocument/2006/relationships/notesSlide" Target="/ppt/notesSlides/notesSlide3.xml" Id="Rd931c051aaa34365"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7df0a243d2114c3d" /><Relationship Type="http://schemas.openxmlformats.org/officeDocument/2006/relationships/notesSlide" Target="/ppt/notesSlides/notesSlide4.xml" Id="R9984db5191d7499b"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b98dec14c73d4b1c" /><Relationship Type="http://schemas.openxmlformats.org/officeDocument/2006/relationships/notesSlide" Target="/ppt/notesSlides/notesSlide5.xml" Id="R0ed64f8fbdc4455e"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23df1c48d80f49fa" /><Relationship Type="http://schemas.openxmlformats.org/officeDocument/2006/relationships/notesSlide" Target="/ppt/notesSlides/notesSlide6.xml" Id="R8d7b7f11585140fc"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57e9f2022d164899" /><Relationship Type="http://schemas.openxmlformats.org/officeDocument/2006/relationships/notesSlide" Target="/ppt/notesSlides/notesSlide7.xml" Id="R5e17156b4f7f4293"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3221c9c0d810448e" /><Relationship Type="http://schemas.openxmlformats.org/officeDocument/2006/relationships/notesSlide" Target="/ppt/notesSlides/notesSlide8.xml" Id="R19d7a15329fe4910"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0ef2227470504480" /><Relationship Type="http://schemas.openxmlformats.org/officeDocument/2006/relationships/notesSlide" Target="/ppt/notesSlides/notesSlide9.xml" Id="R361d44ddd53144f6"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1bea523b6a334167" /><Relationship Type="http://schemas.openxmlformats.org/officeDocument/2006/relationships/notesSlide" Target="/ppt/notesSlides/notesSlide10.xml" Id="R42e55052fd6749ba"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d92deb40c5ad4995" /><Relationship Type="http://schemas.openxmlformats.org/officeDocument/2006/relationships/notesSlide" Target="/ppt/notesSlides/notesSlide11.xml" Id="R4025325649a14923"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655b9bfa809f478c" /><Relationship Type="http://schemas.openxmlformats.org/officeDocument/2006/relationships/notesSlide" Target="/ppt/notesSlides/notesSlide12.xml" Id="R37d5c26b91cc40e1"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daa6814cfc224bb6" /><Relationship Type="http://schemas.openxmlformats.org/officeDocument/2006/relationships/notesSlide" Target="/ppt/notesSlides/notesSlide13.xml" Id="Rffe9ae5873344093"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d5ff843ba6dc4cc1" /><Relationship Type="http://schemas.openxmlformats.org/officeDocument/2006/relationships/notesSlide" Target="/ppt/notesSlides/notesSlide14.xml" Id="R03264c23706f44a6"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a8637f90aaf54d10" /><Relationship Type="http://schemas.openxmlformats.org/officeDocument/2006/relationships/notesSlide" Target="/ppt/notesSlides/notesSlide15.xml" Id="R99858a1f71f840ad"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398f401039f4421e" /><Relationship Type="http://schemas.openxmlformats.org/officeDocument/2006/relationships/notesSlide" Target="/ppt/notesSlides/notesSlide16.xml" Id="Rd2fe0a6558b049a2"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373f6cfde9524f9d" /><Relationship Type="http://schemas.openxmlformats.org/officeDocument/2006/relationships/notesSlide" Target="/ppt/notesSlides/notesSlide17.xml" Id="Rb94952acca044d13" /></Relationships>
</file>

<file path=ppt/slides/_rels/slide18.xml.rels>&#65279;<?xml version="1.0" encoding="utf-8"?><Relationships xmlns="http://schemas.openxmlformats.org/package/2006/relationships"><Relationship Type="http://schemas.openxmlformats.org/officeDocument/2006/relationships/slideLayout" Target="/ppt/slideLayouts/slideLayout6.xml" Id="R11a0cb8cb5124932" /><Relationship Type="http://schemas.openxmlformats.org/officeDocument/2006/relationships/notesSlide" Target="/ppt/notesSlides/notesSlide18.xml" Id="Rb18fc5eea02a4a81" /></Relationships>
</file>

<file path=ppt/slides/_rels/slide19.xml.rels>&#65279;<?xml version="1.0" encoding="utf-8"?><Relationships xmlns="http://schemas.openxmlformats.org/package/2006/relationships"><Relationship Type="http://schemas.openxmlformats.org/officeDocument/2006/relationships/slideLayout" Target="/ppt/slideLayouts/slideLayout6.xml" Id="R6216c61b33574bdd" /><Relationship Type="http://schemas.openxmlformats.org/officeDocument/2006/relationships/notesSlide" Target="/ppt/notesSlides/notesSlide19.xml" Id="R7b9f8fe552654a37" /></Relationships>
</file>

<file path=ppt/slides/_rels/slide20.xml.rels>&#65279;<?xml version="1.0" encoding="utf-8"?><Relationships xmlns="http://schemas.openxmlformats.org/package/2006/relationships"><Relationship Type="http://schemas.openxmlformats.org/officeDocument/2006/relationships/slideLayout" Target="/ppt/slideLayouts/slideLayout6.xml" Id="Rfe48bae5f5704016" /><Relationship Type="http://schemas.openxmlformats.org/officeDocument/2006/relationships/notesSlide" Target="/ppt/notesSlides/notesSlide20.xml" Id="R39aaf2b14e3a45ae" /></Relationships>
</file>

<file path=ppt/slides/_rels/slide21.xml.rels>&#65279;<?xml version="1.0" encoding="utf-8"?><Relationships xmlns="http://schemas.openxmlformats.org/package/2006/relationships"><Relationship Type="http://schemas.openxmlformats.org/officeDocument/2006/relationships/slideLayout" Target="/ppt/slideLayouts/slideLayout6.xml" Id="R25f30944bbe143fa" /><Relationship Type="http://schemas.openxmlformats.org/officeDocument/2006/relationships/notesSlide" Target="/ppt/notesSlides/notesSlide21.xml" Id="R5bae573e21594597" /></Relationships>
</file>

<file path=ppt/slides/_rels/slide22.xml.rels>&#65279;<?xml version="1.0" encoding="utf-8"?><Relationships xmlns="http://schemas.openxmlformats.org/package/2006/relationships"><Relationship Type="http://schemas.openxmlformats.org/officeDocument/2006/relationships/slideLayout" Target="/ppt/slideLayouts/slideLayout6.xml" Id="R80778b40daf64bb3" /><Relationship Type="http://schemas.openxmlformats.org/officeDocument/2006/relationships/notesSlide" Target="/ppt/notesSlides/notesSlide22.xml" Id="R36d023ce66fc4083" /></Relationships>
</file>

<file path=ppt/slides/_rels/slide23.xml.rels>&#65279;<?xml version="1.0" encoding="utf-8"?><Relationships xmlns="http://schemas.openxmlformats.org/package/2006/relationships"><Relationship Type="http://schemas.openxmlformats.org/officeDocument/2006/relationships/slideLayout" Target="/ppt/slideLayouts/slideLayout6.xml" Id="R043e97cd2292456e" /><Relationship Type="http://schemas.openxmlformats.org/officeDocument/2006/relationships/notesSlide" Target="/ppt/notesSlides/notesSlide23.xml" Id="R4d47507df8444e9e" /></Relationships>
</file>

<file path=ppt/slides/_rels/slide24.xml.rels>&#65279;<?xml version="1.0" encoding="utf-8"?><Relationships xmlns="http://schemas.openxmlformats.org/package/2006/relationships"><Relationship Type="http://schemas.openxmlformats.org/officeDocument/2006/relationships/slideLayout" Target="/ppt/slideLayouts/slideLayout6.xml" Id="R8e734c4d25044f77" /><Relationship Type="http://schemas.openxmlformats.org/officeDocument/2006/relationships/notesSlide" Target="/ppt/notesSlides/notesSlide24.xml" Id="R25b9650c788e4923" /></Relationships>
</file>

<file path=ppt/slides/slide1.xml><?xml version="1.0" encoding="utf-8"?>
<p:sld xmlns:p="http://schemas.openxmlformats.org/presentationml/2006/main">
  <p:cSld>
    <p:bg>
      <p:bgPr>
        <a:solidFill xmlns:a="http://schemas.openxmlformats.org/drawingml/2006/main">
          <a:srgbClr val="122632"/>
        </a:solidFill>
      </p:bgPr>
    </p:bg>
    <p:spTree>
      <p:nvGrpSpPr>
        <p:cNvPr id="1" name=""/>
        <p:cNvGrpSpPr/>
        <p:nvPr/>
      </p:nvGrpSpPr>
      <p:grpSpPr>
        <a:xfrm xmlns:a="http://schemas.openxmlformats.org/drawingml/2006/main"/>
      </p:grpSpPr>
      <p:pic>
        <p:nvPicPr>
          <p:cNvPr id="5" name="">
            <a:extLst xmlns:a="http://schemas.openxmlformats.org/drawingml/2006/main">
              <a:ext uri="{FF2B5EF4-FFF2-40B4-BE49-F238E27FC236}">
                <a16:creationId xmlns:a16="http://schemas.microsoft.com/office/drawing/2014/main" id="{ED0F2204-5652-4967-B355-4C76E8D76288}"/>
              </a:ext>
            </a:extLst>
          </p:cNvPr>
          <p:cNvPicPr>
            <a:picLocks xmlns:a="http://schemas.openxmlformats.org/drawingml/2006/main" noChangeAspect="1"/>
          </p:cNvPicPr>
          <p:nvPr/>
        </p:nvPicPr>
        <p:blipFill>
          <a:blip xmlns:r="http://schemas.openxmlformats.org/officeDocument/2006/relationships" xmlns:a="http://schemas.openxmlformats.org/drawingml/2006/main" r:embed="R1670063dc0bc4b50"/>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text-1">
            <a:extLst xmlns:a="http://schemas.openxmlformats.org/drawingml/2006/main">
              <a:ext uri="{FF2B5EF4-FFF2-40B4-BE49-F238E27FC236}">
                <a16:creationId xmlns:a16="http://schemas.microsoft.com/office/drawing/2014/main" id="{3206FD27-020B-4C8A-963F-876ED2920895}"/>
              </a:ext>
            </a:extLst>
          </p:cNvPr>
          <p:cNvSpPr>
            <a:spLocks xmlns:a="http://schemas.openxmlformats.org/drawingml/2006/main" noGrp="1"/>
          </p:cNvSpPr>
          <p:nvPr/>
        </p:nvSpPr>
        <p:spPr>
          <a:xfrm xmlns:a="http://schemas.openxmlformats.org/drawingml/2006/main">
            <a:off x="609600" y="1752600"/>
            <a:ext cx="619125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5700" b="1">
                <a:solidFill>
                  <a:srgbClr val="FCFCF8"/>
                </a:solidFill>
                <a:latin typeface="Arial"/>
                <a:ea typeface="Arial"/>
                <a:cs typeface="Arial"/>
              </a:defRPr>
            </a:defPPr>
          </a:lstStyle>
          <a:p xmlns:a="http://schemas.openxmlformats.org/drawingml/2006/main">
            <a:pPr>
              <a:defRPr sz="5700" b="1">
                <a:solidFill>
                  <a:srgbClr val="FCFCF8"/>
                </a:solidFill>
                <a:latin typeface="Arial"/>
                <a:ea typeface="Arial"/>
                <a:cs typeface="Arial"/>
              </a:defRPr>
            </a:pPr>
            <a:r>
              <a:rPr sz="5700" b="1">
                <a:solidFill>
                  <a:srgbClr val="FCFCF8"/>
                </a:solidFill>
                <a:latin typeface="Arial"/>
                <a:ea typeface="Arial"/>
                <a:cs typeface="Arial"/>
              </a:rPr>
              <a:t>MnemosyneOS</a:t>
            </a:r>
          </a:p>
        </p:txBody>
      </p:sp>
      <p:sp>
        <p:nvSpPr>
          <p:cNvPr id="3" name="text-2">
            <a:extLst xmlns:a="http://schemas.openxmlformats.org/drawingml/2006/main">
              <a:ext uri="{FF2B5EF4-FFF2-40B4-BE49-F238E27FC236}">
                <a16:creationId xmlns:a16="http://schemas.microsoft.com/office/drawing/2014/main" id="{D54EBDCD-0DF3-468A-9362-9A6B9EA3CD91}"/>
              </a:ext>
            </a:extLst>
          </p:cNvPr>
          <p:cNvSpPr>
            <a:spLocks xmlns:a="http://schemas.openxmlformats.org/drawingml/2006/main" noGrp="1"/>
          </p:cNvSpPr>
          <p:nvPr/>
        </p:nvSpPr>
        <p:spPr>
          <a:xfrm xmlns:a="http://schemas.openxmlformats.org/drawingml/2006/main">
            <a:off x="647700" y="2952750"/>
            <a:ext cx="5953125"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2475" b="0">
                <a:solidFill>
                  <a:srgbClr val="FCFCF8"/>
                </a:solidFill>
                <a:latin typeface="Arial"/>
                <a:ea typeface="Arial"/>
                <a:cs typeface="Arial"/>
              </a:defRPr>
            </a:defPPr>
          </a:lstStyle>
          <a:p xmlns:a="http://schemas.openxmlformats.org/drawingml/2006/main">
            <a:pPr>
              <a:defRPr sz="2475" b="0">
                <a:solidFill>
                  <a:srgbClr val="FCFCF8"/>
                </a:solidFill>
                <a:latin typeface="Arial"/>
                <a:ea typeface="Arial"/>
                <a:cs typeface="Arial"/>
              </a:defRPr>
            </a:pPr>
            <a:r>
              <a:rPr sz="2475" b="0">
                <a:solidFill>
                  <a:srgbClr val="FCFCF8"/>
                </a:solidFill>
                <a:latin typeface="Arial"/>
                <a:ea typeface="Arial"/>
                <a:cs typeface="Arial"/>
              </a:rPr>
              <a:t>A capability-based research OS</a:t>
            </a:r>
          </a:p>
          <a:p xmlns:a="http://schemas.openxmlformats.org/drawingml/2006/main">
            <a:pPr>
              <a:defRPr sz="2475" b="0">
                <a:solidFill>
                  <a:srgbClr val="FCFCF8"/>
                </a:solidFill>
                <a:latin typeface="Arial"/>
                <a:ea typeface="Arial"/>
                <a:cs typeface="Arial"/>
              </a:defRPr>
            </a:pPr>
            <a:r>
              <a:rPr sz="2475" b="0">
                <a:solidFill>
                  <a:srgbClr val="FCFCF8"/>
                </a:solidFill>
                <a:latin typeface="Arial"/>
                <a:ea typeface="Arial"/>
                <a:cs typeface="Arial"/>
              </a:rPr>
              <a:t>with deterministic service replay</a:t>
            </a:r>
          </a:p>
        </p:txBody>
      </p:sp>
      <p:sp>
        <p:nvSpPr>
          <p:cNvPr id="4" name="text-3">
            <a:extLst xmlns:a="http://schemas.openxmlformats.org/drawingml/2006/main">
              <a:ext uri="{FF2B5EF4-FFF2-40B4-BE49-F238E27FC236}">
                <a16:creationId xmlns:a16="http://schemas.microsoft.com/office/drawing/2014/main" id="{6C708307-F966-4E08-86CD-08B35AA6408A}"/>
              </a:ext>
            </a:extLst>
          </p:cNvPr>
          <p:cNvSpPr>
            <a:spLocks xmlns:a="http://schemas.openxmlformats.org/drawingml/2006/main" noGrp="1"/>
          </p:cNvSpPr>
          <p:nvPr/>
        </p:nvSpPr>
        <p:spPr>
          <a:xfrm xmlns:a="http://schemas.openxmlformats.org/drawingml/2006/main">
            <a:off x="647700" y="5391150"/>
            <a:ext cx="619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1800" b="0">
                <a:solidFill>
                  <a:srgbClr val="B8D8C6"/>
                </a:solidFill>
                <a:latin typeface="Arial"/>
                <a:ea typeface="Arial"/>
                <a:cs typeface="Arial"/>
              </a:defRPr>
            </a:defPPr>
          </a:lstStyle>
          <a:p xmlns:a="http://schemas.openxmlformats.org/drawingml/2006/main">
            <a:pPr>
              <a:defRPr sz="1800" b="0">
                <a:solidFill>
                  <a:srgbClr val="B8D8C6"/>
                </a:solidFill>
                <a:latin typeface="Arial"/>
                <a:ea typeface="Arial"/>
                <a:cs typeface="Arial"/>
              </a:defRPr>
            </a:pPr>
            <a:r>
              <a:rPr sz="1800" b="0">
                <a:solidFill>
                  <a:srgbClr val="B8D8C6"/>
                </a:solidFill>
                <a:latin typeface="Arial"/>
                <a:ea typeface="Arial"/>
                <a:cs typeface="Arial"/>
              </a:rPr>
              <a:t>Review I</a:t>
            </a:r>
          </a:p>
          <a:p xmlns:a="http://schemas.openxmlformats.org/drawingml/2006/main">
            <a:pPr>
              <a:defRPr sz="1800" b="0">
                <a:solidFill>
                  <a:srgbClr val="B8D8C6"/>
                </a:solidFill>
                <a:latin typeface="Arial"/>
                <a:ea typeface="Arial"/>
                <a:cs typeface="Arial"/>
              </a:defRPr>
            </a:pPr>
            <a:r>
              <a:rPr sz="1800" b="0">
                <a:solidFill>
                  <a:srgbClr val="B8D8C6"/>
                </a:solidFill>
                <a:latin typeface="Arial"/>
                <a:ea typeface="Arial"/>
                <a:cs typeface="Arial"/>
              </a:rPr>
              <a:t>Executable prototype / October 2026</a:t>
            </a:r>
          </a:p>
        </p:txBody>
      </p:sp>
    </p:spTree>
    <p:extLst>
      <p:ext uri="{BB962C8B-B14F-4D97-AF65-F5344CB8AC3E}">
        <p14:creationId xmlns:p14="http://schemas.microsoft.com/office/powerpoint/2010/main" val="560905842"/>
      </p:ext>
    </p:extLst>
  </p:cSld>
</p:sld>
</file>

<file path=ppt/slides/slide2.xml><?xml version="1.0" encoding="utf-8"?>
<p:sld xmlns:p="http://schemas.openxmlformats.org/presentationml/2006/main">
  <p:cSld>
    <p:bg>
      <p:bgPr>
        <a:solidFill xmlns:a="http://schemas.openxmlformats.org/drawingml/2006/main">
          <a:srgbClr val="F6F4EE"/>
        </a:solidFill>
      </p:bgPr>
    </p:bg>
    <p:spTree>
      <p:nvGrpSpPr>
        <p:cNvPr id="1" name=""/>
        <p:cNvGrpSpPr/>
        <p:nvPr/>
      </p:nvGrpSpPr>
      <p:grpSpPr>
        <a:xfrm xmlns:a="http://schemas.openxmlformats.org/drawingml/2006/main"/>
      </p:grpSpPr>
      <p:sp>
        <p:nvSpPr>
          <p:cNvPr id="6" name="text-1">
            <a:extLst xmlns:a="http://schemas.openxmlformats.org/drawingml/2006/main">
              <a:ext uri="{FF2B5EF4-FFF2-40B4-BE49-F238E27FC236}">
                <a16:creationId xmlns:a16="http://schemas.microsoft.com/office/drawing/2014/main" id="{5ADC37A9-E1C1-4333-B2FF-8B5C4D345395}"/>
              </a:ext>
            </a:extLst>
          </p:cNvPr>
          <p:cNvSpPr>
            <a:spLocks xmlns:a="http://schemas.openxmlformats.org/drawingml/2006/main" noGrp="1"/>
          </p:cNvSpPr>
          <p:nvPr/>
        </p:nvSpPr>
        <p:spPr>
          <a:xfrm xmlns:a="http://schemas.openxmlformats.org/drawingml/2006/main">
            <a:off x="609600" y="514350"/>
            <a:ext cx="109728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3300" b="1">
                <a:solidFill>
                  <a:srgbClr val="122632"/>
                </a:solidFill>
                <a:latin typeface="Arial"/>
                <a:ea typeface="Arial"/>
                <a:cs typeface="Arial"/>
              </a:defRPr>
            </a:defPPr>
          </a:lstStyle>
          <a:p xmlns:a="http://schemas.openxmlformats.org/drawingml/2006/main">
            <a:pPr>
              <a:defRPr sz="3300" b="1">
                <a:solidFill>
                  <a:srgbClr val="122632"/>
                </a:solidFill>
                <a:latin typeface="Arial"/>
                <a:ea typeface="Arial"/>
                <a:cs typeface="Arial"/>
              </a:defRPr>
            </a:pPr>
            <a:r>
              <a:rPr sz="3300" b="1">
                <a:solidFill>
                  <a:srgbClr val="122632"/>
                </a:solidFill>
                <a:latin typeface="Arial"/>
                <a:ea typeface="Arial"/>
                <a:cs typeface="Arial"/>
              </a:rPr>
              <a:t>Problem statement</a:t>
            </a:r>
          </a:p>
        </p:txBody>
      </p:sp>
      <p:sp>
        <p:nvSpPr>
          <p:cNvPr id="2" name="text-2">
            <a:extLst xmlns:a="http://schemas.openxmlformats.org/drawingml/2006/main">
              <a:ext uri="{FF2B5EF4-FFF2-40B4-BE49-F238E27FC236}">
                <a16:creationId xmlns:a16="http://schemas.microsoft.com/office/drawing/2014/main" id="{FF884F4D-3EFF-435F-8F0D-C2B1DF4E9CB1}"/>
              </a:ext>
            </a:extLst>
          </p:cNvPr>
          <p:cNvSpPr>
            <a:spLocks xmlns:a="http://schemas.openxmlformats.org/drawingml/2006/main" noGrp="1"/>
          </p:cNvSpPr>
          <p:nvPr/>
        </p:nvSpPr>
        <p:spPr>
          <a:xfrm xmlns:a="http://schemas.openxmlformats.org/drawingml/2006/main">
            <a:off x="609600" y="1790700"/>
            <a:ext cx="10972800" cy="1962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3225" b="1">
                <a:solidFill>
                  <a:srgbClr val="146B5F"/>
                </a:solidFill>
                <a:latin typeface="Arial"/>
                <a:ea typeface="Arial"/>
                <a:cs typeface="Arial"/>
              </a:defRPr>
            </a:defPPr>
          </a:lstStyle>
          <a:p xmlns:a="http://schemas.openxmlformats.org/drawingml/2006/main">
            <a:pPr>
              <a:defRPr sz="3225" b="1">
                <a:solidFill>
                  <a:srgbClr val="146B5F"/>
                </a:solidFill>
                <a:latin typeface="Arial"/>
                <a:ea typeface="Arial"/>
                <a:cs typeface="Arial"/>
              </a:defRPr>
            </a:pPr>
            <a:r>
              <a:rPr sz="3225" b="1">
                <a:solidFill>
                  <a:srgbClr val="146B5F"/>
                </a:solidFill>
                <a:latin typeface="Arial"/>
                <a:ea typeface="Arial"/>
                <a:cs typeface="Arial"/>
              </a:rPr>
              <a:t>A failed service must recover state</a:t>
            </a:r>
          </a:p>
          <a:p xmlns:a="http://schemas.openxmlformats.org/drawingml/2006/main">
            <a:pPr>
              <a:defRPr sz="3225" b="1">
                <a:solidFill>
                  <a:srgbClr val="146B5F"/>
                </a:solidFill>
                <a:latin typeface="Arial"/>
                <a:ea typeface="Arial"/>
                <a:cs typeface="Arial"/>
              </a:defRPr>
            </a:pPr>
            <a:r>
              <a:rPr sz="3225" b="1">
                <a:solidFill>
                  <a:srgbClr val="146B5F"/>
                </a:solidFill>
                <a:latin typeface="Arial"/>
                <a:ea typeface="Arial"/>
                <a:cs typeface="Arial"/>
              </a:rPr>
              <a:t>while current permissions still apply.</a:t>
            </a:r>
          </a:p>
        </p:txBody>
      </p:sp>
      <p:sp>
        <p:nvSpPr>
          <p:cNvPr id="3" name="text-3">
            <a:extLst xmlns:a="http://schemas.openxmlformats.org/drawingml/2006/main">
              <a:ext uri="{FF2B5EF4-FFF2-40B4-BE49-F238E27FC236}">
                <a16:creationId xmlns:a16="http://schemas.microsoft.com/office/drawing/2014/main" id="{52E1B0A7-C20A-47D1-8C0D-E8A427780B60}"/>
              </a:ext>
            </a:extLst>
          </p:cNvPr>
          <p:cNvSpPr>
            <a:spLocks xmlns:a="http://schemas.openxmlformats.org/drawingml/2006/main" noGrp="1"/>
          </p:cNvSpPr>
          <p:nvPr/>
        </p:nvSpPr>
        <p:spPr>
          <a:xfrm xmlns:a="http://schemas.openxmlformats.org/drawingml/2006/main">
            <a:off x="609600" y="4010025"/>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2175" b="0">
                <a:solidFill>
                  <a:srgbClr val="122632"/>
                </a:solidFill>
                <a:latin typeface="Arial"/>
                <a:ea typeface="Arial"/>
                <a:cs typeface="Arial"/>
              </a:defRPr>
            </a:defPPr>
          </a:lstStyle>
          <a:p xmlns:a="http://schemas.openxmlformats.org/drawingml/2006/main">
            <a:pPr>
              <a:defRPr sz="2175" b="0">
                <a:solidFill>
                  <a:srgbClr val="122632"/>
                </a:solidFill>
                <a:latin typeface="Arial"/>
                <a:ea typeface="Arial"/>
                <a:cs typeface="Arial"/>
              </a:defRPr>
            </a:pPr>
            <a:r>
              <a:rPr sz="2175" b="0">
                <a:solidFill>
                  <a:srgbClr val="122632"/>
                </a:solidFill>
                <a:latin typeface="Arial"/>
                <a:ea typeface="Arial"/>
                <a:cs typeface="Arial"/>
              </a:rPr>
              <a:t>A restart loses state. An incomplete replay can diverge.</a:t>
            </a:r>
          </a:p>
          <a:p xmlns:a="http://schemas.openxmlformats.org/drawingml/2006/main">
            <a:pPr>
              <a:defRPr sz="2175" b="0">
                <a:solidFill>
                  <a:srgbClr val="122632"/>
                </a:solidFill>
                <a:latin typeface="Arial"/>
                <a:ea typeface="Arial"/>
                <a:cs typeface="Arial"/>
              </a:defRPr>
            </a:pPr>
            <a:r>
              <a:rPr sz="2175" b="0">
                <a:solidFill>
                  <a:srgbClr val="122632"/>
                </a:solidFill>
                <a:latin typeface="Arial"/>
                <a:ea typeface="Arial"/>
                <a:cs typeface="Arial"/>
              </a:rPr>
              <a:t>An unchecked recovery proposal can exceed its authority.</a:t>
            </a:r>
          </a:p>
        </p:txBody>
      </p:sp>
      <p:sp>
        <p:nvSpPr>
          <p:cNvPr id="4" name="text-4">
            <a:extLst xmlns:a="http://schemas.openxmlformats.org/drawingml/2006/main">
              <a:ext uri="{FF2B5EF4-FFF2-40B4-BE49-F238E27FC236}">
                <a16:creationId xmlns:a16="http://schemas.microsoft.com/office/drawing/2014/main" id="{EB70D341-CBFB-47C5-A142-3312D67F97FC}"/>
              </a:ext>
            </a:extLst>
          </p:cNvPr>
          <p:cNvSpPr>
            <a:spLocks xmlns:a="http://schemas.openxmlformats.org/drawingml/2006/main" noGrp="1"/>
          </p:cNvSpPr>
          <p:nvPr/>
        </p:nvSpPr>
        <p:spPr>
          <a:xfrm xmlns:a="http://schemas.openxmlformats.org/drawingml/2006/main">
            <a:off x="609600" y="537210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1875" b="0">
                <a:solidFill>
                  <a:srgbClr val="58656A"/>
                </a:solidFill>
                <a:latin typeface="Arial"/>
                <a:ea typeface="Arial"/>
                <a:cs typeface="Arial"/>
              </a:defRPr>
            </a:defPPr>
          </a:lstStyle>
          <a:p xmlns:a="http://schemas.openxmlformats.org/drawingml/2006/main">
            <a:pPr>
              <a:defRPr sz="1875" b="0">
                <a:solidFill>
                  <a:srgbClr val="58656A"/>
                </a:solidFill>
                <a:latin typeface="Arial"/>
                <a:ea typeface="Arial"/>
                <a:cs typeface="Arial"/>
              </a:defRPr>
            </a:pPr>
            <a:r>
              <a:rPr sz="1875" b="0">
                <a:solidFill>
                  <a:srgbClr val="58656A"/>
                </a:solidFill>
                <a:latin typeface="Arial"/>
                <a:ea typeface="Arial"/>
                <a:cs typeface="Arial"/>
              </a:rPr>
              <a:t>Research question: can bounded checkpoint/replay restore a service predictably while its peers continue running?</a:t>
            </a:r>
          </a:p>
        </p:txBody>
      </p:sp>
      <p:sp>
        <p:nvSpPr>
          <p:cNvPr id="5" name="text-5">
            <a:extLst xmlns:a="http://schemas.openxmlformats.org/drawingml/2006/main">
              <a:ext uri="{FF2B5EF4-FFF2-40B4-BE49-F238E27FC236}">
                <a16:creationId xmlns:a16="http://schemas.microsoft.com/office/drawing/2014/main" id="{6F191BCB-7DE9-4422-A79F-A85AB3939C96}"/>
              </a:ext>
            </a:extLst>
          </p:cNvPr>
          <p:cNvSpPr>
            <a:spLocks xmlns:a="http://schemas.openxmlformats.org/drawingml/2006/main" noGrp="1"/>
          </p:cNvSpPr>
          <p:nvPr/>
        </p:nvSpPr>
        <p:spPr>
          <a:xfrm xmlns:a="http://schemas.openxmlformats.org/drawingml/2006/main">
            <a:off x="609600" y="6486525"/>
            <a:ext cx="109728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1200" b="0">
                <a:solidFill>
                  <a:srgbClr val="58656A"/>
                </a:solidFill>
                <a:latin typeface="Arial"/>
                <a:ea typeface="Arial"/>
                <a:cs typeface="Arial"/>
              </a:defRPr>
            </a:defPPr>
          </a:lstStyle>
          <a:p xmlns:a="http://schemas.openxmlformats.org/drawingml/2006/main">
            <a:pPr>
              <a:defRPr sz="1200" b="0">
                <a:solidFill>
                  <a:srgbClr val="58656A"/>
                </a:solidFill>
                <a:latin typeface="Arial"/>
                <a:ea typeface="Arial"/>
                <a:cs typeface="Arial"/>
              </a:defRPr>
            </a:pPr>
            <a:r>
              <a:rPr sz="1200" b="0">
                <a:solidFill>
                  <a:srgbClr val="58656A"/>
                </a:solidFill>
                <a:latin typeface="Arial"/>
                <a:ea typeface="Arial"/>
                <a:cs typeface="Arial"/>
              </a:rPr>
              <a:t>02 / 24     </a:t>
            </a:r>
          </a:p>
        </p:txBody>
      </p:sp>
    </p:spTree>
    <p:extLst>
      <p:ext uri="{BB962C8B-B14F-4D97-AF65-F5344CB8AC3E}">
        <p14:creationId xmlns:p14="http://schemas.microsoft.com/office/powerpoint/2010/main" val="1615863327"/>
      </p:ext>
    </p:extLst>
  </p:cSld>
</p:sld>
</file>

<file path=ppt/slides/slide3.xml><?xml version="1.0" encoding="utf-8"?>
<p:sld xmlns:p="http://schemas.openxmlformats.org/presentationml/2006/main">
  <p:cSld>
    <p:bg>
      <p:bgPr>
        <a:solidFill xmlns:a="http://schemas.openxmlformats.org/drawingml/2006/main">
          <a:srgbClr val="F6F4EE"/>
        </a:solidFill>
      </p:bgPr>
    </p:bg>
    <p:spTree>
      <p:nvGrpSpPr>
        <p:cNvPr id="1" name=""/>
        <p:cNvGrpSpPr/>
        <p:nvPr/>
      </p:nvGrpSpPr>
      <p:grpSpPr>
        <a:xfrm xmlns:a="http://schemas.openxmlformats.org/drawingml/2006/main"/>
      </p:grpSpPr>
      <p:sp>
        <p:nvSpPr>
          <p:cNvPr id="11" name="text-1">
            <a:extLst xmlns:a="http://schemas.openxmlformats.org/drawingml/2006/main">
              <a:ext uri="{FF2B5EF4-FFF2-40B4-BE49-F238E27FC236}">
                <a16:creationId xmlns:a16="http://schemas.microsoft.com/office/drawing/2014/main" id="{5345F744-BA5B-4754-A992-CFEA6DDA3ADD}"/>
              </a:ext>
            </a:extLst>
          </p:cNvPr>
          <p:cNvSpPr>
            <a:spLocks xmlns:a="http://schemas.openxmlformats.org/drawingml/2006/main" noGrp="1"/>
          </p:cNvSpPr>
          <p:nvPr/>
        </p:nvSpPr>
        <p:spPr>
          <a:xfrm xmlns:a="http://schemas.openxmlformats.org/drawingml/2006/main">
            <a:off x="609600" y="514350"/>
            <a:ext cx="109728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3300" b="1">
                <a:solidFill>
                  <a:srgbClr val="122632"/>
                </a:solidFill>
                <a:latin typeface="Arial"/>
                <a:ea typeface="Arial"/>
                <a:cs typeface="Arial"/>
              </a:defRPr>
            </a:defPPr>
          </a:lstStyle>
          <a:p xmlns:a="http://schemas.openxmlformats.org/drawingml/2006/main">
            <a:pPr>
              <a:defRPr sz="3300" b="1">
                <a:solidFill>
                  <a:srgbClr val="122632"/>
                </a:solidFill>
                <a:latin typeface="Arial"/>
                <a:ea typeface="Arial"/>
                <a:cs typeface="Arial"/>
              </a:defRPr>
            </a:pPr>
            <a:r>
              <a:rPr sz="3300" b="1">
                <a:solidFill>
                  <a:srgbClr val="122632"/>
                </a:solidFill>
                <a:latin typeface="Arial"/>
                <a:ea typeface="Arial"/>
                <a:cs typeface="Arial"/>
              </a:rPr>
              <a:t>Objectives</a:t>
            </a:r>
          </a:p>
        </p:txBody>
      </p:sp>
      <p:sp>
        <p:nvSpPr>
          <p:cNvPr id="2" name="text-2">
            <a:extLst xmlns:a="http://schemas.openxmlformats.org/drawingml/2006/main">
              <a:ext uri="{FF2B5EF4-FFF2-40B4-BE49-F238E27FC236}">
                <a16:creationId xmlns:a16="http://schemas.microsoft.com/office/drawing/2014/main" id="{CD758529-DDF2-4140-BAAB-FCFD164A77CD}"/>
              </a:ext>
            </a:extLst>
          </p:cNvPr>
          <p:cNvSpPr>
            <a:spLocks xmlns:a="http://schemas.openxmlformats.org/drawingml/2006/main" noGrp="1"/>
          </p:cNvSpPr>
          <p:nvPr/>
        </p:nvSpPr>
        <p:spPr>
          <a:xfrm xmlns:a="http://schemas.openxmlformats.org/drawingml/2006/main">
            <a:off x="609600" y="1819275"/>
            <a:ext cx="26670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2100" b="1">
                <a:solidFill>
                  <a:srgbClr val="146B5F"/>
                </a:solidFill>
                <a:latin typeface="Arial"/>
                <a:ea typeface="Arial"/>
                <a:cs typeface="Arial"/>
              </a:defRPr>
            </a:defPPr>
          </a:lstStyle>
          <a:p xmlns:a="http://schemas.openxmlformats.org/drawingml/2006/main">
            <a:pPr>
              <a:defRPr sz="2100" b="1">
                <a:solidFill>
                  <a:srgbClr val="146B5F"/>
                </a:solidFill>
                <a:latin typeface="Arial"/>
                <a:ea typeface="Arial"/>
                <a:cs typeface="Arial"/>
              </a:defRPr>
            </a:pPr>
            <a:r>
              <a:rPr sz="2100" b="1">
                <a:solidFill>
                  <a:srgbClr val="146B5F"/>
                </a:solidFill>
                <a:latin typeface="Arial"/>
                <a:ea typeface="Arial"/>
                <a:cs typeface="Arial"/>
              </a:rPr>
              <a:t>Isolation</a:t>
            </a:r>
          </a:p>
        </p:txBody>
      </p:sp>
      <p:sp>
        <p:nvSpPr>
          <p:cNvPr id="3" name="text-3">
            <a:extLst xmlns:a="http://schemas.openxmlformats.org/drawingml/2006/main">
              <a:ext uri="{FF2B5EF4-FFF2-40B4-BE49-F238E27FC236}">
                <a16:creationId xmlns:a16="http://schemas.microsoft.com/office/drawing/2014/main" id="{4837F025-2977-4A4E-B5EB-F40D8576A253}"/>
              </a:ext>
            </a:extLst>
          </p:cNvPr>
          <p:cNvSpPr>
            <a:spLocks xmlns:a="http://schemas.openxmlformats.org/drawingml/2006/main" noGrp="1"/>
          </p:cNvSpPr>
          <p:nvPr/>
        </p:nvSpPr>
        <p:spPr>
          <a:xfrm xmlns:a="http://schemas.openxmlformats.org/drawingml/2006/main">
            <a:off x="3524250" y="1819275"/>
            <a:ext cx="78867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2100" b="0">
                <a:solidFill>
                  <a:srgbClr val="122632"/>
                </a:solidFill>
                <a:latin typeface="Arial"/>
                <a:ea typeface="Arial"/>
                <a:cs typeface="Arial"/>
              </a:defRPr>
            </a:defPPr>
          </a:lstStyle>
          <a:p xmlns:a="http://schemas.openxmlformats.org/drawingml/2006/main">
            <a:pPr>
              <a:defRPr sz="2100" b="0">
                <a:solidFill>
                  <a:srgbClr val="122632"/>
                </a:solidFill>
                <a:latin typeface="Arial"/>
                <a:ea typeface="Arial"/>
                <a:cs typeface="Arial"/>
              </a:defRPr>
            </a:pPr>
            <a:r>
              <a:rPr sz="2100" b="0">
                <a:solidFill>
                  <a:srgbClr val="122632"/>
                </a:solidFill>
                <a:latin typeface="Arial"/>
                <a:ea typeface="Arial"/>
                <a:cs typeface="Arial"/>
              </a:rPr>
              <a:t>Private user address spaces, preemptive scheduling and capability-checked IPC.</a:t>
            </a:r>
          </a:p>
        </p:txBody>
      </p:sp>
      <p:sp>
        <p:nvSpPr>
          <p:cNvPr id="4" name="text-4">
            <a:extLst xmlns:a="http://schemas.openxmlformats.org/drawingml/2006/main">
              <a:ext uri="{FF2B5EF4-FFF2-40B4-BE49-F238E27FC236}">
                <a16:creationId xmlns:a16="http://schemas.microsoft.com/office/drawing/2014/main" id="{82080A68-2D78-44D5-9586-05CF7812A96F}"/>
              </a:ext>
            </a:extLst>
          </p:cNvPr>
          <p:cNvSpPr>
            <a:spLocks xmlns:a="http://schemas.openxmlformats.org/drawingml/2006/main" noGrp="1"/>
          </p:cNvSpPr>
          <p:nvPr/>
        </p:nvSpPr>
        <p:spPr>
          <a:xfrm xmlns:a="http://schemas.openxmlformats.org/drawingml/2006/main">
            <a:off x="609600" y="2847975"/>
            <a:ext cx="26670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2100" b="1">
                <a:solidFill>
                  <a:srgbClr val="146B5F"/>
                </a:solidFill>
                <a:latin typeface="Arial"/>
                <a:ea typeface="Arial"/>
                <a:cs typeface="Arial"/>
              </a:defRPr>
            </a:defPPr>
          </a:lstStyle>
          <a:p xmlns:a="http://schemas.openxmlformats.org/drawingml/2006/main">
            <a:pPr>
              <a:defRPr sz="2100" b="1">
                <a:solidFill>
                  <a:srgbClr val="146B5F"/>
                </a:solidFill>
                <a:latin typeface="Arial"/>
                <a:ea typeface="Arial"/>
                <a:cs typeface="Arial"/>
              </a:defRPr>
            </a:pPr>
            <a:r>
              <a:rPr sz="2100" b="1">
                <a:solidFill>
                  <a:srgbClr val="146B5F"/>
                </a:solidFill>
                <a:latin typeface="Arial"/>
                <a:ea typeface="Arial"/>
                <a:cs typeface="Arial"/>
              </a:rPr>
              <a:t>Persistence</a:t>
            </a:r>
          </a:p>
        </p:txBody>
      </p:sp>
      <p:sp>
        <p:nvSpPr>
          <p:cNvPr id="5" name="text-5">
            <a:extLst xmlns:a="http://schemas.openxmlformats.org/drawingml/2006/main">
              <a:ext uri="{FF2B5EF4-FFF2-40B4-BE49-F238E27FC236}">
                <a16:creationId xmlns:a16="http://schemas.microsoft.com/office/drawing/2014/main" id="{D66977A2-4482-4DAA-880C-CB8541A20D83}"/>
              </a:ext>
            </a:extLst>
          </p:cNvPr>
          <p:cNvSpPr>
            <a:spLocks xmlns:a="http://schemas.openxmlformats.org/drawingml/2006/main" noGrp="1"/>
          </p:cNvSpPr>
          <p:nvPr/>
        </p:nvSpPr>
        <p:spPr>
          <a:xfrm xmlns:a="http://schemas.openxmlformats.org/drawingml/2006/main">
            <a:off x="3524250" y="2847975"/>
            <a:ext cx="78867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2100" b="0">
                <a:solidFill>
                  <a:srgbClr val="122632"/>
                </a:solidFill>
                <a:latin typeface="Arial"/>
                <a:ea typeface="Arial"/>
                <a:cs typeface="Arial"/>
              </a:defRPr>
            </a:defPPr>
          </a:lstStyle>
          <a:p xmlns:a="http://schemas.openxmlformats.org/drawingml/2006/main">
            <a:pPr>
              <a:defRPr sz="2100" b="0">
                <a:solidFill>
                  <a:srgbClr val="122632"/>
                </a:solidFill>
                <a:latin typeface="Arial"/>
                <a:ea typeface="Arial"/>
                <a:cs typeface="Arial"/>
              </a:defRPr>
            </a:pPr>
            <a:r>
              <a:rPr sz="2100" b="0">
                <a:solidFill>
                  <a:srgbClr val="122632"/>
                </a:solidFill>
                <a:latin typeface="Arial"/>
                <a:ea typeface="Arial"/>
                <a:cs typeface="Arial"/>
              </a:rPr>
              <a:t>Atomic filesystem roots, snapshots and a recovery bundle that survives reboot.</a:t>
            </a:r>
          </a:p>
        </p:txBody>
      </p:sp>
      <p:sp>
        <p:nvSpPr>
          <p:cNvPr id="6" name="text-6">
            <a:extLst xmlns:a="http://schemas.openxmlformats.org/drawingml/2006/main">
              <a:ext uri="{FF2B5EF4-FFF2-40B4-BE49-F238E27FC236}">
                <a16:creationId xmlns:a16="http://schemas.microsoft.com/office/drawing/2014/main" id="{2F64F71B-1B2D-45A6-87A5-121F105942CD}"/>
              </a:ext>
            </a:extLst>
          </p:cNvPr>
          <p:cNvSpPr>
            <a:spLocks xmlns:a="http://schemas.openxmlformats.org/drawingml/2006/main" noGrp="1"/>
          </p:cNvSpPr>
          <p:nvPr/>
        </p:nvSpPr>
        <p:spPr>
          <a:xfrm xmlns:a="http://schemas.openxmlformats.org/drawingml/2006/main">
            <a:off x="609600" y="3876675"/>
            <a:ext cx="26670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2100" b="1">
                <a:solidFill>
                  <a:srgbClr val="146B5F"/>
                </a:solidFill>
                <a:latin typeface="Arial"/>
                <a:ea typeface="Arial"/>
                <a:cs typeface="Arial"/>
              </a:defRPr>
            </a:defPPr>
          </a:lstStyle>
          <a:p xmlns:a="http://schemas.openxmlformats.org/drawingml/2006/main">
            <a:pPr>
              <a:defRPr sz="2100" b="1">
                <a:solidFill>
                  <a:srgbClr val="146B5F"/>
                </a:solidFill>
                <a:latin typeface="Arial"/>
                <a:ea typeface="Arial"/>
                <a:cs typeface="Arial"/>
              </a:defRPr>
            </a:pPr>
            <a:r>
              <a:rPr sz="2100" b="1">
                <a:solidFill>
                  <a:srgbClr val="146B5F"/>
                </a:solidFill>
                <a:latin typeface="Arial"/>
                <a:ea typeface="Arial"/>
                <a:cs typeface="Arial"/>
              </a:rPr>
              <a:t>Recovery</a:t>
            </a:r>
          </a:p>
        </p:txBody>
      </p:sp>
      <p:sp>
        <p:nvSpPr>
          <p:cNvPr id="7" name="text-7">
            <a:extLst xmlns:a="http://schemas.openxmlformats.org/drawingml/2006/main">
              <a:ext uri="{FF2B5EF4-FFF2-40B4-BE49-F238E27FC236}">
                <a16:creationId xmlns:a16="http://schemas.microsoft.com/office/drawing/2014/main" id="{D3E3B264-A09B-4946-B075-9893E7C974AE}"/>
              </a:ext>
            </a:extLst>
          </p:cNvPr>
          <p:cNvSpPr>
            <a:spLocks xmlns:a="http://schemas.openxmlformats.org/drawingml/2006/main" noGrp="1"/>
          </p:cNvSpPr>
          <p:nvPr/>
        </p:nvSpPr>
        <p:spPr>
          <a:xfrm xmlns:a="http://schemas.openxmlformats.org/drawingml/2006/main">
            <a:off x="3524250" y="3876675"/>
            <a:ext cx="78867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2100" b="0">
                <a:solidFill>
                  <a:srgbClr val="122632"/>
                </a:solidFill>
                <a:latin typeface="Arial"/>
                <a:ea typeface="Arial"/>
                <a:cs typeface="Arial"/>
              </a:defRPr>
            </a:defPPr>
          </a:lstStyle>
          <a:p xmlns:a="http://schemas.openxmlformats.org/drawingml/2006/main">
            <a:pPr>
              <a:defRPr sz="2100" b="0">
                <a:solidFill>
                  <a:srgbClr val="122632"/>
                </a:solidFill>
                <a:latin typeface="Arial"/>
                <a:ea typeface="Arial"/>
                <a:cs typeface="Arial"/>
              </a:defRPr>
            </a:pPr>
            <a:r>
              <a:rPr sz="2100" b="0">
                <a:solidFill>
                  <a:srgbClr val="122632"/>
                </a:solidFill>
                <a:latin typeface="Arial"/>
                <a:ea typeface="Arial"/>
                <a:cs typeface="Arial"/>
              </a:rPr>
              <a:t>Native COW replay and a fresh Wasm worker with matching state and effects.</a:t>
            </a:r>
          </a:p>
        </p:txBody>
      </p:sp>
      <p:sp>
        <p:nvSpPr>
          <p:cNvPr id="8" name="text-8">
            <a:extLst xmlns:a="http://schemas.openxmlformats.org/drawingml/2006/main">
              <a:ext uri="{FF2B5EF4-FFF2-40B4-BE49-F238E27FC236}">
                <a16:creationId xmlns:a16="http://schemas.microsoft.com/office/drawing/2014/main" id="{FE733B2F-2270-4B50-AE90-BE6168625977}"/>
              </a:ext>
            </a:extLst>
          </p:cNvPr>
          <p:cNvSpPr>
            <a:spLocks xmlns:a="http://schemas.openxmlformats.org/drawingml/2006/main" noGrp="1"/>
          </p:cNvSpPr>
          <p:nvPr/>
        </p:nvSpPr>
        <p:spPr>
          <a:xfrm xmlns:a="http://schemas.openxmlformats.org/drawingml/2006/main">
            <a:off x="609600" y="4905375"/>
            <a:ext cx="26670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2100" b="1">
                <a:solidFill>
                  <a:srgbClr val="146B5F"/>
                </a:solidFill>
                <a:latin typeface="Arial"/>
                <a:ea typeface="Arial"/>
                <a:cs typeface="Arial"/>
              </a:defRPr>
            </a:defPPr>
          </a:lstStyle>
          <a:p xmlns:a="http://schemas.openxmlformats.org/drawingml/2006/main">
            <a:pPr>
              <a:defRPr sz="2100" b="1">
                <a:solidFill>
                  <a:srgbClr val="146B5F"/>
                </a:solidFill>
                <a:latin typeface="Arial"/>
                <a:ea typeface="Arial"/>
                <a:cs typeface="Arial"/>
              </a:defRPr>
            </a:pPr>
            <a:r>
              <a:rPr sz="2100" b="1">
                <a:solidFill>
                  <a:srgbClr val="146B5F"/>
                </a:solidFill>
                <a:latin typeface="Arial"/>
                <a:ea typeface="Arial"/>
                <a:cs typeface="Arial"/>
              </a:rPr>
              <a:t>Authority</a:t>
            </a:r>
          </a:p>
        </p:txBody>
      </p:sp>
      <p:sp>
        <p:nvSpPr>
          <p:cNvPr id="9" name="text-9">
            <a:extLst xmlns:a="http://schemas.openxmlformats.org/drawingml/2006/main">
              <a:ext uri="{FF2B5EF4-FFF2-40B4-BE49-F238E27FC236}">
                <a16:creationId xmlns:a16="http://schemas.microsoft.com/office/drawing/2014/main" id="{31987426-D3D8-49DE-9E10-B888197A219C}"/>
              </a:ext>
            </a:extLst>
          </p:cNvPr>
          <p:cNvSpPr>
            <a:spLocks xmlns:a="http://schemas.openxmlformats.org/drawingml/2006/main" noGrp="1"/>
          </p:cNvSpPr>
          <p:nvPr/>
        </p:nvSpPr>
        <p:spPr>
          <a:xfrm xmlns:a="http://schemas.openxmlformats.org/drawingml/2006/main">
            <a:off x="3524250" y="4905375"/>
            <a:ext cx="78867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2100" b="0">
                <a:solidFill>
                  <a:srgbClr val="122632"/>
                </a:solidFill>
                <a:latin typeface="Arial"/>
                <a:ea typeface="Arial"/>
                <a:cs typeface="Arial"/>
              </a:defRPr>
            </a:defPPr>
          </a:lstStyle>
          <a:p xmlns:a="http://schemas.openxmlformats.org/drawingml/2006/main">
            <a:pPr>
              <a:defRPr sz="2100" b="0">
                <a:solidFill>
                  <a:srgbClr val="122632"/>
                </a:solidFill>
                <a:latin typeface="Arial"/>
                <a:ea typeface="Arial"/>
                <a:cs typeface="Arial"/>
              </a:defRPr>
            </a:pPr>
            <a:r>
              <a:rPr sz="2100" b="0">
                <a:solidFill>
                  <a:srgbClr val="122632"/>
                </a:solidFill>
                <a:latin typeface="Arial"/>
                <a:ea typeface="Arial"/>
                <a:cs typeface="Arial"/>
              </a:rPr>
              <a:t>A typed proposal must pass deterministic policy checks before execution.</a:t>
            </a:r>
          </a:p>
        </p:txBody>
      </p:sp>
      <p:sp>
        <p:nvSpPr>
          <p:cNvPr id="10" name="text-10">
            <a:extLst xmlns:a="http://schemas.openxmlformats.org/drawingml/2006/main">
              <a:ext uri="{FF2B5EF4-FFF2-40B4-BE49-F238E27FC236}">
                <a16:creationId xmlns:a16="http://schemas.microsoft.com/office/drawing/2014/main" id="{7CF73BE2-AE90-4769-A982-5A257C57011D}"/>
              </a:ext>
            </a:extLst>
          </p:cNvPr>
          <p:cNvSpPr>
            <a:spLocks xmlns:a="http://schemas.openxmlformats.org/drawingml/2006/main" noGrp="1"/>
          </p:cNvSpPr>
          <p:nvPr/>
        </p:nvSpPr>
        <p:spPr>
          <a:xfrm xmlns:a="http://schemas.openxmlformats.org/drawingml/2006/main">
            <a:off x="609600" y="6486525"/>
            <a:ext cx="109728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1200" b="0">
                <a:solidFill>
                  <a:srgbClr val="58656A"/>
                </a:solidFill>
                <a:latin typeface="Arial"/>
                <a:ea typeface="Arial"/>
                <a:cs typeface="Arial"/>
              </a:defRPr>
            </a:defPPr>
          </a:lstStyle>
          <a:p xmlns:a="http://schemas.openxmlformats.org/drawingml/2006/main">
            <a:pPr>
              <a:defRPr sz="1200" b="0">
                <a:solidFill>
                  <a:srgbClr val="58656A"/>
                </a:solidFill>
                <a:latin typeface="Arial"/>
                <a:ea typeface="Arial"/>
                <a:cs typeface="Arial"/>
              </a:defRPr>
            </a:pPr>
            <a:r>
              <a:rPr sz="1200" b="0">
                <a:solidFill>
                  <a:srgbClr val="58656A"/>
                </a:solidFill>
                <a:latin typeface="Arial"/>
                <a:ea typeface="Arial"/>
                <a:cs typeface="Arial"/>
              </a:rPr>
              <a:t>03 / 24     Acceptance uses executable guest scenarios and failure-oriented shared-code tests.</a:t>
            </a:r>
          </a:p>
        </p:txBody>
      </p:sp>
    </p:spTree>
    <p:extLst>
      <p:ext uri="{BB962C8B-B14F-4D97-AF65-F5344CB8AC3E}">
        <p14:creationId xmlns:p14="http://schemas.microsoft.com/office/powerpoint/2010/main" val="1921679206"/>
      </p:ext>
    </p:extLst>
  </p:cSld>
</p:sld>
</file>

<file path=ppt/slides/slide4.xml><?xml version="1.0" encoding="utf-8"?>
<p:sld xmlns:p="http://schemas.openxmlformats.org/presentationml/2006/main">
  <p:cSld>
    <p:bg>
      <p:bgPr>
        <a:solidFill xmlns:a="http://schemas.openxmlformats.org/drawingml/2006/main">
          <a:srgbClr val="F6F4EE"/>
        </a:solidFill>
      </p:bgPr>
    </p:bg>
    <p:spTree>
      <p:nvGrpSpPr>
        <p:cNvPr id="1" name=""/>
        <p:cNvGrpSpPr/>
        <p:nvPr/>
      </p:nvGrpSpPr>
      <p:grpSpPr>
        <a:xfrm xmlns:a="http://schemas.openxmlformats.org/drawingml/2006/main"/>
      </p:grpSpPr>
      <p:sp>
        <p:nvSpPr>
          <p:cNvPr id="4" name="text-1">
            <a:extLst xmlns:a="http://schemas.openxmlformats.org/drawingml/2006/main">
              <a:ext uri="{FF2B5EF4-FFF2-40B4-BE49-F238E27FC236}">
                <a16:creationId xmlns:a16="http://schemas.microsoft.com/office/drawing/2014/main" id="{4CC8B6C7-0803-4BD0-96B5-ED559CF88BEB}"/>
              </a:ext>
            </a:extLst>
          </p:cNvPr>
          <p:cNvSpPr>
            <a:spLocks xmlns:a="http://schemas.openxmlformats.org/drawingml/2006/main" noGrp="1"/>
          </p:cNvSpPr>
          <p:nvPr/>
        </p:nvSpPr>
        <p:spPr>
          <a:xfrm xmlns:a="http://schemas.openxmlformats.org/drawingml/2006/main">
            <a:off x="609600" y="514350"/>
            <a:ext cx="109728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3300" b="1">
                <a:solidFill>
                  <a:srgbClr val="122632"/>
                </a:solidFill>
                <a:latin typeface="Arial"/>
                <a:ea typeface="Arial"/>
                <a:cs typeface="Arial"/>
              </a:defRPr>
            </a:defPPr>
          </a:lstStyle>
          <a:p xmlns:a="http://schemas.openxmlformats.org/drawingml/2006/main">
            <a:pPr>
              <a:defRPr sz="3300" b="1">
                <a:solidFill>
                  <a:srgbClr val="122632"/>
                </a:solidFill>
                <a:latin typeface="Arial"/>
                <a:ea typeface="Arial"/>
                <a:cs typeface="Arial"/>
              </a:defRPr>
            </a:pPr>
            <a:r>
              <a:rPr sz="3300" b="1">
                <a:solidFill>
                  <a:srgbClr val="122632"/>
                </a:solidFill>
                <a:latin typeface="Arial"/>
                <a:ea typeface="Arial"/>
                <a:cs typeface="Arial"/>
              </a:rPr>
              <a:t>Background: kernel structure and state</a:t>
            </a:r>
          </a:p>
        </p:txBody>
      </p:sp>
      <p:graphicFrame>
        <p:nvGraphicFramePr>
          <p:cNvPr id="2" name="">
            <a:extLst xmlns:a="http://schemas.openxmlformats.org/drawingml/2006/main">
              <a:ext uri="{FF2B5EF4-FFF2-40B4-BE49-F238E27FC236}">
                <a16:creationId xmlns:a16="http://schemas.microsoft.com/office/drawing/2014/main" id="{D1F5AE29-EE4B-47CB-9AFD-15491ECE0600}"/>
              </a:ext>
            </a:extLst>
          </p:cNvPr>
          <p:cNvGraphicFramePr/>
          <p:nvPr/>
        </p:nvGraphicFramePr>
        <p:xfrm>
          <a:off xmlns:a="http://schemas.openxmlformats.org/drawingml/2006/main" x="609600" y="1685925"/>
          <a:ext xmlns:a="http://schemas.openxmlformats.org/drawingml/2006/main" cx="10972800" cy="3619500"/>
        </p:xfrm>
        <a:graphic xmlns:a="http://schemas.openxmlformats.org/drawingml/2006/main">
          <a:graphicData uri="http://schemas.openxmlformats.org/drawingml/2006/table">
            <a:tbl>
              <a:tblPr firstRow="1" bandRow="0"/>
              <a:tblGrid>
                <a:gridCol w="2619375"/>
                <a:gridCol w="4048125"/>
                <a:gridCol w="4305300"/>
              </a:tblGrid>
              <a:tr h="457200">
                <a:tc>
                  <a:txBody>
                    <a:bodyPr/>
                    <a:lstStyle/>
                    <a:p>
                      <a:r>
                        <a:rPr sz="1725" b="1">
                          <a:solidFill>
                            <a:srgbClr val="FCFCF8"/>
                          </a:solidFill>
                          <a:latin typeface="Arial"/>
                          <a:ea typeface="Arial"/>
                          <a:cs typeface="Arial"/>
                        </a:rPr>
                        <a:t>Study</a:t>
                      </a:r>
                    </a:p>
                  </a:txBody>
                  <a:tcPr marL="123825" marR="123825" marT="66675" marB="66675" anchor="ctr">
                    <a:solidFill>
                      <a:srgbClr val="122632"/>
                    </a:solidFill>
                  </a:tcPr>
                </a:tc>
                <a:tc>
                  <a:txBody>
                    <a:bodyPr/>
                    <a:lstStyle/>
                    <a:p>
                      <a:r>
                        <a:rPr sz="1725" b="1">
                          <a:solidFill>
                            <a:srgbClr val="FCFCF8"/>
                          </a:solidFill>
                          <a:latin typeface="Arial"/>
                          <a:ea typeface="Arial"/>
                          <a:cs typeface="Arial"/>
                        </a:rPr>
                        <a:t>Design lesson</a:t>
                      </a:r>
                    </a:p>
                  </a:txBody>
                  <a:tcPr marL="123825" marR="123825" marT="66675" marB="66675" anchor="ctr">
                    <a:solidFill>
                      <a:srgbClr val="122632"/>
                    </a:solidFill>
                  </a:tcPr>
                </a:tc>
                <a:tc>
                  <a:txBody>
                    <a:bodyPr/>
                    <a:lstStyle/>
                    <a:p>
                      <a:r>
                        <a:rPr sz="1725" b="1">
                          <a:solidFill>
                            <a:srgbClr val="FCFCF8"/>
                          </a:solidFill>
                          <a:latin typeface="Arial"/>
                          <a:ea typeface="Arial"/>
                          <a:cs typeface="Arial"/>
                        </a:rPr>
                        <a:t>Project boundary</a:t>
                      </a:r>
                    </a:p>
                  </a:txBody>
                  <a:tcPr marL="123825" marR="123825" marT="66675" marB="66675" anchor="ctr">
                    <a:solidFill>
                      <a:srgbClr val="122632"/>
                    </a:solidFill>
                  </a:tcPr>
                </a:tc>
              </a:tr>
              <a:tr h="1581150">
                <a:tc>
                  <a:txBody>
                    <a:bodyPr/>
                    <a:lstStyle/>
                    <a:p>
                      <a:r>
                        <a:rPr sz="1800" b="1">
                          <a:solidFill>
                            <a:srgbClr val="122632"/>
                          </a:solidFill>
                          <a:latin typeface="Arial"/>
                          <a:ea typeface="Arial"/>
                          <a:cs typeface="Arial"/>
                        </a:rPr>
                        <a:t>seL4</a:t>
                      </a:r>
                    </a:p>
                    <a:p>
                      <a:r>
                        <a:rPr sz="1800" b="1">
                          <a:solidFill>
                            <a:srgbClr val="122632"/>
                          </a:solidFill>
                          <a:latin typeface="Arial"/>
                          <a:ea typeface="Arial"/>
                          <a:cs typeface="Arial"/>
                        </a:rPr>
                        <a:t>Klein et al., 2009</a:t>
                      </a:r>
                    </a:p>
                  </a:txBody>
                  <a:tcPr marL="123825" marR="123825" marT="66675" marB="66675" anchor="ctr">
                    <a:solidFill>
                      <a:srgbClr val="F6F4EE"/>
                    </a:solidFill>
                  </a:tcPr>
                </a:tc>
                <a:tc>
                  <a:txBody>
                    <a:bodyPr/>
                    <a:lstStyle/>
                    <a:p>
                      <a:r>
                        <a:rPr sz="1800" b="0">
                          <a:solidFill>
                            <a:srgbClr val="122632"/>
                          </a:solidFill>
                          <a:latin typeface="Arial"/>
                          <a:ea typeface="Arial"/>
                          <a:cs typeface="Arial"/>
                        </a:rPr>
                        <a:t>Keep authority and kernel mechanisms explicit, with precise correctness obligations.</a:t>
                      </a:r>
                    </a:p>
                  </a:txBody>
                  <a:tcPr marL="123825" marR="123825" marT="66675" marB="66675" anchor="ctr">
                    <a:solidFill>
                      <a:srgbClr val="F6F4EE"/>
                    </a:solidFill>
                  </a:tcPr>
                </a:tc>
                <a:tc>
                  <a:txBody>
                    <a:bodyPr/>
                    <a:lstStyle/>
                    <a:p>
                      <a:r>
                        <a:rPr sz="1800" b="0">
                          <a:solidFill>
                            <a:srgbClr val="122632"/>
                          </a:solidFill>
                          <a:latin typeface="Arial"/>
                          <a:ea typeface="Arial"/>
                          <a:cs typeface="Arial"/>
                        </a:rPr>
                        <a:t>Tests and runtime checks do not inherit seL4’s formal proof.</a:t>
                      </a:r>
                    </a:p>
                  </a:txBody>
                  <a:tcPr marL="123825" marR="123825" marT="66675" marB="66675" anchor="ctr">
                    <a:solidFill>
                      <a:srgbClr val="F6F4EE"/>
                    </a:solidFill>
                  </a:tcPr>
                </a:tc>
              </a:tr>
              <a:tr h="1581150">
                <a:tc>
                  <a:txBody>
                    <a:bodyPr/>
                    <a:lstStyle/>
                    <a:p>
                      <a:r>
                        <a:rPr sz="1800" b="1">
                          <a:solidFill>
                            <a:srgbClr val="122632"/>
                          </a:solidFill>
                          <a:latin typeface="Arial"/>
                          <a:ea typeface="Arial"/>
                          <a:cs typeface="Arial"/>
                        </a:rPr>
                        <a:t>Theseus</a:t>
                      </a:r>
                    </a:p>
                    <a:p>
                      <a:r>
                        <a:rPr sz="1800" b="1">
                          <a:solidFill>
                            <a:srgbClr val="122632"/>
                          </a:solidFill>
                          <a:latin typeface="Arial"/>
                          <a:ea typeface="Arial"/>
                          <a:cs typeface="Arial"/>
                        </a:rPr>
                        <a:t>Boos et al., 2020</a:t>
                      </a:r>
                    </a:p>
                  </a:txBody>
                  <a:tcPr marL="123825" marR="123825" marT="66675" marB="66675" anchor="ctr">
                    <a:solidFill>
                      <a:srgbClr val="E9EDE7"/>
                    </a:solidFill>
                  </a:tcPr>
                </a:tc>
                <a:tc>
                  <a:txBody>
                    <a:bodyPr/>
                    <a:lstStyle/>
                    <a:p>
                      <a:r>
                        <a:rPr sz="1800" b="0">
                          <a:solidFill>
                            <a:srgbClr val="122632"/>
                          </a:solidFill>
                          <a:latin typeface="Arial"/>
                          <a:ea typeface="Arial"/>
                          <a:cs typeface="Arial"/>
                        </a:rPr>
                        <a:t>State ownership and component boundaries influence recovery.</a:t>
                      </a:r>
                    </a:p>
                  </a:txBody>
                  <a:tcPr marL="123825" marR="123825" marT="66675" marB="66675" anchor="ctr">
                    <a:solidFill>
                      <a:srgbClr val="E9EDE7"/>
                    </a:solidFill>
                  </a:tcPr>
                </a:tc>
                <a:tc>
                  <a:txBody>
                    <a:bodyPr/>
                    <a:lstStyle/>
                    <a:p>
                      <a:r>
                        <a:rPr sz="1800" b="0">
                          <a:solidFill>
                            <a:srgbClr val="122632"/>
                          </a:solidFill>
                          <a:latin typeface="Arial"/>
                          <a:ea typeface="Arial"/>
                          <a:cs typeface="Arial"/>
                        </a:rPr>
                        <a:t>Native services are isolated, but filesystem and runtime management still share init.</a:t>
                      </a:r>
                    </a:p>
                  </a:txBody>
                  <a:tcPr marL="123825" marR="123825" marT="66675" marB="66675" anchor="ctr">
                    <a:solidFill>
                      <a:srgbClr val="E9EDE7"/>
                    </a:solidFill>
                  </a:tcPr>
                </a:tc>
              </a:tr>
            </a:tbl>
          </a:graphicData>
        </a:graphic>
      </p:graphicFrame>
      <p:sp>
        <p:nvSpPr>
          <p:cNvPr id="3" name="text-2">
            <a:extLst xmlns:a="http://schemas.openxmlformats.org/drawingml/2006/main">
              <a:ext uri="{FF2B5EF4-FFF2-40B4-BE49-F238E27FC236}">
                <a16:creationId xmlns:a16="http://schemas.microsoft.com/office/drawing/2014/main" id="{D490DA85-D76F-469D-A56A-DBCC180ADAD7}"/>
              </a:ext>
            </a:extLst>
          </p:cNvPr>
          <p:cNvSpPr>
            <a:spLocks xmlns:a="http://schemas.openxmlformats.org/drawingml/2006/main" noGrp="1"/>
          </p:cNvSpPr>
          <p:nvPr/>
        </p:nvSpPr>
        <p:spPr>
          <a:xfrm xmlns:a="http://schemas.openxmlformats.org/drawingml/2006/main">
            <a:off x="609600" y="6486525"/>
            <a:ext cx="109728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1200" b="0">
                <a:solidFill>
                  <a:srgbClr val="58656A"/>
                </a:solidFill>
                <a:latin typeface="Arial"/>
                <a:ea typeface="Arial"/>
                <a:cs typeface="Arial"/>
              </a:defRPr>
            </a:defPPr>
          </a:lstStyle>
          <a:p xmlns:a="http://schemas.openxmlformats.org/drawingml/2006/main">
            <a:pPr>
              <a:defRPr sz="1200" b="0">
                <a:solidFill>
                  <a:srgbClr val="58656A"/>
                </a:solidFill>
                <a:latin typeface="Arial"/>
                <a:ea typeface="Arial"/>
                <a:cs typeface="Arial"/>
              </a:defRPr>
            </a:pPr>
            <a:r>
              <a:rPr sz="1200" b="0">
                <a:solidFill>
                  <a:srgbClr val="58656A"/>
                </a:solidFill>
                <a:latin typeface="Arial"/>
                <a:ea typeface="Arial"/>
                <a:cs typeface="Arial"/>
              </a:rPr>
              <a:t>04 / 24     Primary papers inform the design. MnemosyneOS uses its own kernel implementation.</a:t>
            </a:r>
          </a:p>
        </p:txBody>
      </p:sp>
    </p:spTree>
    <p:extLst>
      <p:ext uri="{BB962C8B-B14F-4D97-AF65-F5344CB8AC3E}">
        <p14:creationId xmlns:p14="http://schemas.microsoft.com/office/powerpoint/2010/main" val="900992590"/>
      </p:ext>
    </p:extLst>
  </p:cSld>
</p:sld>
</file>

<file path=ppt/slides/slide5.xml><?xml version="1.0" encoding="utf-8"?>
<p:sld xmlns:p="http://schemas.openxmlformats.org/presentationml/2006/main">
  <p:cSld>
    <p:bg>
      <p:bgPr>
        <a:solidFill xmlns:a="http://schemas.openxmlformats.org/drawingml/2006/main">
          <a:srgbClr val="F6F4EE"/>
        </a:solidFill>
      </p:bgPr>
    </p:bg>
    <p:spTree>
      <p:nvGrpSpPr>
        <p:cNvPr id="1" name=""/>
        <p:cNvGrpSpPr/>
        <p:nvPr/>
      </p:nvGrpSpPr>
      <p:grpSpPr>
        <a:xfrm xmlns:a="http://schemas.openxmlformats.org/drawingml/2006/main"/>
      </p:grpSpPr>
      <p:sp>
        <p:nvSpPr>
          <p:cNvPr id="4" name="text-1">
            <a:extLst xmlns:a="http://schemas.openxmlformats.org/drawingml/2006/main">
              <a:ext uri="{FF2B5EF4-FFF2-40B4-BE49-F238E27FC236}">
                <a16:creationId xmlns:a16="http://schemas.microsoft.com/office/drawing/2014/main" id="{88D0B05D-1DE4-4868-A471-3657B5937DFA}"/>
              </a:ext>
            </a:extLst>
          </p:cNvPr>
          <p:cNvSpPr>
            <a:spLocks xmlns:a="http://schemas.openxmlformats.org/drawingml/2006/main" noGrp="1"/>
          </p:cNvSpPr>
          <p:nvPr/>
        </p:nvSpPr>
        <p:spPr>
          <a:xfrm xmlns:a="http://schemas.openxmlformats.org/drawingml/2006/main">
            <a:off x="609600" y="514350"/>
            <a:ext cx="109728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3300" b="1">
                <a:solidFill>
                  <a:srgbClr val="122632"/>
                </a:solidFill>
                <a:latin typeface="Arial"/>
                <a:ea typeface="Arial"/>
                <a:cs typeface="Arial"/>
              </a:defRPr>
            </a:defPPr>
          </a:lstStyle>
          <a:p xmlns:a="http://schemas.openxmlformats.org/drawingml/2006/main">
            <a:pPr>
              <a:defRPr sz="3300" b="1">
                <a:solidFill>
                  <a:srgbClr val="122632"/>
                </a:solidFill>
                <a:latin typeface="Arial"/>
                <a:ea typeface="Arial"/>
                <a:cs typeface="Arial"/>
              </a:defRPr>
            </a:pPr>
            <a:r>
              <a:rPr sz="3300" b="1">
                <a:solidFill>
                  <a:srgbClr val="122632"/>
                </a:solidFill>
                <a:latin typeface="Arial"/>
                <a:ea typeface="Arial"/>
                <a:cs typeface="Arial"/>
              </a:rPr>
              <a:t>Background: recovery and verification</a:t>
            </a:r>
          </a:p>
        </p:txBody>
      </p:sp>
      <p:graphicFrame>
        <p:nvGraphicFramePr>
          <p:cNvPr id="2" name="">
            <a:extLst xmlns:a="http://schemas.openxmlformats.org/drawingml/2006/main">
              <a:ext uri="{FF2B5EF4-FFF2-40B4-BE49-F238E27FC236}">
                <a16:creationId xmlns:a16="http://schemas.microsoft.com/office/drawing/2014/main" id="{2F6D59A7-40F2-4EDF-AB25-F844714F109D}"/>
              </a:ext>
            </a:extLst>
          </p:cNvPr>
          <p:cNvGraphicFramePr/>
          <p:nvPr/>
        </p:nvGraphicFramePr>
        <p:xfrm>
          <a:off xmlns:a="http://schemas.openxmlformats.org/drawingml/2006/main" x="609600" y="1685925"/>
          <a:ext xmlns:a="http://schemas.openxmlformats.org/drawingml/2006/main" cx="10972800" cy="4086225"/>
        </p:xfrm>
        <a:graphic xmlns:a="http://schemas.openxmlformats.org/drawingml/2006/main">
          <a:graphicData uri="http://schemas.openxmlformats.org/drawingml/2006/table">
            <a:tbl>
              <a:tblPr firstRow="1" bandRow="0"/>
              <a:tblGrid>
                <a:gridCol w="2619375"/>
                <a:gridCol w="4048125"/>
                <a:gridCol w="4305300"/>
              </a:tblGrid>
              <a:tr h="457200">
                <a:tc>
                  <a:txBody>
                    <a:bodyPr/>
                    <a:lstStyle/>
                    <a:p>
                      <a:r>
                        <a:rPr sz="1725" b="1">
                          <a:solidFill>
                            <a:srgbClr val="FCFCF8"/>
                          </a:solidFill>
                          <a:latin typeface="Arial"/>
                          <a:ea typeface="Arial"/>
                          <a:cs typeface="Arial"/>
                        </a:rPr>
                        <a:t>Study</a:t>
                      </a:r>
                    </a:p>
                  </a:txBody>
                  <a:tcPr marL="123825" marR="123825" marT="66675" marB="66675" anchor="ctr">
                    <a:solidFill>
                      <a:srgbClr val="122632"/>
                    </a:solidFill>
                  </a:tcPr>
                </a:tc>
                <a:tc>
                  <a:txBody>
                    <a:bodyPr/>
                    <a:lstStyle/>
                    <a:p>
                      <a:r>
                        <a:rPr sz="1725" b="1">
                          <a:solidFill>
                            <a:srgbClr val="FCFCF8"/>
                          </a:solidFill>
                          <a:latin typeface="Arial"/>
                          <a:ea typeface="Arial"/>
                          <a:cs typeface="Arial"/>
                        </a:rPr>
                        <a:t>Design lesson</a:t>
                      </a:r>
                    </a:p>
                  </a:txBody>
                  <a:tcPr marL="123825" marR="123825" marT="66675" marB="66675" anchor="ctr">
                    <a:solidFill>
                      <a:srgbClr val="122632"/>
                    </a:solidFill>
                  </a:tcPr>
                </a:tc>
                <a:tc>
                  <a:txBody>
                    <a:bodyPr/>
                    <a:lstStyle/>
                    <a:p>
                      <a:r>
                        <a:rPr sz="1725" b="1">
                          <a:solidFill>
                            <a:srgbClr val="FCFCF8"/>
                          </a:solidFill>
                          <a:latin typeface="Arial"/>
                          <a:ea typeface="Arial"/>
                          <a:cs typeface="Arial"/>
                        </a:rPr>
                        <a:t>Current application</a:t>
                      </a:r>
                    </a:p>
                  </a:txBody>
                  <a:tcPr marL="123825" marR="123825" marT="66675" marB="66675" anchor="ctr">
                    <a:solidFill>
                      <a:srgbClr val="122632"/>
                    </a:solidFill>
                  </a:tcPr>
                </a:tc>
              </a:tr>
              <a:tr h="1209675">
                <a:tc>
                  <a:txBody>
                    <a:bodyPr/>
                    <a:lstStyle/>
                    <a:p>
                      <a:r>
                        <a:rPr sz="1800" b="1">
                          <a:solidFill>
                            <a:srgbClr val="122632"/>
                          </a:solidFill>
                          <a:latin typeface="Arial"/>
                          <a:ea typeface="Arial"/>
                          <a:cs typeface="Arial"/>
                        </a:rPr>
                        <a:t>RIFL</a:t>
                      </a:r>
                    </a:p>
                    <a:p>
                      <a:r>
                        <a:rPr sz="1800" b="1">
                          <a:solidFill>
                            <a:srgbClr val="122632"/>
                          </a:solidFill>
                          <a:latin typeface="Arial"/>
                          <a:ea typeface="Arial"/>
                          <a:cs typeface="Arial"/>
                        </a:rPr>
                        <a:t>Lee et al., 2015</a:t>
                      </a:r>
                    </a:p>
                  </a:txBody>
                  <a:tcPr marL="123825" marR="123825" marT="66675" marB="66675" anchor="ctr">
                    <a:solidFill>
                      <a:srgbClr val="F6F4EE"/>
                    </a:solidFill>
                  </a:tcPr>
                </a:tc>
                <a:tc>
                  <a:txBody>
                    <a:bodyPr/>
                    <a:lstStyle/>
                    <a:p>
                      <a:r>
                        <a:rPr sz="1800" b="0">
                          <a:solidFill>
                            <a:srgbClr val="122632"/>
                          </a:solidFill>
                          <a:latin typeface="Arial"/>
                          <a:ea typeface="Arial"/>
                          <a:cs typeface="Arial"/>
                        </a:rPr>
                        <a:t>Retries need operation identity and durable completion handling.</a:t>
                      </a:r>
                    </a:p>
                  </a:txBody>
                  <a:tcPr marL="123825" marR="123825" marT="66675" marB="66675" anchor="ctr">
                    <a:solidFill>
                      <a:srgbClr val="F6F4EE"/>
                    </a:solidFill>
                  </a:tcPr>
                </a:tc>
                <a:tc>
                  <a:txBody>
                    <a:bodyPr/>
                    <a:lstStyle/>
                    <a:p>
                      <a:r>
                        <a:rPr sz="1800" b="0">
                          <a:solidFill>
                            <a:srgbClr val="122632"/>
                          </a:solidFill>
                          <a:latin typeface="Arial"/>
                          <a:ea typeface="Arial"/>
                          <a:cs typeface="Arial"/>
                        </a:rPr>
                        <a:t>External exactly-once effects remain outside the prototype.</a:t>
                      </a:r>
                    </a:p>
                  </a:txBody>
                  <a:tcPr marL="123825" marR="123825" marT="66675" marB="66675" anchor="ctr">
                    <a:solidFill>
                      <a:srgbClr val="F6F4EE"/>
                    </a:solidFill>
                  </a:tcPr>
                </a:tc>
              </a:tr>
              <a:tr h="1209675">
                <a:tc>
                  <a:txBody>
                    <a:bodyPr/>
                    <a:lstStyle/>
                    <a:p>
                      <a:r>
                        <a:rPr sz="1800" b="1">
                          <a:solidFill>
                            <a:srgbClr val="122632"/>
                          </a:solidFill>
                          <a:latin typeface="Arial"/>
                          <a:ea typeface="Arial"/>
                          <a:cs typeface="Arial"/>
                        </a:rPr>
                        <a:t>CrashMonkey / B3</a:t>
                      </a:r>
                    </a:p>
                    <a:p>
                      <a:r>
                        <a:rPr sz="1800" b="1">
                          <a:solidFill>
                            <a:srgbClr val="122632"/>
                          </a:solidFill>
                          <a:latin typeface="Arial"/>
                          <a:ea typeface="Arial"/>
                          <a:cs typeface="Arial"/>
                        </a:rPr>
                        <a:t>Mohan et al., 2018</a:t>
                      </a:r>
                    </a:p>
                  </a:txBody>
                  <a:tcPr marL="123825" marR="123825" marT="66675" marB="66675" anchor="ctr">
                    <a:solidFill>
                      <a:srgbClr val="E9EDE7"/>
                    </a:solidFill>
                  </a:tcPr>
                </a:tc>
                <a:tc>
                  <a:txBody>
                    <a:bodyPr/>
                    <a:lstStyle/>
                    <a:p>
                      <a:r>
                        <a:rPr sz="1800" b="0">
                          <a:solidFill>
                            <a:srgbClr val="122632"/>
                          </a:solidFill>
                          <a:latin typeface="Arial"/>
                          <a:ea typeface="Arial"/>
                          <a:cs typeface="Arial"/>
                        </a:rPr>
                        <a:t>Bound failure cases and inspect recovered persistent state.</a:t>
                      </a:r>
                    </a:p>
                  </a:txBody>
                  <a:tcPr marL="123825" marR="123825" marT="66675" marB="66675" anchor="ctr">
                    <a:solidFill>
                      <a:srgbClr val="E9EDE7"/>
                    </a:solidFill>
                  </a:tcPr>
                </a:tc>
                <a:tc>
                  <a:txBody>
                    <a:bodyPr/>
                    <a:lstStyle/>
                    <a:p>
                      <a:r>
                        <a:rPr sz="1800" b="0">
                          <a:solidFill>
                            <a:srgbClr val="122632"/>
                          </a:solidFill>
                          <a:latin typeface="Arial"/>
                          <a:ea typeface="Arial"/>
                          <a:cs typeface="Arial"/>
                        </a:rPr>
                        <a:t>Interrupt commit operations and corrupt stored roots in tests.</a:t>
                      </a:r>
                    </a:p>
                  </a:txBody>
                  <a:tcPr marL="123825" marR="123825" marT="66675" marB="66675" anchor="ctr">
                    <a:solidFill>
                      <a:srgbClr val="E9EDE7"/>
                    </a:solidFill>
                  </a:tcPr>
                </a:tc>
              </a:tr>
              <a:tr h="1209675">
                <a:tc>
                  <a:txBody>
                    <a:bodyPr/>
                    <a:lstStyle/>
                    <a:p>
                      <a:r>
                        <a:rPr sz="1800" b="1">
                          <a:solidFill>
                            <a:srgbClr val="122632"/>
                          </a:solidFill>
                          <a:latin typeface="Arial"/>
                          <a:ea typeface="Arial"/>
                          <a:cs typeface="Arial"/>
                        </a:rPr>
                        <a:t>LLM-Modulo</a:t>
                      </a:r>
                    </a:p>
                    <a:p>
                      <a:r>
                        <a:rPr sz="1800" b="1">
                          <a:solidFill>
                            <a:srgbClr val="122632"/>
                          </a:solidFill>
                          <a:latin typeface="Arial"/>
                          <a:ea typeface="Arial"/>
                          <a:cs typeface="Arial"/>
                        </a:rPr>
                        <a:t>Gundawar et al., 2024</a:t>
                      </a:r>
                    </a:p>
                  </a:txBody>
                  <a:tcPr marL="123825" marR="123825" marT="66675" marB="66675" anchor="ctr">
                    <a:solidFill>
                      <a:srgbClr val="F6F4EE"/>
                    </a:solidFill>
                  </a:tcPr>
                </a:tc>
                <a:tc>
                  <a:txBody>
                    <a:bodyPr/>
                    <a:lstStyle/>
                    <a:p>
                      <a:r>
                        <a:rPr sz="1800" b="0">
                          <a:solidFill>
                            <a:srgbClr val="122632"/>
                          </a:solidFill>
                          <a:latin typeface="Arial"/>
                          <a:ea typeface="Arial"/>
                          <a:cs typeface="Arial"/>
                        </a:rPr>
                        <a:t>Separate proposal generation from external validity checks.</a:t>
                      </a:r>
                    </a:p>
                  </a:txBody>
                  <a:tcPr marL="123825" marR="123825" marT="66675" marB="66675" anchor="ctr">
                    <a:solidFill>
                      <a:srgbClr val="F6F4EE"/>
                    </a:solidFill>
                  </a:tcPr>
                </a:tc>
                <a:tc>
                  <a:txBody>
                    <a:bodyPr/>
                    <a:lstStyle/>
                    <a:p>
                      <a:r>
                        <a:rPr sz="1800" b="0">
                          <a:solidFill>
                            <a:srgbClr val="122632"/>
                          </a:solidFill>
                          <a:latin typeface="Arial"/>
                          <a:ea typeface="Arial"/>
                          <a:cs typeface="Arial"/>
                        </a:rPr>
                        <a:t>The model proposes. Trusted code checks a narrow recovery action.</a:t>
                      </a:r>
                    </a:p>
                  </a:txBody>
                  <a:tcPr marL="123825" marR="123825" marT="66675" marB="66675" anchor="ctr">
                    <a:solidFill>
                      <a:srgbClr val="F6F4EE"/>
                    </a:solidFill>
                  </a:tcPr>
                </a:tc>
              </a:tr>
            </a:tbl>
          </a:graphicData>
        </a:graphic>
      </p:graphicFrame>
      <p:sp>
        <p:nvSpPr>
          <p:cNvPr id="3" name="text-2">
            <a:extLst xmlns:a="http://schemas.openxmlformats.org/drawingml/2006/main">
              <a:ext uri="{FF2B5EF4-FFF2-40B4-BE49-F238E27FC236}">
                <a16:creationId xmlns:a16="http://schemas.microsoft.com/office/drawing/2014/main" id="{1FA17193-A7CB-4B74-BAA3-F34189E56F26}"/>
              </a:ext>
            </a:extLst>
          </p:cNvPr>
          <p:cNvSpPr>
            <a:spLocks xmlns:a="http://schemas.openxmlformats.org/drawingml/2006/main" noGrp="1"/>
          </p:cNvSpPr>
          <p:nvPr/>
        </p:nvSpPr>
        <p:spPr>
          <a:xfrm xmlns:a="http://schemas.openxmlformats.org/drawingml/2006/main">
            <a:off x="609600" y="6486525"/>
            <a:ext cx="109728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1200" b="0">
                <a:solidFill>
                  <a:srgbClr val="58656A"/>
                </a:solidFill>
                <a:latin typeface="Arial"/>
                <a:ea typeface="Arial"/>
                <a:cs typeface="Arial"/>
              </a:defRPr>
            </a:defPPr>
          </a:lstStyle>
          <a:p xmlns:a="http://schemas.openxmlformats.org/drawingml/2006/main">
            <a:pPr>
              <a:defRPr sz="1200" b="0">
                <a:solidFill>
                  <a:srgbClr val="58656A"/>
                </a:solidFill>
                <a:latin typeface="Arial"/>
                <a:ea typeface="Arial"/>
                <a:cs typeface="Arial"/>
              </a:defRPr>
            </a:pPr>
            <a:r>
              <a:rPr sz="1200" b="0">
                <a:solidFill>
                  <a:srgbClr val="58656A"/>
                </a:solidFill>
                <a:latin typeface="Arial"/>
                <a:ea typeface="Arial"/>
                <a:cs typeface="Arial"/>
              </a:rPr>
              <a:t>05 / 24     These are design implications, not claims of reproduced paper evaluations.</a:t>
            </a:r>
          </a:p>
        </p:txBody>
      </p:sp>
    </p:spTree>
    <p:extLst>
      <p:ext uri="{BB962C8B-B14F-4D97-AF65-F5344CB8AC3E}">
        <p14:creationId xmlns:p14="http://schemas.microsoft.com/office/powerpoint/2010/main" val="1703240772"/>
      </p:ext>
    </p:extLst>
  </p:cSld>
</p:sld>
</file>

<file path=ppt/slides/slide6.xml><?xml version="1.0" encoding="utf-8"?>
<p:sld xmlns:p="http://schemas.openxmlformats.org/presentationml/2006/main">
  <p:cSld>
    <p:bg>
      <p:bgPr>
        <a:solidFill xmlns:a="http://schemas.openxmlformats.org/drawingml/2006/main">
          <a:srgbClr val="F6F4EE"/>
        </a:solidFill>
      </p:bgPr>
    </p:bg>
    <p:spTree>
      <p:nvGrpSpPr>
        <p:cNvPr id="1" name=""/>
        <p:cNvGrpSpPr/>
        <p:nvPr/>
      </p:nvGrpSpPr>
      <p:grpSpPr>
        <a:xfrm xmlns:a="http://schemas.openxmlformats.org/drawingml/2006/main"/>
      </p:grpSpPr>
      <p:sp>
        <p:nvSpPr>
          <p:cNvPr id="4" name="text-1">
            <a:extLst xmlns:a="http://schemas.openxmlformats.org/drawingml/2006/main">
              <a:ext uri="{FF2B5EF4-FFF2-40B4-BE49-F238E27FC236}">
                <a16:creationId xmlns:a16="http://schemas.microsoft.com/office/drawing/2014/main" id="{D6C06C59-A32B-43B3-8FDC-3CE3A36D078A}"/>
              </a:ext>
            </a:extLst>
          </p:cNvPr>
          <p:cNvSpPr>
            <a:spLocks xmlns:a="http://schemas.openxmlformats.org/drawingml/2006/main" noGrp="1"/>
          </p:cNvSpPr>
          <p:nvPr/>
        </p:nvSpPr>
        <p:spPr>
          <a:xfrm xmlns:a="http://schemas.openxmlformats.org/drawingml/2006/main">
            <a:off x="609600" y="514350"/>
            <a:ext cx="109728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3300" b="1">
                <a:solidFill>
                  <a:srgbClr val="122632"/>
                </a:solidFill>
                <a:latin typeface="Arial"/>
                <a:ea typeface="Arial"/>
                <a:cs typeface="Arial"/>
              </a:defRPr>
            </a:defPPr>
          </a:lstStyle>
          <a:p xmlns:a="http://schemas.openxmlformats.org/drawingml/2006/main">
            <a:pPr>
              <a:defRPr sz="3300" b="1">
                <a:solidFill>
                  <a:srgbClr val="122632"/>
                </a:solidFill>
                <a:latin typeface="Arial"/>
                <a:ea typeface="Arial"/>
                <a:cs typeface="Arial"/>
              </a:defRPr>
            </a:pPr>
            <a:r>
              <a:rPr sz="3300" b="1">
                <a:solidFill>
                  <a:srgbClr val="122632"/>
                </a:solidFill>
                <a:latin typeface="Arial"/>
                <a:ea typeface="Arial"/>
                <a:cs typeface="Arial"/>
              </a:rPr>
              <a:t>Reuse and project contribution</a:t>
            </a:r>
          </a:p>
        </p:txBody>
      </p:sp>
      <p:graphicFrame>
        <p:nvGraphicFramePr>
          <p:cNvPr id="2" name="">
            <a:extLst xmlns:a="http://schemas.openxmlformats.org/drawingml/2006/main">
              <a:ext uri="{FF2B5EF4-FFF2-40B4-BE49-F238E27FC236}">
                <a16:creationId xmlns:a16="http://schemas.microsoft.com/office/drawing/2014/main" id="{89BDDECD-8191-46F8-A535-53E99592ADDF}"/>
              </a:ext>
            </a:extLst>
          </p:cNvPr>
          <p:cNvGraphicFramePr/>
          <p:nvPr/>
        </p:nvGraphicFramePr>
        <p:xfrm>
          <a:off xmlns:a="http://schemas.openxmlformats.org/drawingml/2006/main" x="609600" y="1685925"/>
          <a:ext xmlns:a="http://schemas.openxmlformats.org/drawingml/2006/main" cx="10972800" cy="3924300"/>
        </p:xfrm>
        <a:graphic xmlns:a="http://schemas.openxmlformats.org/drawingml/2006/main">
          <a:graphicData uri="http://schemas.openxmlformats.org/drawingml/2006/table">
            <a:tbl>
              <a:tblPr firstRow="1" bandRow="0"/>
              <a:tblGrid>
                <a:gridCol w="2952750"/>
                <a:gridCol w="3762375"/>
                <a:gridCol w="4257675"/>
              </a:tblGrid>
              <a:tr h="457200">
                <a:tc>
                  <a:txBody>
                    <a:bodyPr/>
                    <a:lstStyle/>
                    <a:p>
                      <a:r>
                        <a:rPr sz="1725" b="1">
                          <a:solidFill>
                            <a:srgbClr val="FCFCF8"/>
                          </a:solidFill>
                          <a:latin typeface="Arial"/>
                          <a:ea typeface="Arial"/>
                          <a:cs typeface="Arial"/>
                        </a:rPr>
                        <a:t>Upstream component</a:t>
                      </a:r>
                    </a:p>
                  </a:txBody>
                  <a:tcPr marL="123825" marR="123825" marT="66675" marB="66675" anchor="ctr">
                    <a:solidFill>
                      <a:srgbClr val="122632"/>
                    </a:solidFill>
                  </a:tcPr>
                </a:tc>
                <a:tc>
                  <a:txBody>
                    <a:bodyPr/>
                    <a:lstStyle/>
                    <a:p>
                      <a:r>
                        <a:rPr sz="1725" b="1">
                          <a:solidFill>
                            <a:srgbClr val="FCFCF8"/>
                          </a:solidFill>
                          <a:latin typeface="Arial"/>
                          <a:ea typeface="Arial"/>
                          <a:cs typeface="Arial"/>
                        </a:rPr>
                        <a:t>Reused implementation</a:t>
                      </a:r>
                    </a:p>
                  </a:txBody>
                  <a:tcPr marL="123825" marR="123825" marT="66675" marB="66675" anchor="ctr">
                    <a:solidFill>
                      <a:srgbClr val="122632"/>
                    </a:solidFill>
                  </a:tcPr>
                </a:tc>
                <a:tc>
                  <a:txBody>
                    <a:bodyPr/>
                    <a:lstStyle/>
                    <a:p>
                      <a:r>
                        <a:rPr sz="1725" b="1">
                          <a:solidFill>
                            <a:srgbClr val="FCFCF8"/>
                          </a:solidFill>
                          <a:latin typeface="Arial"/>
                          <a:ea typeface="Arial"/>
                          <a:cs typeface="Arial"/>
                        </a:rPr>
                        <a:t>Project integration</a:t>
                      </a:r>
                    </a:p>
                  </a:txBody>
                  <a:tcPr marL="123825" marR="123825" marT="66675" marB="66675" anchor="ctr">
                    <a:solidFill>
                      <a:srgbClr val="122632"/>
                    </a:solidFill>
                  </a:tcPr>
                </a:tc>
              </a:tr>
              <a:tr h="866775">
                <a:tc>
                  <a:txBody>
                    <a:bodyPr/>
                    <a:lstStyle/>
                    <a:p>
                      <a:r>
                        <a:rPr sz="1800" b="1">
                          <a:solidFill>
                            <a:srgbClr val="122632"/>
                          </a:solidFill>
                          <a:latin typeface="Arial"/>
                          <a:ea typeface="Arial"/>
                          <a:cs typeface="Arial"/>
                        </a:rPr>
                        <a:t>Limine</a:t>
                      </a:r>
                    </a:p>
                  </a:txBody>
                  <a:tcPr marL="123825" marR="123825" marT="66675" marB="66675" anchor="ctr">
                    <a:solidFill>
                      <a:srgbClr val="F6F4EE"/>
                    </a:solidFill>
                  </a:tcPr>
                </a:tc>
                <a:tc>
                  <a:txBody>
                    <a:bodyPr/>
                    <a:lstStyle/>
                    <a:p>
                      <a:r>
                        <a:rPr sz="1800" b="0">
                          <a:solidFill>
                            <a:srgbClr val="122632"/>
                          </a:solidFill>
                          <a:latin typeface="Arial"/>
                          <a:ea typeface="Arial"/>
                          <a:cs typeface="Arial"/>
                        </a:rPr>
                        <a:t>Boot protocol and bootloader</a:t>
                      </a:r>
                    </a:p>
                  </a:txBody>
                  <a:tcPr marL="123825" marR="123825" marT="66675" marB="66675" anchor="ctr">
                    <a:solidFill>
                      <a:srgbClr val="F6F4EE"/>
                    </a:solidFill>
                  </a:tcPr>
                </a:tc>
                <a:tc>
                  <a:txBody>
                    <a:bodyPr/>
                    <a:lstStyle/>
                    <a:p>
                      <a:r>
                        <a:rPr sz="1800" b="0">
                          <a:solidFill>
                            <a:srgbClr val="122632"/>
                          </a:solidFill>
                          <a:latin typeface="Arial"/>
                          <a:ea typeface="Arial"/>
                          <a:cs typeface="Arial"/>
                        </a:rPr>
                        <a:t>Kernel startup and physical memory setup</a:t>
                      </a:r>
                    </a:p>
                  </a:txBody>
                  <a:tcPr marL="123825" marR="123825" marT="66675" marB="66675" anchor="ctr">
                    <a:solidFill>
                      <a:srgbClr val="F6F4EE"/>
                    </a:solidFill>
                  </a:tcPr>
                </a:tc>
              </a:tr>
              <a:tr h="866775">
                <a:tc>
                  <a:txBody>
                    <a:bodyPr/>
                    <a:lstStyle/>
                    <a:p>
                      <a:r>
                        <a:rPr sz="1800" b="1">
                          <a:solidFill>
                            <a:srgbClr val="122632"/>
                          </a:solidFill>
                          <a:latin typeface="Arial"/>
                          <a:ea typeface="Arial"/>
                          <a:cs typeface="Arial"/>
                        </a:rPr>
                        <a:t>Rust OSDev crates</a:t>
                      </a:r>
                    </a:p>
                  </a:txBody>
                  <a:tcPr marL="123825" marR="123825" marT="66675" marB="66675" anchor="ctr">
                    <a:solidFill>
                      <a:srgbClr val="E9EDE7"/>
                    </a:solidFill>
                  </a:tcPr>
                </a:tc>
                <a:tc>
                  <a:txBody>
                    <a:bodyPr/>
                    <a:lstStyle/>
                    <a:p>
                      <a:r>
                        <a:rPr sz="1800" b="0">
                          <a:solidFill>
                            <a:srgbClr val="122632"/>
                          </a:solidFill>
                          <a:latin typeface="Arial"/>
                          <a:ea typeface="Arial"/>
                          <a:cs typeface="Arial"/>
                        </a:rPr>
                        <a:t>CPU tables, serial, PIC and heaps</a:t>
                      </a:r>
                    </a:p>
                  </a:txBody>
                  <a:tcPr marL="123825" marR="123825" marT="66675" marB="66675" anchor="ctr">
                    <a:solidFill>
                      <a:srgbClr val="E9EDE7"/>
                    </a:solidFill>
                  </a:tcPr>
                </a:tc>
                <a:tc>
                  <a:txBody>
                    <a:bodyPr/>
                    <a:lstStyle/>
                    <a:p>
                      <a:r>
                        <a:rPr sz="1800" b="0">
                          <a:solidFill>
                            <a:srgbClr val="122632"/>
                          </a:solidFill>
                          <a:latin typeface="Arial"/>
                          <a:ea typeface="Arial"/>
                          <a:cs typeface="Arial"/>
                        </a:rPr>
                        <a:t>Page mappings, trap ABI and task scheduling</a:t>
                      </a:r>
                    </a:p>
                  </a:txBody>
                  <a:tcPr marL="123825" marR="123825" marT="66675" marB="66675" anchor="ctr">
                    <a:solidFill>
                      <a:srgbClr val="E9EDE7"/>
                    </a:solidFill>
                  </a:tcPr>
                </a:tc>
              </a:tr>
              <a:tr h="866775">
                <a:tc>
                  <a:txBody>
                    <a:bodyPr/>
                    <a:lstStyle/>
                    <a:p>
                      <a:r>
                        <a:rPr sz="1800" b="1">
                          <a:solidFill>
                            <a:srgbClr val="122632"/>
                          </a:solidFill>
                          <a:latin typeface="Arial"/>
                          <a:ea typeface="Arial"/>
                          <a:cs typeface="Arial"/>
                        </a:rPr>
                        <a:t>Wasmi 2.0.0</a:t>
                      </a:r>
                    </a:p>
                  </a:txBody>
                  <a:tcPr marL="123825" marR="123825" marT="66675" marB="66675" anchor="ctr">
                    <a:solidFill>
                      <a:srgbClr val="F6F4EE"/>
                    </a:solidFill>
                  </a:tcPr>
                </a:tc>
                <a:tc>
                  <a:txBody>
                    <a:bodyPr/>
                    <a:lstStyle/>
                    <a:p>
                      <a:r>
                        <a:rPr sz="1800" b="0">
                          <a:solidFill>
                            <a:srgbClr val="122632"/>
                          </a:solidFill>
                          <a:latin typeface="Arial"/>
                          <a:ea typeface="Arial"/>
                          <a:cs typeface="Arial"/>
                        </a:rPr>
                        <a:t>Validation, interpretation and fuel</a:t>
                      </a:r>
                    </a:p>
                  </a:txBody>
                  <a:tcPr marL="123825" marR="123825" marT="66675" marB="66675" anchor="ctr">
                    <a:solidFill>
                      <a:srgbClr val="F6F4EE"/>
                    </a:solidFill>
                  </a:tcPr>
                </a:tc>
                <a:tc>
                  <a:txBody>
                    <a:bodyPr/>
                    <a:lstStyle/>
                    <a:p>
                      <a:r>
                        <a:rPr sz="1800" b="0">
                          <a:solidFill>
                            <a:srgbClr val="122632"/>
                          </a:solidFill>
                          <a:latin typeface="Arial"/>
                          <a:ea typeface="Arial"/>
                          <a:cs typeface="Arial"/>
                        </a:rPr>
                        <a:t>Restricted profile, checkpoint and replay binding</a:t>
                      </a:r>
                    </a:p>
                  </a:txBody>
                  <a:tcPr marL="123825" marR="123825" marT="66675" marB="66675" anchor="ctr">
                    <a:solidFill>
                      <a:srgbClr val="F6F4EE"/>
                    </a:solidFill>
                  </a:tcPr>
                </a:tc>
              </a:tr>
              <a:tr h="866775">
                <a:tc>
                  <a:txBody>
                    <a:bodyPr/>
                    <a:lstStyle/>
                    <a:p>
                      <a:r>
                        <a:rPr sz="1800" b="1">
                          <a:solidFill>
                            <a:srgbClr val="122632"/>
                          </a:solidFill>
                          <a:latin typeface="Arial"/>
                          <a:ea typeface="Arial"/>
                          <a:cs typeface="Arial"/>
                        </a:rPr>
                        <a:t>Project code</a:t>
                      </a:r>
                    </a:p>
                  </a:txBody>
                  <a:tcPr marL="123825" marR="123825" marT="66675" marB="66675" anchor="ctr">
                    <a:solidFill>
                      <a:srgbClr val="E9EDE7"/>
                    </a:solidFill>
                  </a:tcPr>
                </a:tc>
                <a:tc>
                  <a:txBody>
                    <a:bodyPr/>
                    <a:lstStyle/>
                    <a:p>
                      <a:r>
                        <a:rPr sz="1800" b="0">
                          <a:solidFill>
                            <a:srgbClr val="122632"/>
                          </a:solidFill>
                          <a:latin typeface="Arial"/>
                          <a:ea typeface="Arial"/>
                          <a:cs typeface="Arial"/>
                        </a:rPr>
                        <a:t>Original integration and protocols</a:t>
                      </a:r>
                    </a:p>
                  </a:txBody>
                  <a:tcPr marL="123825" marR="123825" marT="66675" marB="66675" anchor="ctr">
                    <a:solidFill>
                      <a:srgbClr val="E9EDE7"/>
                    </a:solidFill>
                  </a:tcPr>
                </a:tc>
                <a:tc>
                  <a:txBody>
                    <a:bodyPr/>
                    <a:lstStyle/>
                    <a:p>
                      <a:r>
                        <a:rPr sz="1800" b="0">
                          <a:solidFill>
                            <a:srgbClr val="122632"/>
                          </a:solidFill>
                          <a:latin typeface="Arial"/>
                          <a:ea typeface="Arial"/>
                          <a:cs typeface="Arial"/>
                        </a:rPr>
                        <a:t>Capabilities, ChronicleFS, recovery policy and shell</a:t>
                      </a:r>
                    </a:p>
                  </a:txBody>
                  <a:tcPr marL="123825" marR="123825" marT="66675" marB="66675" anchor="ctr">
                    <a:solidFill>
                      <a:srgbClr val="E9EDE7"/>
                    </a:solidFill>
                  </a:tcPr>
                </a:tc>
              </a:tr>
            </a:tbl>
          </a:graphicData>
        </a:graphic>
      </p:graphicFrame>
      <p:sp>
        <p:nvSpPr>
          <p:cNvPr id="3" name="text-2">
            <a:extLst xmlns:a="http://schemas.openxmlformats.org/drawingml/2006/main">
              <a:ext uri="{FF2B5EF4-FFF2-40B4-BE49-F238E27FC236}">
                <a16:creationId xmlns:a16="http://schemas.microsoft.com/office/drawing/2014/main" id="{240B5857-D5F3-4CA5-898B-0C8C39FC6253}"/>
              </a:ext>
            </a:extLst>
          </p:cNvPr>
          <p:cNvSpPr>
            <a:spLocks xmlns:a="http://schemas.openxmlformats.org/drawingml/2006/main" noGrp="1"/>
          </p:cNvSpPr>
          <p:nvPr/>
        </p:nvSpPr>
        <p:spPr>
          <a:xfrm xmlns:a="http://schemas.openxmlformats.org/drawingml/2006/main">
            <a:off x="609600" y="6486525"/>
            <a:ext cx="109728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1200" b="0">
                <a:solidFill>
                  <a:srgbClr val="58656A"/>
                </a:solidFill>
                <a:latin typeface="Arial"/>
                <a:ea typeface="Arial"/>
                <a:cs typeface="Arial"/>
              </a:defRPr>
            </a:defPPr>
          </a:lstStyle>
          <a:p xmlns:a="http://schemas.openxmlformats.org/drawingml/2006/main">
            <a:pPr>
              <a:defRPr sz="1200" b="0">
                <a:solidFill>
                  <a:srgbClr val="58656A"/>
                </a:solidFill>
                <a:latin typeface="Arial"/>
                <a:ea typeface="Arial"/>
                <a:cs typeface="Arial"/>
              </a:defRPr>
            </a:pPr>
            <a:r>
              <a:rPr sz="1200" b="0">
                <a:solidFill>
                  <a:srgbClr val="58656A"/>
                </a:solidFill>
                <a:latin typeface="Arial"/>
                <a:ea typeface="Arial"/>
                <a:cs typeface="Arial"/>
              </a:rPr>
              <a:t>06 / 24     Pinned versions, license notices and adaptations are recorded in THIRD_PARTY.md.</a:t>
            </a:r>
          </a:p>
        </p:txBody>
      </p:sp>
    </p:spTree>
    <p:extLst>
      <p:ext uri="{BB962C8B-B14F-4D97-AF65-F5344CB8AC3E}">
        <p14:creationId xmlns:p14="http://schemas.microsoft.com/office/powerpoint/2010/main" val="525073566"/>
      </p:ext>
    </p:extLst>
  </p:cSld>
</p:sld>
</file>

<file path=ppt/slides/slide7.xml><?xml version="1.0" encoding="utf-8"?>
<p:sld xmlns:p="http://schemas.openxmlformats.org/presentationml/2006/main">
  <p:cSld>
    <p:bg>
      <p:bgPr>
        <a:solidFill xmlns:a="http://schemas.openxmlformats.org/drawingml/2006/main">
          <a:srgbClr val="F6F4EE"/>
        </a:solidFill>
      </p:bgPr>
    </p:bg>
    <p:spTree>
      <p:nvGrpSpPr>
        <p:cNvPr id="1" name=""/>
        <p:cNvGrpSpPr/>
        <p:nvPr/>
      </p:nvGrpSpPr>
      <p:grpSpPr>
        <a:xfrm xmlns:a="http://schemas.openxmlformats.org/drawingml/2006/main"/>
      </p:grpSpPr>
      <p:sp>
        <p:nvSpPr>
          <p:cNvPr id="15" name="text-1">
            <a:extLst xmlns:a="http://schemas.openxmlformats.org/drawingml/2006/main">
              <a:ext uri="{FF2B5EF4-FFF2-40B4-BE49-F238E27FC236}">
                <a16:creationId xmlns:a16="http://schemas.microsoft.com/office/drawing/2014/main" id="{9C5B9269-D74E-48FA-9041-5D6A531B25B3}"/>
              </a:ext>
            </a:extLst>
          </p:cNvPr>
          <p:cNvSpPr>
            <a:spLocks xmlns:a="http://schemas.openxmlformats.org/drawingml/2006/main" noGrp="1"/>
          </p:cNvSpPr>
          <p:nvPr/>
        </p:nvSpPr>
        <p:spPr>
          <a:xfrm xmlns:a="http://schemas.openxmlformats.org/drawingml/2006/main">
            <a:off x="609600" y="514350"/>
            <a:ext cx="109728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3300" b="1">
                <a:solidFill>
                  <a:srgbClr val="122632"/>
                </a:solidFill>
                <a:latin typeface="Arial"/>
                <a:ea typeface="Arial"/>
                <a:cs typeface="Arial"/>
              </a:defRPr>
            </a:defPPr>
          </a:lstStyle>
          <a:p xmlns:a="http://schemas.openxmlformats.org/drawingml/2006/main">
            <a:pPr>
              <a:defRPr sz="3300" b="1">
                <a:solidFill>
                  <a:srgbClr val="122632"/>
                </a:solidFill>
                <a:latin typeface="Arial"/>
                <a:ea typeface="Arial"/>
                <a:cs typeface="Arial"/>
              </a:defRPr>
            </a:pPr>
            <a:r>
              <a:rPr sz="3300" b="1">
                <a:solidFill>
                  <a:srgbClr val="122632"/>
                </a:solidFill>
                <a:latin typeface="Arial"/>
                <a:ea typeface="Arial"/>
                <a:cs typeface="Arial"/>
              </a:rPr>
              <a:t>Current architecture</a:t>
            </a:r>
          </a:p>
        </p:txBody>
      </p:sp>
      <p:sp>
        <p:nvSpPr>
          <p:cNvPr id="2" name="diagram-2">
            <a:extLst xmlns:a="http://schemas.openxmlformats.org/drawingml/2006/main">
              <a:ext uri="{FF2B5EF4-FFF2-40B4-BE49-F238E27FC236}">
                <a16:creationId xmlns:a16="http://schemas.microsoft.com/office/drawing/2014/main" id="{57BB4B6B-C0AF-4FCD-9F0D-6E29C03142DE}"/>
              </a:ext>
            </a:extLst>
          </p:cNvPr>
          <p:cNvSpPr>
            <a:spLocks xmlns:a="http://schemas.openxmlformats.org/drawingml/2006/main" noGrp="1"/>
          </p:cNvSpPr>
          <p:nvPr/>
        </p:nvSpPr>
        <p:spPr>
          <a:xfrm xmlns:a="http://schemas.openxmlformats.org/drawingml/2006/main">
            <a:off x="609600" y="1609725"/>
            <a:ext cx="10972800" cy="533400"/>
          </a:xfrm>
          <a:prstGeom xmlns:a="http://schemas.openxmlformats.org/drawingml/2006/main" prst="rect">
            <a:avLst/>
          </a:prstGeom>
          <a:solidFill xmlns:a="http://schemas.openxmlformats.org/drawingml/2006/main">
            <a:srgbClr val="E9EDE7"/>
          </a:solidFill>
          <a:ln xmlns:a="http://schemas.openxmlformats.org/drawingml/2006/main" w="14288">
            <a:solidFill>
              <a:srgbClr val="146B5F"/>
            </a:solidFill>
          </a:ln>
        </p:spPr>
        <p:txBody>
          <a:bodyPr xmlns:a="http://schemas.openxmlformats.org/drawingml/2006/main" wrap="square" lIns="95250" tIns="95250" rIns="95250" bIns="95250" anchor="ctr"/>
          <a:lstStyle xmlns:a="http://schemas.openxmlformats.org/drawingml/2006/main">
            <a:defPPr algn="ctr">
              <a:defRPr sz="1950" b="0">
                <a:solidFill>
                  <a:srgbClr val="122632"/>
                </a:solidFill>
                <a:latin typeface="Arial"/>
                <a:ea typeface="Arial"/>
                <a:cs typeface="Arial"/>
              </a:defRPr>
            </a:defPPr>
          </a:lstStyle>
          <a:p xmlns:a="http://schemas.openxmlformats.org/drawingml/2006/main">
            <a:pPr algn="ctr">
              <a:defRPr sz="1950" b="0">
                <a:solidFill>
                  <a:srgbClr val="122632"/>
                </a:solidFill>
                <a:latin typeface="Arial"/>
                <a:ea typeface="Arial"/>
                <a:cs typeface="Arial"/>
              </a:defRPr>
            </a:pPr>
            <a:r>
              <a:rPr sz="1950" b="0">
                <a:solidFill>
                  <a:srgbClr val="122632"/>
                </a:solidFill>
                <a:latin typeface="Arial"/>
                <a:ea typeface="Arial"/>
                <a:cs typeface="Arial"/>
              </a:rPr>
              <a:t>Linux host: terminal, QEMU and optional experiment tools</a:t>
            </a:r>
          </a:p>
        </p:txBody>
      </p:sp>
      <p:sp>
        <p:nvSpPr>
          <p:cNvPr id="3" name="flow-3">
            <a:extLst xmlns:a="http://schemas.openxmlformats.org/drawingml/2006/main">
              <a:ext uri="{FF2B5EF4-FFF2-40B4-BE49-F238E27FC236}">
                <a16:creationId xmlns:a16="http://schemas.microsoft.com/office/drawing/2014/main" id="{F0ED7D28-E360-49C4-8134-246093C9F4E9}"/>
              </a:ext>
            </a:extLst>
          </p:cNvPr>
          <p:cNvSpPr>
            <a:spLocks xmlns:a="http://schemas.openxmlformats.org/drawingml/2006/main" noGrp="1"/>
          </p:cNvSpPr>
          <p:nvPr/>
        </p:nvSpPr>
        <p:spPr>
          <a:xfrm xmlns:a="http://schemas.openxmlformats.org/drawingml/2006/main">
            <a:off x="5953125" y="2190750"/>
            <a:ext cx="228600" cy="247650"/>
          </a:xfrm>
          <a:prstGeom xmlns:a="http://schemas.openxmlformats.org/drawingml/2006/main" prst="downArrow">
            <a:avLst/>
          </a:prstGeom>
          <a:solidFill xmlns:a="http://schemas.openxmlformats.org/drawingml/2006/main">
            <a:srgbClr val="146B5F"/>
          </a:solidFill>
          <a:ln xmlns:a="http://schemas.openxmlformats.org/drawingml/2006/main" w="0">
            <a:noFill/>
          </a:ln>
        </p:spPr>
      </p:sp>
      <p:sp>
        <p:nvSpPr>
          <p:cNvPr id="4" name="text-4">
            <a:extLst xmlns:a="http://schemas.openxmlformats.org/drawingml/2006/main">
              <a:ext uri="{FF2B5EF4-FFF2-40B4-BE49-F238E27FC236}">
                <a16:creationId xmlns:a16="http://schemas.microsoft.com/office/drawing/2014/main" id="{37BBB77B-8978-4442-867E-4161F27EA671}"/>
              </a:ext>
            </a:extLst>
          </p:cNvPr>
          <p:cNvSpPr>
            <a:spLocks xmlns:a="http://schemas.openxmlformats.org/drawingml/2006/main" noGrp="1"/>
          </p:cNvSpPr>
          <p:nvPr/>
        </p:nvSpPr>
        <p:spPr>
          <a:xfrm xmlns:a="http://schemas.openxmlformats.org/drawingml/2006/main">
            <a:off x="609600" y="2505075"/>
            <a:ext cx="109728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1800" b="1">
                <a:solidFill>
                  <a:srgbClr val="146B5F"/>
                </a:solidFill>
                <a:latin typeface="Arial"/>
                <a:ea typeface="Arial"/>
                <a:cs typeface="Arial"/>
              </a:defRPr>
            </a:defPPr>
          </a:lstStyle>
          <a:p xmlns:a="http://schemas.openxmlformats.org/drawingml/2006/main">
            <a:pPr>
              <a:defRPr sz="1800" b="1">
                <a:solidFill>
                  <a:srgbClr val="146B5F"/>
                </a:solidFill>
                <a:latin typeface="Arial"/>
                <a:ea typeface="Arial"/>
                <a:cs typeface="Arial"/>
              </a:defRPr>
            </a:pPr>
            <a:r>
              <a:rPr sz="1800" b="1">
                <a:solidFill>
                  <a:srgbClr val="146B5F"/>
                </a:solidFill>
                <a:latin typeface="Arial"/>
                <a:ea typeface="Arial"/>
                <a:cs typeface="Arial"/>
              </a:rPr>
              <a:t>MnemosyneOS guest / ring 3</a:t>
            </a:r>
          </a:p>
        </p:txBody>
      </p:sp>
      <p:sp>
        <p:nvSpPr>
          <p:cNvPr id="5" name="diagram-5">
            <a:extLst xmlns:a="http://schemas.openxmlformats.org/drawingml/2006/main">
              <a:ext uri="{FF2B5EF4-FFF2-40B4-BE49-F238E27FC236}">
                <a16:creationId xmlns:a16="http://schemas.microsoft.com/office/drawing/2014/main" id="{64FFF753-8ABB-4740-BBCD-3E5B70E4F660}"/>
              </a:ext>
            </a:extLst>
          </p:cNvPr>
          <p:cNvSpPr>
            <a:spLocks xmlns:a="http://schemas.openxmlformats.org/drawingml/2006/main" noGrp="1"/>
          </p:cNvSpPr>
          <p:nvPr/>
        </p:nvSpPr>
        <p:spPr>
          <a:xfrm xmlns:a="http://schemas.openxmlformats.org/drawingml/2006/main">
            <a:off x="609600" y="2943225"/>
            <a:ext cx="5467350" cy="1771650"/>
          </a:xfrm>
          <a:prstGeom xmlns:a="http://schemas.openxmlformats.org/drawingml/2006/main" prst="rect">
            <a:avLst/>
          </a:prstGeom>
          <a:solidFill xmlns:a="http://schemas.openxmlformats.org/drawingml/2006/main">
            <a:srgbClr val="E9EDE7"/>
          </a:solidFill>
          <a:ln xmlns:a="http://schemas.openxmlformats.org/drawingml/2006/main" w="14288">
            <a:solidFill>
              <a:srgbClr val="146B5F"/>
            </a:solidFill>
          </a:ln>
        </p:spPr>
        <p:txBody>
          <a:bodyPr xmlns:a="http://schemas.openxmlformats.org/drawingml/2006/main" wrap="square" lIns="95250" tIns="95250" rIns="95250" bIns="95250" anchor="ctr"/>
          <a:lstStyle xmlns:a="http://schemas.openxmlformats.org/drawingml/2006/main">
            <a:defPPr algn="ctr">
              <a:defRPr sz="2025" b="0">
                <a:solidFill>
                  <a:srgbClr val="122632"/>
                </a:solidFill>
                <a:latin typeface="Arial"/>
                <a:ea typeface="Arial"/>
                <a:cs typeface="Arial"/>
              </a:defRPr>
            </a:defPPr>
          </a:lstStyle>
          <a:p xmlns:a="http://schemas.openxmlformats.org/drawingml/2006/main">
            <a:pPr algn="ctr">
              <a:defRPr sz="2025" b="0">
                <a:solidFill>
                  <a:srgbClr val="122632"/>
                </a:solidFill>
                <a:latin typeface="Arial"/>
                <a:ea typeface="Arial"/>
                <a:cs typeface="Arial"/>
              </a:defRPr>
            </a:pPr>
            <a:r>
              <a:rPr sz="2025" b="0">
                <a:solidFill>
                  <a:srgbClr val="122632"/>
                </a:solidFill>
                <a:latin typeface="Arial"/>
                <a:ea typeface="Arial"/>
                <a:cs typeface="Arial"/>
              </a:rPr>
              <a:t>Trusted init-console</a:t>
            </a:r>
          </a:p>
          <a:p xmlns:a="http://schemas.openxmlformats.org/drawingml/2006/main">
            <a:r>
              <a:t/>
            </a:r>
          </a:p>
          <a:p xmlns:a="http://schemas.openxmlformats.org/drawingml/2006/main">
            <a:pPr algn="ctr">
              <a:defRPr sz="2025" b="0">
                <a:solidFill>
                  <a:srgbClr val="122632"/>
                </a:solidFill>
                <a:latin typeface="Arial"/>
                <a:ea typeface="Arial"/>
                <a:cs typeface="Arial"/>
              </a:defRPr>
            </a:pPr>
            <a:r>
              <a:rPr sz="2025" b="0">
                <a:solidFill>
                  <a:srgbClr val="122632"/>
                </a:solidFill>
                <a:latin typeface="Arial"/>
                <a:ea typeface="Arial"/>
                <a:cs typeface="Arial"/>
              </a:rPr>
              <a:t>Shell, ChronicleFS, Wasmi</a:t>
            </a:r>
          </a:p>
          <a:p xmlns:a="http://schemas.openxmlformats.org/drawingml/2006/main">
            <a:pPr algn="ctr">
              <a:defRPr sz="2025" b="0">
                <a:solidFill>
                  <a:srgbClr val="122632"/>
                </a:solidFill>
                <a:latin typeface="Arial"/>
                <a:ea typeface="Arial"/>
                <a:cs typeface="Arial"/>
              </a:defRPr>
            </a:pPr>
            <a:r>
              <a:rPr sz="2025" b="0">
                <a:solidFill>
                  <a:srgbClr val="122632"/>
                </a:solidFill>
                <a:latin typeface="Arial"/>
                <a:ea typeface="Arial"/>
                <a:cs typeface="Arial"/>
              </a:rPr>
              <a:t>and recovery verifier/executor</a:t>
            </a:r>
          </a:p>
        </p:txBody>
      </p:sp>
      <p:sp>
        <p:nvSpPr>
          <p:cNvPr id="6" name="diagram-6">
            <a:extLst xmlns:a="http://schemas.openxmlformats.org/drawingml/2006/main">
              <a:ext uri="{FF2B5EF4-FFF2-40B4-BE49-F238E27FC236}">
                <a16:creationId xmlns:a16="http://schemas.microsoft.com/office/drawing/2014/main" id="{AC82E1A1-242C-4CCC-9120-C7FB544BAF47}"/>
              </a:ext>
            </a:extLst>
          </p:cNvPr>
          <p:cNvSpPr>
            <a:spLocks xmlns:a="http://schemas.openxmlformats.org/drawingml/2006/main" noGrp="1"/>
          </p:cNvSpPr>
          <p:nvPr/>
        </p:nvSpPr>
        <p:spPr>
          <a:xfrm xmlns:a="http://schemas.openxmlformats.org/drawingml/2006/main">
            <a:off x="6324600" y="2943225"/>
            <a:ext cx="5257800" cy="542925"/>
          </a:xfrm>
          <a:prstGeom xmlns:a="http://schemas.openxmlformats.org/drawingml/2006/main" prst="rect">
            <a:avLst/>
          </a:prstGeom>
          <a:solidFill xmlns:a="http://schemas.openxmlformats.org/drawingml/2006/main">
            <a:srgbClr val="FCFCF8"/>
          </a:solidFill>
          <a:ln xmlns:a="http://schemas.openxmlformats.org/drawingml/2006/main" w="14288">
            <a:solidFill>
              <a:srgbClr val="146B5F"/>
            </a:solidFill>
          </a:ln>
        </p:spPr>
        <p:txBody>
          <a:bodyPr xmlns:a="http://schemas.openxmlformats.org/drawingml/2006/main" wrap="square" lIns="95250" tIns="95250" rIns="95250" bIns="95250" anchor="ctr"/>
          <a:lstStyle xmlns:a="http://schemas.openxmlformats.org/drawingml/2006/main">
            <a:defPPr algn="ctr">
              <a:defRPr sz="1725" b="0">
                <a:solidFill>
                  <a:srgbClr val="122632"/>
                </a:solidFill>
                <a:latin typeface="Arial"/>
                <a:ea typeface="Arial"/>
                <a:cs typeface="Arial"/>
              </a:defRPr>
            </a:defPPr>
          </a:lstStyle>
          <a:p xmlns:a="http://schemas.openxmlformats.org/drawingml/2006/main">
            <a:pPr algn="ctr">
              <a:defRPr sz="1725" b="0">
                <a:solidFill>
                  <a:srgbClr val="122632"/>
                </a:solidFill>
                <a:latin typeface="Arial"/>
                <a:ea typeface="Arial"/>
                <a:cs typeface="Arial"/>
              </a:defRPr>
            </a:pPr>
            <a:r>
              <a:rPr sz="1725" b="0">
                <a:solidFill>
                  <a:srgbClr val="122632"/>
                </a:solidFill>
                <a:latin typeface="Arial"/>
                <a:ea typeface="Arial"/>
                <a:cs typeface="Arial"/>
              </a:rPr>
              <a:t>counter-service / native IPC and COW</a:t>
            </a:r>
          </a:p>
        </p:txBody>
      </p:sp>
      <p:sp>
        <p:nvSpPr>
          <p:cNvPr id="7" name="diagram-7">
            <a:extLst xmlns:a="http://schemas.openxmlformats.org/drawingml/2006/main">
              <a:ext uri="{FF2B5EF4-FFF2-40B4-BE49-F238E27FC236}">
                <a16:creationId xmlns:a16="http://schemas.microsoft.com/office/drawing/2014/main" id="{127C9961-A426-4584-B807-E37072084FFC}"/>
              </a:ext>
            </a:extLst>
          </p:cNvPr>
          <p:cNvSpPr>
            <a:spLocks xmlns:a="http://schemas.openxmlformats.org/drawingml/2006/main" noGrp="1"/>
          </p:cNvSpPr>
          <p:nvPr/>
        </p:nvSpPr>
        <p:spPr>
          <a:xfrm xmlns:a="http://schemas.openxmlformats.org/drawingml/2006/main">
            <a:off x="6324600" y="3562350"/>
            <a:ext cx="2533650" cy="1152525"/>
          </a:xfrm>
          <a:prstGeom xmlns:a="http://schemas.openxmlformats.org/drawingml/2006/main" prst="rect">
            <a:avLst/>
          </a:prstGeom>
          <a:solidFill xmlns:a="http://schemas.openxmlformats.org/drawingml/2006/main">
            <a:srgbClr val="FCFCF8"/>
          </a:solidFill>
          <a:ln xmlns:a="http://schemas.openxmlformats.org/drawingml/2006/main" w="14288">
            <a:solidFill>
              <a:srgbClr val="146B5F"/>
            </a:solidFill>
          </a:ln>
        </p:spPr>
        <p:txBody>
          <a:bodyPr xmlns:a="http://schemas.openxmlformats.org/drawingml/2006/main" wrap="square" lIns="95250" tIns="95250" rIns="95250" bIns="95250" anchor="ctr"/>
          <a:lstStyle xmlns:a="http://schemas.openxmlformats.org/drawingml/2006/main">
            <a:defPPr algn="ctr">
              <a:defRPr sz="1800" b="0">
                <a:solidFill>
                  <a:srgbClr val="122632"/>
                </a:solidFill>
                <a:latin typeface="Arial"/>
                <a:ea typeface="Arial"/>
                <a:cs typeface="Arial"/>
              </a:defRPr>
            </a:defPPr>
          </a:lstStyle>
          <a:p xmlns:a="http://schemas.openxmlformats.org/drawingml/2006/main">
            <a:pPr algn="ctr">
              <a:defRPr sz="1800" b="0">
                <a:solidFill>
                  <a:srgbClr val="122632"/>
                </a:solidFill>
                <a:latin typeface="Arial"/>
                <a:ea typeface="Arial"/>
                <a:cs typeface="Arial"/>
              </a:defRPr>
            </a:pPr>
            <a:r>
              <a:rPr sz="1800" b="0">
                <a:solidFill>
                  <a:srgbClr val="122632"/>
                </a:solidFill>
                <a:latin typeface="Arial"/>
                <a:ea typeface="Arial"/>
                <a:cs typeface="Arial"/>
              </a:rPr>
              <a:t>cpu-hog</a:t>
            </a:r>
          </a:p>
          <a:p xmlns:a="http://schemas.openxmlformats.org/drawingml/2006/main">
            <a:pPr algn="ctr">
              <a:defRPr sz="1800" b="0">
                <a:solidFill>
                  <a:srgbClr val="122632"/>
                </a:solidFill>
                <a:latin typeface="Arial"/>
                <a:ea typeface="Arial"/>
                <a:cs typeface="Arial"/>
              </a:defRPr>
            </a:pPr>
            <a:r>
              <a:rPr sz="1800" b="0">
                <a:solidFill>
                  <a:srgbClr val="122632"/>
                </a:solidFill>
                <a:latin typeface="Arial"/>
                <a:ea typeface="Arial"/>
                <a:cs typeface="Arial"/>
              </a:rPr>
              <a:t>Preemption probe</a:t>
            </a:r>
          </a:p>
        </p:txBody>
      </p:sp>
      <p:sp>
        <p:nvSpPr>
          <p:cNvPr id="8" name="diagram-8">
            <a:extLst xmlns:a="http://schemas.openxmlformats.org/drawingml/2006/main">
              <a:ext uri="{FF2B5EF4-FFF2-40B4-BE49-F238E27FC236}">
                <a16:creationId xmlns:a16="http://schemas.microsoft.com/office/drawing/2014/main" id="{9BB1E66E-9A4F-465E-800E-7E07727D516C}"/>
              </a:ext>
            </a:extLst>
          </p:cNvPr>
          <p:cNvSpPr>
            <a:spLocks xmlns:a="http://schemas.openxmlformats.org/drawingml/2006/main" noGrp="1"/>
          </p:cNvSpPr>
          <p:nvPr/>
        </p:nvSpPr>
        <p:spPr>
          <a:xfrm xmlns:a="http://schemas.openxmlformats.org/drawingml/2006/main">
            <a:off x="9029700" y="3562350"/>
            <a:ext cx="2552700" cy="1152525"/>
          </a:xfrm>
          <a:prstGeom xmlns:a="http://schemas.openxmlformats.org/drawingml/2006/main" prst="rect">
            <a:avLst/>
          </a:prstGeom>
          <a:solidFill xmlns:a="http://schemas.openxmlformats.org/drawingml/2006/main">
            <a:srgbClr val="FCFCF8"/>
          </a:solidFill>
          <a:ln xmlns:a="http://schemas.openxmlformats.org/drawingml/2006/main" w="14288">
            <a:solidFill>
              <a:srgbClr val="146B5F"/>
            </a:solidFill>
          </a:ln>
        </p:spPr>
        <p:txBody>
          <a:bodyPr xmlns:a="http://schemas.openxmlformats.org/drawingml/2006/main" wrap="square" lIns="95250" tIns="95250" rIns="95250" bIns="95250" anchor="ctr"/>
          <a:lstStyle xmlns:a="http://schemas.openxmlformats.org/drawingml/2006/main">
            <a:defPPr algn="ctr">
              <a:defRPr sz="1800" b="0">
                <a:solidFill>
                  <a:srgbClr val="122632"/>
                </a:solidFill>
                <a:latin typeface="Arial"/>
                <a:ea typeface="Arial"/>
                <a:cs typeface="Arial"/>
              </a:defRPr>
            </a:defPPr>
          </a:lstStyle>
          <a:p xmlns:a="http://schemas.openxmlformats.org/drawingml/2006/main">
            <a:pPr algn="ctr">
              <a:defRPr sz="1800" b="0">
                <a:solidFill>
                  <a:srgbClr val="122632"/>
                </a:solidFill>
                <a:latin typeface="Arial"/>
                <a:ea typeface="Arial"/>
                <a:cs typeface="Arial"/>
              </a:defRPr>
            </a:pPr>
            <a:r>
              <a:rPr sz="1800" b="0">
                <a:solidFill>
                  <a:srgbClr val="122632"/>
                </a:solidFill>
                <a:latin typeface="Arial"/>
                <a:ea typeface="Arial"/>
                <a:cs typeface="Arial"/>
              </a:rPr>
              <a:t>fault-service</a:t>
            </a:r>
          </a:p>
          <a:p xmlns:a="http://schemas.openxmlformats.org/drawingml/2006/main">
            <a:pPr algn="ctr">
              <a:defRPr sz="1800" b="0">
                <a:solidFill>
                  <a:srgbClr val="122632"/>
                </a:solidFill>
                <a:latin typeface="Arial"/>
                <a:ea typeface="Arial"/>
                <a:cs typeface="Arial"/>
              </a:defRPr>
            </a:pPr>
            <a:r>
              <a:rPr sz="1800" b="0">
                <a:solidFill>
                  <a:srgbClr val="122632"/>
                </a:solidFill>
                <a:latin typeface="Arial"/>
                <a:ea typeface="Arial"/>
                <a:cs typeface="Arial"/>
              </a:rPr>
              <a:t>Containment probe</a:t>
            </a:r>
          </a:p>
        </p:txBody>
      </p:sp>
      <p:sp>
        <p:nvSpPr>
          <p:cNvPr id="9" name="flow-9">
            <a:extLst xmlns:a="http://schemas.openxmlformats.org/drawingml/2006/main">
              <a:ext uri="{FF2B5EF4-FFF2-40B4-BE49-F238E27FC236}">
                <a16:creationId xmlns:a16="http://schemas.microsoft.com/office/drawing/2014/main" id="{F7AE09D7-2281-4B4B-A782-C4528EC2915F}"/>
              </a:ext>
            </a:extLst>
          </p:cNvPr>
          <p:cNvSpPr>
            <a:spLocks xmlns:a="http://schemas.openxmlformats.org/drawingml/2006/main" noGrp="1"/>
          </p:cNvSpPr>
          <p:nvPr/>
        </p:nvSpPr>
        <p:spPr>
          <a:xfrm xmlns:a="http://schemas.openxmlformats.org/drawingml/2006/main">
            <a:off x="3114675" y="4772025"/>
            <a:ext cx="228600" cy="238125"/>
          </a:xfrm>
          <a:prstGeom xmlns:a="http://schemas.openxmlformats.org/drawingml/2006/main" prst="downArrow">
            <a:avLst/>
          </a:prstGeom>
          <a:solidFill xmlns:a="http://schemas.openxmlformats.org/drawingml/2006/main">
            <a:srgbClr val="146B5F"/>
          </a:solidFill>
          <a:ln xmlns:a="http://schemas.openxmlformats.org/drawingml/2006/main" w="0">
            <a:noFill/>
          </a:ln>
        </p:spPr>
      </p:sp>
      <p:sp>
        <p:nvSpPr>
          <p:cNvPr id="10" name="flow-10">
            <a:extLst xmlns:a="http://schemas.openxmlformats.org/drawingml/2006/main">
              <a:ext uri="{FF2B5EF4-FFF2-40B4-BE49-F238E27FC236}">
                <a16:creationId xmlns:a16="http://schemas.microsoft.com/office/drawing/2014/main" id="{0FA4764B-E298-4A15-93FA-89783D5F8277}"/>
              </a:ext>
            </a:extLst>
          </p:cNvPr>
          <p:cNvSpPr>
            <a:spLocks xmlns:a="http://schemas.openxmlformats.org/drawingml/2006/main" noGrp="1"/>
          </p:cNvSpPr>
          <p:nvPr/>
        </p:nvSpPr>
        <p:spPr>
          <a:xfrm xmlns:a="http://schemas.openxmlformats.org/drawingml/2006/main">
            <a:off x="8839200" y="4772025"/>
            <a:ext cx="228600" cy="238125"/>
          </a:xfrm>
          <a:prstGeom xmlns:a="http://schemas.openxmlformats.org/drawingml/2006/main" prst="downArrow">
            <a:avLst/>
          </a:prstGeom>
          <a:solidFill xmlns:a="http://schemas.openxmlformats.org/drawingml/2006/main">
            <a:srgbClr val="146B5F"/>
          </a:solidFill>
          <a:ln xmlns:a="http://schemas.openxmlformats.org/drawingml/2006/main" w="0">
            <a:noFill/>
          </a:ln>
        </p:spPr>
      </p:sp>
      <p:sp>
        <p:nvSpPr>
          <p:cNvPr id="11" name="diagram-11">
            <a:extLst xmlns:a="http://schemas.openxmlformats.org/drawingml/2006/main">
              <a:ext uri="{FF2B5EF4-FFF2-40B4-BE49-F238E27FC236}">
                <a16:creationId xmlns:a16="http://schemas.microsoft.com/office/drawing/2014/main" id="{DEB47E89-7B6F-41A0-A16D-10DAD4A05C1B}"/>
              </a:ext>
            </a:extLst>
          </p:cNvPr>
          <p:cNvSpPr>
            <a:spLocks xmlns:a="http://schemas.openxmlformats.org/drawingml/2006/main" noGrp="1"/>
          </p:cNvSpPr>
          <p:nvPr/>
        </p:nvSpPr>
        <p:spPr>
          <a:xfrm xmlns:a="http://schemas.openxmlformats.org/drawingml/2006/main">
            <a:off x="609600" y="5076825"/>
            <a:ext cx="10972800" cy="542925"/>
          </a:xfrm>
          <a:prstGeom xmlns:a="http://schemas.openxmlformats.org/drawingml/2006/main" prst="rect">
            <a:avLst/>
          </a:prstGeom>
          <a:solidFill xmlns:a="http://schemas.openxmlformats.org/drawingml/2006/main">
            <a:srgbClr val="122632"/>
          </a:solidFill>
          <a:ln xmlns:a="http://schemas.openxmlformats.org/drawingml/2006/main" w="14288">
            <a:solidFill>
              <a:srgbClr val="146B5F"/>
            </a:solidFill>
          </a:ln>
        </p:spPr>
        <p:txBody>
          <a:bodyPr xmlns:a="http://schemas.openxmlformats.org/drawingml/2006/main" wrap="square" lIns="95250" tIns="95250" rIns="95250" bIns="95250" anchor="ctr"/>
          <a:lstStyle xmlns:a="http://schemas.openxmlformats.org/drawingml/2006/main">
            <a:defPPr algn="ctr">
              <a:defRPr sz="1875" b="0">
                <a:solidFill>
                  <a:srgbClr val="FCFCF8"/>
                </a:solidFill>
                <a:latin typeface="Arial"/>
                <a:ea typeface="Arial"/>
                <a:cs typeface="Arial"/>
              </a:defRPr>
            </a:defPPr>
          </a:lstStyle>
          <a:p xmlns:a="http://schemas.openxmlformats.org/drawingml/2006/main">
            <a:pPr algn="ctr">
              <a:defRPr sz="1875" b="0">
                <a:solidFill>
                  <a:srgbClr val="FCFCF8"/>
                </a:solidFill>
                <a:latin typeface="Arial"/>
                <a:ea typeface="Arial"/>
                <a:cs typeface="Arial"/>
              </a:defRPr>
            </a:pPr>
            <a:r>
              <a:rPr sz="1875" b="0">
                <a:solidFill>
                  <a:srgbClr val="FCFCF8"/>
                </a:solidFill>
                <a:latin typeface="Arial"/>
                <a:ea typeface="Arial"/>
                <a:cs typeface="Arial"/>
              </a:rPr>
              <a:t>Ring 0: page tables, scheduler, capabilities, IPC, serial and ATA</a:t>
            </a:r>
          </a:p>
        </p:txBody>
      </p:sp>
      <p:sp>
        <p:nvSpPr>
          <p:cNvPr id="12" name="flow-12">
            <a:extLst xmlns:a="http://schemas.openxmlformats.org/drawingml/2006/main">
              <a:ext uri="{FF2B5EF4-FFF2-40B4-BE49-F238E27FC236}">
                <a16:creationId xmlns:a16="http://schemas.microsoft.com/office/drawing/2014/main" id="{3F5E1BC2-3D8E-4084-8F72-F3A47E851F3E}"/>
              </a:ext>
            </a:extLst>
          </p:cNvPr>
          <p:cNvSpPr>
            <a:spLocks xmlns:a="http://schemas.openxmlformats.org/drawingml/2006/main" noGrp="1"/>
          </p:cNvSpPr>
          <p:nvPr/>
        </p:nvSpPr>
        <p:spPr>
          <a:xfrm xmlns:a="http://schemas.openxmlformats.org/drawingml/2006/main">
            <a:off x="5953125" y="5676900"/>
            <a:ext cx="228600" cy="180975"/>
          </a:xfrm>
          <a:prstGeom xmlns:a="http://schemas.openxmlformats.org/drawingml/2006/main" prst="downArrow">
            <a:avLst/>
          </a:prstGeom>
          <a:solidFill xmlns:a="http://schemas.openxmlformats.org/drawingml/2006/main">
            <a:srgbClr val="146B5F"/>
          </a:solidFill>
          <a:ln xmlns:a="http://schemas.openxmlformats.org/drawingml/2006/main" w="0">
            <a:noFill/>
          </a:ln>
        </p:spPr>
      </p:sp>
      <p:sp>
        <p:nvSpPr>
          <p:cNvPr id="13" name="diagram-13">
            <a:extLst xmlns:a="http://schemas.openxmlformats.org/drawingml/2006/main">
              <a:ext uri="{FF2B5EF4-FFF2-40B4-BE49-F238E27FC236}">
                <a16:creationId xmlns:a16="http://schemas.microsoft.com/office/drawing/2014/main" id="{08FDFB12-022C-4E4D-8523-CABE0883E20E}"/>
              </a:ext>
            </a:extLst>
          </p:cNvPr>
          <p:cNvSpPr>
            <a:spLocks xmlns:a="http://schemas.openxmlformats.org/drawingml/2006/main" noGrp="1"/>
          </p:cNvSpPr>
          <p:nvPr/>
        </p:nvSpPr>
        <p:spPr>
          <a:xfrm xmlns:a="http://schemas.openxmlformats.org/drawingml/2006/main">
            <a:off x="2647950" y="5895975"/>
            <a:ext cx="6896100" cy="419100"/>
          </a:xfrm>
          <a:prstGeom xmlns:a="http://schemas.openxmlformats.org/drawingml/2006/main" prst="rect">
            <a:avLst/>
          </a:prstGeom>
          <a:solidFill xmlns:a="http://schemas.openxmlformats.org/drawingml/2006/main">
            <a:srgbClr val="FCFCF8"/>
          </a:solidFill>
          <a:ln xmlns:a="http://schemas.openxmlformats.org/drawingml/2006/main" w="14288">
            <a:solidFill>
              <a:srgbClr val="146B5F"/>
            </a:solidFill>
          </a:ln>
        </p:spPr>
        <p:txBody>
          <a:bodyPr xmlns:a="http://schemas.openxmlformats.org/drawingml/2006/main" wrap="square" lIns="95250" tIns="95250" rIns="95250" bIns="95250" anchor="ctr"/>
          <a:lstStyle xmlns:a="http://schemas.openxmlformats.org/drawingml/2006/main">
            <a:defPPr algn="ctr">
              <a:defRPr sz="1650" b="0">
                <a:solidFill>
                  <a:srgbClr val="122632"/>
                </a:solidFill>
                <a:latin typeface="Arial"/>
                <a:ea typeface="Arial"/>
                <a:cs typeface="Arial"/>
              </a:defRPr>
            </a:defPPr>
          </a:lstStyle>
          <a:p xmlns:a="http://schemas.openxmlformats.org/drawingml/2006/main">
            <a:pPr algn="ctr">
              <a:defRPr sz="1650" b="0">
                <a:solidFill>
                  <a:srgbClr val="122632"/>
                </a:solidFill>
                <a:latin typeface="Arial"/>
                <a:ea typeface="Arial"/>
                <a:cs typeface="Arial"/>
              </a:defRPr>
            </a:pPr>
            <a:r>
              <a:rPr sz="1650" b="0">
                <a:solidFill>
                  <a:srgbClr val="122632"/>
                </a:solidFill>
                <a:latin typeface="Arial"/>
                <a:ea typeface="Arial"/>
                <a:cs typeface="Arial"/>
              </a:rPr>
              <a:t>QEMU hardware and persistent virtual disk</a:t>
            </a:r>
          </a:p>
        </p:txBody>
      </p:sp>
      <p:sp>
        <p:nvSpPr>
          <p:cNvPr id="14" name="text-14">
            <a:extLst xmlns:a="http://schemas.openxmlformats.org/drawingml/2006/main">
              <a:ext uri="{FF2B5EF4-FFF2-40B4-BE49-F238E27FC236}">
                <a16:creationId xmlns:a16="http://schemas.microsoft.com/office/drawing/2014/main" id="{F5CC6961-6F4F-4078-88FA-7D1B3FAB341F}"/>
              </a:ext>
            </a:extLst>
          </p:cNvPr>
          <p:cNvSpPr>
            <a:spLocks xmlns:a="http://schemas.openxmlformats.org/drawingml/2006/main" noGrp="1"/>
          </p:cNvSpPr>
          <p:nvPr/>
        </p:nvSpPr>
        <p:spPr>
          <a:xfrm xmlns:a="http://schemas.openxmlformats.org/drawingml/2006/main">
            <a:off x="609600" y="6486525"/>
            <a:ext cx="109728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1200" b="0">
                <a:solidFill>
                  <a:srgbClr val="58656A"/>
                </a:solidFill>
                <a:latin typeface="Arial"/>
                <a:ea typeface="Arial"/>
                <a:cs typeface="Arial"/>
              </a:defRPr>
            </a:defPPr>
          </a:lstStyle>
          <a:p xmlns:a="http://schemas.openxmlformats.org/drawingml/2006/main">
            <a:pPr>
              <a:defRPr sz="1200" b="0">
                <a:solidFill>
                  <a:srgbClr val="58656A"/>
                </a:solidFill>
                <a:latin typeface="Arial"/>
                <a:ea typeface="Arial"/>
                <a:cs typeface="Arial"/>
              </a:defRPr>
            </a:pPr>
            <a:r>
              <a:rPr sz="1200" b="0">
                <a:solidFill>
                  <a:srgbClr val="58656A"/>
                </a:solidFill>
                <a:latin typeface="Arial"/>
                <a:ea typeface="Arial"/>
                <a:cs typeface="Arial"/>
              </a:rPr>
              <a:t>07 / 24     Each native task has a private address space. Several trusted services still share init.</a:t>
            </a:r>
          </a:p>
        </p:txBody>
      </p:sp>
    </p:spTree>
    <p:extLst>
      <p:ext uri="{BB962C8B-B14F-4D97-AF65-F5344CB8AC3E}">
        <p14:creationId xmlns:p14="http://schemas.microsoft.com/office/powerpoint/2010/main" val="1003125889"/>
      </p:ext>
    </p:extLst>
  </p:cSld>
</p:sld>
</file>

<file path=ppt/slides/slide8.xml><?xml version="1.0" encoding="utf-8"?>
<p:sld xmlns:p="http://schemas.openxmlformats.org/presentationml/2006/main">
  <p:cSld>
    <p:bg>
      <p:bgPr>
        <a:solidFill xmlns:a="http://schemas.openxmlformats.org/drawingml/2006/main">
          <a:srgbClr val="F6F4EE"/>
        </a:solidFill>
      </p:bgPr>
    </p:bg>
    <p:spTree>
      <p:nvGrpSpPr>
        <p:cNvPr id="1" name=""/>
        <p:cNvGrpSpPr/>
        <p:nvPr/>
      </p:nvGrpSpPr>
      <p:grpSpPr>
        <a:xfrm xmlns:a="http://schemas.openxmlformats.org/drawingml/2006/main"/>
      </p:grpSpPr>
      <p:sp>
        <p:nvSpPr>
          <p:cNvPr id="11" name="text-1">
            <a:extLst xmlns:a="http://schemas.openxmlformats.org/drawingml/2006/main">
              <a:ext uri="{FF2B5EF4-FFF2-40B4-BE49-F238E27FC236}">
                <a16:creationId xmlns:a16="http://schemas.microsoft.com/office/drawing/2014/main" id="{F4BD0864-07AD-403D-AC2F-65EBE31E0BAB}"/>
              </a:ext>
            </a:extLst>
          </p:cNvPr>
          <p:cNvSpPr>
            <a:spLocks xmlns:a="http://schemas.openxmlformats.org/drawingml/2006/main" noGrp="1"/>
          </p:cNvSpPr>
          <p:nvPr/>
        </p:nvSpPr>
        <p:spPr>
          <a:xfrm xmlns:a="http://schemas.openxmlformats.org/drawingml/2006/main">
            <a:off x="609600" y="514350"/>
            <a:ext cx="109728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3300" b="1">
                <a:solidFill>
                  <a:srgbClr val="122632"/>
                </a:solidFill>
                <a:latin typeface="Arial"/>
                <a:ea typeface="Arial"/>
                <a:cs typeface="Arial"/>
              </a:defRPr>
            </a:defPPr>
          </a:lstStyle>
          <a:p xmlns:a="http://schemas.openxmlformats.org/drawingml/2006/main">
            <a:pPr>
              <a:defRPr sz="3300" b="1">
                <a:solidFill>
                  <a:srgbClr val="122632"/>
                </a:solidFill>
                <a:latin typeface="Arial"/>
                <a:ea typeface="Arial"/>
                <a:cs typeface="Arial"/>
              </a:defRPr>
            </a:pPr>
            <a:r>
              <a:rPr sz="3300" b="1">
                <a:solidFill>
                  <a:srgbClr val="122632"/>
                </a:solidFill>
                <a:latin typeface="Arial"/>
                <a:ea typeface="Arial"/>
                <a:cs typeface="Arial"/>
              </a:rPr>
              <a:t>System design contracts</a:t>
            </a:r>
          </a:p>
        </p:txBody>
      </p:sp>
      <p:sp>
        <p:nvSpPr>
          <p:cNvPr id="2" name="text-2">
            <a:extLst xmlns:a="http://schemas.openxmlformats.org/drawingml/2006/main">
              <a:ext uri="{FF2B5EF4-FFF2-40B4-BE49-F238E27FC236}">
                <a16:creationId xmlns:a16="http://schemas.microsoft.com/office/drawing/2014/main" id="{E8CC3333-76DE-4B5B-88A4-08B11288DA29}"/>
              </a:ext>
            </a:extLst>
          </p:cNvPr>
          <p:cNvSpPr>
            <a:spLocks xmlns:a="http://schemas.openxmlformats.org/drawingml/2006/main" noGrp="1"/>
          </p:cNvSpPr>
          <p:nvPr/>
        </p:nvSpPr>
        <p:spPr>
          <a:xfrm xmlns:a="http://schemas.openxmlformats.org/drawingml/2006/main">
            <a:off x="609600" y="1819275"/>
            <a:ext cx="26670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2100" b="1">
                <a:solidFill>
                  <a:srgbClr val="146B5F"/>
                </a:solidFill>
                <a:latin typeface="Arial"/>
                <a:ea typeface="Arial"/>
                <a:cs typeface="Arial"/>
              </a:defRPr>
            </a:defPPr>
          </a:lstStyle>
          <a:p xmlns:a="http://schemas.openxmlformats.org/drawingml/2006/main">
            <a:pPr>
              <a:defRPr sz="2100" b="1">
                <a:solidFill>
                  <a:srgbClr val="146B5F"/>
                </a:solidFill>
                <a:latin typeface="Arial"/>
                <a:ea typeface="Arial"/>
                <a:cs typeface="Arial"/>
              </a:defRPr>
            </a:pPr>
            <a:r>
              <a:rPr sz="2100" b="1">
                <a:solidFill>
                  <a:srgbClr val="146B5F"/>
                </a:solidFill>
                <a:latin typeface="Arial"/>
                <a:ea typeface="Arial"/>
                <a:cs typeface="Arial"/>
              </a:rPr>
              <a:t>Memory and CPU</a:t>
            </a:r>
          </a:p>
        </p:txBody>
      </p:sp>
      <p:sp>
        <p:nvSpPr>
          <p:cNvPr id="3" name="text-3">
            <a:extLst xmlns:a="http://schemas.openxmlformats.org/drawingml/2006/main">
              <a:ext uri="{FF2B5EF4-FFF2-40B4-BE49-F238E27FC236}">
                <a16:creationId xmlns:a16="http://schemas.microsoft.com/office/drawing/2014/main" id="{7A3D74D4-DAD3-467D-B2BE-E4E01B07D920}"/>
              </a:ext>
            </a:extLst>
          </p:cNvPr>
          <p:cNvSpPr>
            <a:spLocks xmlns:a="http://schemas.openxmlformats.org/drawingml/2006/main" noGrp="1"/>
          </p:cNvSpPr>
          <p:nvPr/>
        </p:nvSpPr>
        <p:spPr>
          <a:xfrm xmlns:a="http://schemas.openxmlformats.org/drawingml/2006/main">
            <a:off x="3524250" y="1819275"/>
            <a:ext cx="78867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2100" b="0">
                <a:solidFill>
                  <a:srgbClr val="122632"/>
                </a:solidFill>
                <a:latin typeface="Arial"/>
                <a:ea typeface="Arial"/>
                <a:cs typeface="Arial"/>
              </a:defRPr>
            </a:defPPr>
          </a:lstStyle>
          <a:p xmlns:a="http://schemas.openxmlformats.org/drawingml/2006/main">
            <a:pPr>
              <a:defRPr sz="2100" b="0">
                <a:solidFill>
                  <a:srgbClr val="122632"/>
                </a:solidFill>
                <a:latin typeface="Arial"/>
                <a:ea typeface="Arial"/>
                <a:cs typeface="Arial"/>
              </a:defRPr>
            </a:pPr>
            <a:r>
              <a:rPr sz="2100" b="0">
                <a:solidFill>
                  <a:srgbClr val="122632"/>
                </a:solidFill>
                <a:latin typeface="Arial"/>
                <a:ea typeface="Arial"/>
                <a:cs typeface="Arial"/>
              </a:rPr>
              <a:t>One x86-64 CPU, private page tables, guarded stacks and integer contexts.</a:t>
            </a:r>
          </a:p>
        </p:txBody>
      </p:sp>
      <p:sp>
        <p:nvSpPr>
          <p:cNvPr id="4" name="text-4">
            <a:extLst xmlns:a="http://schemas.openxmlformats.org/drawingml/2006/main">
              <a:ext uri="{FF2B5EF4-FFF2-40B4-BE49-F238E27FC236}">
                <a16:creationId xmlns:a16="http://schemas.microsoft.com/office/drawing/2014/main" id="{50F14FE8-3F00-46C6-BAEE-79F665EA63A1}"/>
              </a:ext>
            </a:extLst>
          </p:cNvPr>
          <p:cNvSpPr>
            <a:spLocks xmlns:a="http://schemas.openxmlformats.org/drawingml/2006/main" noGrp="1"/>
          </p:cNvSpPr>
          <p:nvPr/>
        </p:nvSpPr>
        <p:spPr>
          <a:xfrm xmlns:a="http://schemas.openxmlformats.org/drawingml/2006/main">
            <a:off x="609600" y="2847975"/>
            <a:ext cx="26670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2100" b="1">
                <a:solidFill>
                  <a:srgbClr val="146B5F"/>
                </a:solidFill>
                <a:latin typeface="Arial"/>
                <a:ea typeface="Arial"/>
                <a:cs typeface="Arial"/>
              </a:defRPr>
            </a:defPPr>
          </a:lstStyle>
          <a:p xmlns:a="http://schemas.openxmlformats.org/drawingml/2006/main">
            <a:pPr>
              <a:defRPr sz="2100" b="1">
                <a:solidFill>
                  <a:srgbClr val="146B5F"/>
                </a:solidFill>
                <a:latin typeface="Arial"/>
                <a:ea typeface="Arial"/>
                <a:cs typeface="Arial"/>
              </a:defRPr>
            </a:pPr>
            <a:r>
              <a:rPr sz="2100" b="1">
                <a:solidFill>
                  <a:srgbClr val="146B5F"/>
                </a:solidFill>
                <a:latin typeface="Arial"/>
                <a:ea typeface="Arial"/>
                <a:cs typeface="Arial"/>
              </a:rPr>
              <a:t>Authority</a:t>
            </a:r>
          </a:p>
        </p:txBody>
      </p:sp>
      <p:sp>
        <p:nvSpPr>
          <p:cNvPr id="5" name="text-5">
            <a:extLst xmlns:a="http://schemas.openxmlformats.org/drawingml/2006/main">
              <a:ext uri="{FF2B5EF4-FFF2-40B4-BE49-F238E27FC236}">
                <a16:creationId xmlns:a16="http://schemas.microsoft.com/office/drawing/2014/main" id="{04F4096E-D433-492A-BB85-1830ADCC6290}"/>
              </a:ext>
            </a:extLst>
          </p:cNvPr>
          <p:cNvSpPr>
            <a:spLocks xmlns:a="http://schemas.openxmlformats.org/drawingml/2006/main" noGrp="1"/>
          </p:cNvSpPr>
          <p:nvPr/>
        </p:nvSpPr>
        <p:spPr>
          <a:xfrm xmlns:a="http://schemas.openxmlformats.org/drawingml/2006/main">
            <a:off x="3524250" y="2847975"/>
            <a:ext cx="78867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2100" b="0">
                <a:solidFill>
                  <a:srgbClr val="122632"/>
                </a:solidFill>
                <a:latin typeface="Arial"/>
                <a:ea typeface="Arial"/>
                <a:cs typeface="Arial"/>
              </a:defRPr>
            </a:defPPr>
          </a:lstStyle>
          <a:p xmlns:a="http://schemas.openxmlformats.org/drawingml/2006/main">
            <a:pPr>
              <a:defRPr sz="2100" b="0">
                <a:solidFill>
                  <a:srgbClr val="122632"/>
                </a:solidFill>
                <a:latin typeface="Arial"/>
                <a:ea typeface="Arial"/>
                <a:cs typeface="Arial"/>
              </a:defRPr>
            </a:pPr>
            <a:r>
              <a:rPr sz="2100" b="0">
                <a:solidFill>
                  <a:srgbClr val="122632"/>
                </a:solidFill>
                <a:latin typeface="Arial"/>
                <a:ea typeface="Arial"/>
                <a:cs typeface="Arial"/>
              </a:rPr>
              <a:t>Kernel-owned per-task tables, typed rights, generation handles and checked buffers.</a:t>
            </a:r>
          </a:p>
        </p:txBody>
      </p:sp>
      <p:sp>
        <p:nvSpPr>
          <p:cNvPr id="6" name="text-6">
            <a:extLst xmlns:a="http://schemas.openxmlformats.org/drawingml/2006/main">
              <a:ext uri="{FF2B5EF4-FFF2-40B4-BE49-F238E27FC236}">
                <a16:creationId xmlns:a16="http://schemas.microsoft.com/office/drawing/2014/main" id="{9B2B84A3-5F6B-436F-A42F-A589CA81F84D}"/>
              </a:ext>
            </a:extLst>
          </p:cNvPr>
          <p:cNvSpPr>
            <a:spLocks xmlns:a="http://schemas.openxmlformats.org/drawingml/2006/main" noGrp="1"/>
          </p:cNvSpPr>
          <p:nvPr/>
        </p:nvSpPr>
        <p:spPr>
          <a:xfrm xmlns:a="http://schemas.openxmlformats.org/drawingml/2006/main">
            <a:off x="609600" y="3876675"/>
            <a:ext cx="26670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2100" b="1">
                <a:solidFill>
                  <a:srgbClr val="146B5F"/>
                </a:solidFill>
                <a:latin typeface="Arial"/>
                <a:ea typeface="Arial"/>
                <a:cs typeface="Arial"/>
              </a:defRPr>
            </a:defPPr>
          </a:lstStyle>
          <a:p xmlns:a="http://schemas.openxmlformats.org/drawingml/2006/main">
            <a:pPr>
              <a:defRPr sz="2100" b="1">
                <a:solidFill>
                  <a:srgbClr val="146B5F"/>
                </a:solidFill>
                <a:latin typeface="Arial"/>
                <a:ea typeface="Arial"/>
                <a:cs typeface="Arial"/>
              </a:defRPr>
            </a:pPr>
            <a:r>
              <a:rPr sz="2100" b="1">
                <a:solidFill>
                  <a:srgbClr val="146B5F"/>
                </a:solidFill>
                <a:latin typeface="Arial"/>
                <a:ea typeface="Arial"/>
                <a:cs typeface="Arial"/>
              </a:rPr>
              <a:t>Storage</a:t>
            </a:r>
          </a:p>
        </p:txBody>
      </p:sp>
      <p:sp>
        <p:nvSpPr>
          <p:cNvPr id="7" name="text-7">
            <a:extLst xmlns:a="http://schemas.openxmlformats.org/drawingml/2006/main">
              <a:ext uri="{FF2B5EF4-FFF2-40B4-BE49-F238E27FC236}">
                <a16:creationId xmlns:a16="http://schemas.microsoft.com/office/drawing/2014/main" id="{EFA3AA17-192D-44CD-8B26-CB49C7358B11}"/>
              </a:ext>
            </a:extLst>
          </p:cNvPr>
          <p:cNvSpPr>
            <a:spLocks xmlns:a="http://schemas.openxmlformats.org/drawingml/2006/main" noGrp="1"/>
          </p:cNvSpPr>
          <p:nvPr/>
        </p:nvSpPr>
        <p:spPr>
          <a:xfrm xmlns:a="http://schemas.openxmlformats.org/drawingml/2006/main">
            <a:off x="3524250" y="3876675"/>
            <a:ext cx="78867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2100" b="0">
                <a:solidFill>
                  <a:srgbClr val="122632"/>
                </a:solidFill>
                <a:latin typeface="Arial"/>
                <a:ea typeface="Arial"/>
                <a:cs typeface="Arial"/>
              </a:defRPr>
            </a:defPPr>
          </a:lstStyle>
          <a:p xmlns:a="http://schemas.openxmlformats.org/drawingml/2006/main">
            <a:pPr>
              <a:defRPr sz="2100" b="0">
                <a:solidFill>
                  <a:srgbClr val="122632"/>
                </a:solidFill>
                <a:latin typeface="Arial"/>
                <a:ea typeface="Arial"/>
                <a:cs typeface="Arial"/>
              </a:defRPr>
            </a:pPr>
            <a:r>
              <a:rPr sz="2100" b="0">
                <a:solidFill>
                  <a:srgbClr val="122632"/>
                </a:solidFill>
                <a:latin typeface="Arial"/>
                <a:ea typeface="Arial"/>
                <a:cs typeface="Arial"/>
              </a:rPr>
              <a:t>Dedicated 16-MiB disk, immutable roots and explicit flush ordering.</a:t>
            </a:r>
          </a:p>
        </p:txBody>
      </p:sp>
      <p:sp>
        <p:nvSpPr>
          <p:cNvPr id="8" name="text-8">
            <a:extLst xmlns:a="http://schemas.openxmlformats.org/drawingml/2006/main">
              <a:ext uri="{FF2B5EF4-FFF2-40B4-BE49-F238E27FC236}">
                <a16:creationId xmlns:a16="http://schemas.microsoft.com/office/drawing/2014/main" id="{BC172071-AEA9-452D-9B57-927027C0B967}"/>
              </a:ext>
            </a:extLst>
          </p:cNvPr>
          <p:cNvSpPr>
            <a:spLocks xmlns:a="http://schemas.openxmlformats.org/drawingml/2006/main" noGrp="1"/>
          </p:cNvSpPr>
          <p:nvPr/>
        </p:nvSpPr>
        <p:spPr>
          <a:xfrm xmlns:a="http://schemas.openxmlformats.org/drawingml/2006/main">
            <a:off x="609600" y="4905375"/>
            <a:ext cx="26670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2100" b="1">
                <a:solidFill>
                  <a:srgbClr val="146B5F"/>
                </a:solidFill>
                <a:latin typeface="Arial"/>
                <a:ea typeface="Arial"/>
                <a:cs typeface="Arial"/>
              </a:defRPr>
            </a:defPPr>
          </a:lstStyle>
          <a:p xmlns:a="http://schemas.openxmlformats.org/drawingml/2006/main">
            <a:pPr>
              <a:defRPr sz="2100" b="1">
                <a:solidFill>
                  <a:srgbClr val="146B5F"/>
                </a:solidFill>
                <a:latin typeface="Arial"/>
                <a:ea typeface="Arial"/>
                <a:cs typeface="Arial"/>
              </a:defRPr>
            </a:pPr>
            <a:r>
              <a:rPr sz="2100" b="1">
                <a:solidFill>
                  <a:srgbClr val="146B5F"/>
                </a:solidFill>
                <a:latin typeface="Arial"/>
                <a:ea typeface="Arial"/>
                <a:cs typeface="Arial"/>
              </a:rPr>
              <a:t>Wasm execution</a:t>
            </a:r>
          </a:p>
        </p:txBody>
      </p:sp>
      <p:sp>
        <p:nvSpPr>
          <p:cNvPr id="9" name="text-9">
            <a:extLst xmlns:a="http://schemas.openxmlformats.org/drawingml/2006/main">
              <a:ext uri="{FF2B5EF4-FFF2-40B4-BE49-F238E27FC236}">
                <a16:creationId xmlns:a16="http://schemas.microsoft.com/office/drawing/2014/main" id="{5FC53074-F600-4FDD-9354-4D583555D7C5}"/>
              </a:ext>
            </a:extLst>
          </p:cNvPr>
          <p:cNvSpPr>
            <a:spLocks xmlns:a="http://schemas.openxmlformats.org/drawingml/2006/main" noGrp="1"/>
          </p:cNvSpPr>
          <p:nvPr/>
        </p:nvSpPr>
        <p:spPr>
          <a:xfrm xmlns:a="http://schemas.openxmlformats.org/drawingml/2006/main">
            <a:off x="3524250" y="4905375"/>
            <a:ext cx="78867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2100" b="0">
                <a:solidFill>
                  <a:srgbClr val="122632"/>
                </a:solidFill>
                <a:latin typeface="Arial"/>
                <a:ea typeface="Arial"/>
                <a:cs typeface="Arial"/>
              </a:defRPr>
            </a:defPPr>
          </a:lstStyle>
          <a:p xmlns:a="http://schemas.openxmlformats.org/drawingml/2006/main">
            <a:pPr>
              <a:defRPr sz="2100" b="0">
                <a:solidFill>
                  <a:srgbClr val="122632"/>
                </a:solidFill>
                <a:latin typeface="Arial"/>
                <a:ea typeface="Arial"/>
                <a:cs typeface="Arial"/>
              </a:defRPr>
            </a:pPr>
            <a:r>
              <a:rPr sz="2100" b="0">
                <a:solidFill>
                  <a:srgbClr val="122632"/>
                </a:solidFill>
                <a:latin typeface="Arial"/>
                <a:ea typeface="Arial"/>
                <a:cs typeface="Arial"/>
              </a:rPr>
              <a:t>One admitted integer fixture, 64-KiB memory and 10,000 fuel per request.</a:t>
            </a:r>
          </a:p>
        </p:txBody>
      </p:sp>
      <p:sp>
        <p:nvSpPr>
          <p:cNvPr id="10" name="text-10">
            <a:extLst xmlns:a="http://schemas.openxmlformats.org/drawingml/2006/main">
              <a:ext uri="{FF2B5EF4-FFF2-40B4-BE49-F238E27FC236}">
                <a16:creationId xmlns:a16="http://schemas.microsoft.com/office/drawing/2014/main" id="{BD9043FB-823C-473D-8C5D-BC1A3D95C260}"/>
              </a:ext>
            </a:extLst>
          </p:cNvPr>
          <p:cNvSpPr>
            <a:spLocks xmlns:a="http://schemas.openxmlformats.org/drawingml/2006/main" noGrp="1"/>
          </p:cNvSpPr>
          <p:nvPr/>
        </p:nvSpPr>
        <p:spPr>
          <a:xfrm xmlns:a="http://schemas.openxmlformats.org/drawingml/2006/main">
            <a:off x="609600" y="6486525"/>
            <a:ext cx="109728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1200" b="0">
                <a:solidFill>
                  <a:srgbClr val="58656A"/>
                </a:solidFill>
                <a:latin typeface="Arial"/>
                <a:ea typeface="Arial"/>
                <a:cs typeface="Arial"/>
              </a:defRPr>
            </a:defPPr>
          </a:lstStyle>
          <a:p xmlns:a="http://schemas.openxmlformats.org/drawingml/2006/main">
            <a:pPr>
              <a:defRPr sz="1200" b="0">
                <a:solidFill>
                  <a:srgbClr val="58656A"/>
                </a:solidFill>
                <a:latin typeface="Arial"/>
                <a:ea typeface="Arial"/>
                <a:cs typeface="Arial"/>
              </a:defRPr>
            </a:pPr>
            <a:r>
              <a:rPr sz="1200" b="0">
                <a:solidFill>
                  <a:srgbClr val="58656A"/>
                </a:solidFill>
                <a:latin typeface="Arial"/>
                <a:ea typeface="Arial"/>
                <a:cs typeface="Arial"/>
              </a:rPr>
              <a:t>08 / 24     The narrow profile makes state, authority and failure behavior observable.</a:t>
            </a:r>
          </a:p>
        </p:txBody>
      </p:sp>
    </p:spTree>
    <p:extLst>
      <p:ext uri="{BB962C8B-B14F-4D97-AF65-F5344CB8AC3E}">
        <p14:creationId xmlns:p14="http://schemas.microsoft.com/office/powerpoint/2010/main" val="1273433822"/>
      </p:ext>
    </p:extLst>
  </p:cSld>
</p:sld>
</file>

<file path=ppt/slides/slide9.xml><?xml version="1.0" encoding="utf-8"?>
<p:sld xmlns:p="http://schemas.openxmlformats.org/presentationml/2006/main">
  <p:cSld>
    <p:bg>
      <p:bgPr>
        <a:solidFill xmlns:a="http://schemas.openxmlformats.org/drawingml/2006/main">
          <a:srgbClr val="F6F4EE"/>
        </a:solidFill>
      </p:bgPr>
    </p:bg>
    <p:spTree>
      <p:nvGrpSpPr>
        <p:cNvPr id="1" name=""/>
        <p:cNvGrpSpPr/>
        <p:nvPr/>
      </p:nvGrpSpPr>
      <p:grpSpPr>
        <a:xfrm xmlns:a="http://schemas.openxmlformats.org/drawingml/2006/main"/>
      </p:grpSpPr>
      <p:sp>
        <p:nvSpPr>
          <p:cNvPr id="17" name="text-1">
            <a:extLst xmlns:a="http://schemas.openxmlformats.org/drawingml/2006/main">
              <a:ext uri="{FF2B5EF4-FFF2-40B4-BE49-F238E27FC236}">
                <a16:creationId xmlns:a16="http://schemas.microsoft.com/office/drawing/2014/main" id="{8DE5D57E-929D-44B7-949D-1D03A51F0457}"/>
              </a:ext>
            </a:extLst>
          </p:cNvPr>
          <p:cNvSpPr>
            <a:spLocks xmlns:a="http://schemas.openxmlformats.org/drawingml/2006/main" noGrp="1"/>
          </p:cNvSpPr>
          <p:nvPr/>
        </p:nvSpPr>
        <p:spPr>
          <a:xfrm xmlns:a="http://schemas.openxmlformats.org/drawingml/2006/main">
            <a:off x="609600" y="514350"/>
            <a:ext cx="109728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3300" b="1">
                <a:solidFill>
                  <a:srgbClr val="122632"/>
                </a:solidFill>
                <a:latin typeface="Arial"/>
                <a:ea typeface="Arial"/>
                <a:cs typeface="Arial"/>
              </a:defRPr>
            </a:defPPr>
          </a:lstStyle>
          <a:p xmlns:a="http://schemas.openxmlformats.org/drawingml/2006/main">
            <a:pPr>
              <a:defRPr sz="3300" b="1">
                <a:solidFill>
                  <a:srgbClr val="122632"/>
                </a:solidFill>
                <a:latin typeface="Arial"/>
                <a:ea typeface="Arial"/>
                <a:cs typeface="Arial"/>
              </a:defRPr>
            </a:pPr>
            <a:r>
              <a:rPr sz="3300" b="1">
                <a:solidFill>
                  <a:srgbClr val="122632"/>
                </a:solidFill>
                <a:latin typeface="Arial"/>
                <a:ea typeface="Arial"/>
                <a:cs typeface="Arial"/>
              </a:rPr>
              <a:t>Algorithm: scheduling and IPC</a:t>
            </a:r>
          </a:p>
        </p:txBody>
      </p:sp>
      <p:sp>
        <p:nvSpPr>
          <p:cNvPr id="2" name="text-2">
            <a:extLst xmlns:a="http://schemas.openxmlformats.org/drawingml/2006/main">
              <a:ext uri="{FF2B5EF4-FFF2-40B4-BE49-F238E27FC236}">
                <a16:creationId xmlns:a16="http://schemas.microsoft.com/office/drawing/2014/main" id="{CFDAF8F5-229B-4F16-B0F3-F0658E2D37ED}"/>
              </a:ext>
            </a:extLst>
          </p:cNvPr>
          <p:cNvSpPr>
            <a:spLocks xmlns:a="http://schemas.openxmlformats.org/drawingml/2006/main" noGrp="1"/>
          </p:cNvSpPr>
          <p:nvPr/>
        </p:nvSpPr>
        <p:spPr>
          <a:xfrm xmlns:a="http://schemas.openxmlformats.org/drawingml/2006/main">
            <a:off x="609600" y="1676400"/>
            <a:ext cx="466725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2100" b="1">
                <a:solidFill>
                  <a:srgbClr val="146B5F"/>
                </a:solidFill>
                <a:latin typeface="Arial"/>
                <a:ea typeface="Arial"/>
                <a:cs typeface="Arial"/>
              </a:defRPr>
            </a:defPPr>
          </a:lstStyle>
          <a:p xmlns:a="http://schemas.openxmlformats.org/drawingml/2006/main">
            <a:pPr>
              <a:defRPr sz="2100" b="1">
                <a:solidFill>
                  <a:srgbClr val="146B5F"/>
                </a:solidFill>
                <a:latin typeface="Arial"/>
                <a:ea typeface="Arial"/>
                <a:cs typeface="Arial"/>
              </a:defRPr>
            </a:pPr>
            <a:r>
              <a:rPr sz="2100" b="1">
                <a:solidFill>
                  <a:srgbClr val="146B5F"/>
                </a:solidFill>
                <a:latin typeface="Arial"/>
                <a:ea typeface="Arial"/>
                <a:cs typeface="Arial"/>
              </a:rPr>
              <a:t>Timer or blocking syscall</a:t>
            </a:r>
          </a:p>
        </p:txBody>
      </p:sp>
      <p:sp>
        <p:nvSpPr>
          <p:cNvPr id="3" name="diagram-3">
            <a:extLst xmlns:a="http://schemas.openxmlformats.org/drawingml/2006/main">
              <a:ext uri="{FF2B5EF4-FFF2-40B4-BE49-F238E27FC236}">
                <a16:creationId xmlns:a16="http://schemas.microsoft.com/office/drawing/2014/main" id="{8222A67D-59BF-49DB-A2DE-0481FF159389}"/>
              </a:ext>
            </a:extLst>
          </p:cNvPr>
          <p:cNvSpPr>
            <a:spLocks xmlns:a="http://schemas.openxmlformats.org/drawingml/2006/main" noGrp="1"/>
          </p:cNvSpPr>
          <p:nvPr/>
        </p:nvSpPr>
        <p:spPr>
          <a:xfrm xmlns:a="http://schemas.openxmlformats.org/drawingml/2006/main">
            <a:off x="609600" y="2266950"/>
            <a:ext cx="4857750" cy="742950"/>
          </a:xfrm>
          <a:prstGeom xmlns:a="http://schemas.openxmlformats.org/drawingml/2006/main" prst="rect">
            <a:avLst/>
          </a:prstGeom>
          <a:solidFill xmlns:a="http://schemas.openxmlformats.org/drawingml/2006/main">
            <a:srgbClr val="FCFCF8"/>
          </a:solidFill>
          <a:ln xmlns:a="http://schemas.openxmlformats.org/drawingml/2006/main" w="14288">
            <a:solidFill>
              <a:srgbClr val="146B5F"/>
            </a:solidFill>
          </a:ln>
        </p:spPr>
        <p:txBody>
          <a:bodyPr xmlns:a="http://schemas.openxmlformats.org/drawingml/2006/main" wrap="square" lIns="95250" tIns="95250" rIns="95250" bIns="95250" anchor="ctr"/>
          <a:lstStyle xmlns:a="http://schemas.openxmlformats.org/drawingml/2006/main">
            <a:defPPr algn="ctr">
              <a:defRPr sz="1950" b="0">
                <a:solidFill>
                  <a:srgbClr val="122632"/>
                </a:solidFill>
                <a:latin typeface="Arial"/>
                <a:ea typeface="Arial"/>
                <a:cs typeface="Arial"/>
              </a:defRPr>
            </a:defPPr>
          </a:lstStyle>
          <a:p xmlns:a="http://schemas.openxmlformats.org/drawingml/2006/main">
            <a:pPr algn="ctr">
              <a:defRPr sz="1950" b="0">
                <a:solidFill>
                  <a:srgbClr val="122632"/>
                </a:solidFill>
                <a:latin typeface="Arial"/>
                <a:ea typeface="Arial"/>
                <a:cs typeface="Arial"/>
              </a:defRPr>
            </a:pPr>
            <a:r>
              <a:rPr sz="1950" b="0">
                <a:solidFill>
                  <a:srgbClr val="122632"/>
                </a:solidFill>
                <a:latin typeface="Arial"/>
                <a:ea typeface="Arial"/>
                <a:cs typeface="Arial"/>
              </a:rPr>
              <a:t>Save the current task context</a:t>
            </a:r>
          </a:p>
        </p:txBody>
      </p:sp>
      <p:sp>
        <p:nvSpPr>
          <p:cNvPr id="4" name="flow-4">
            <a:extLst xmlns:a="http://schemas.openxmlformats.org/drawingml/2006/main">
              <a:ext uri="{FF2B5EF4-FFF2-40B4-BE49-F238E27FC236}">
                <a16:creationId xmlns:a16="http://schemas.microsoft.com/office/drawing/2014/main" id="{E7ABBB10-F869-4884-9617-17305BB88CD8}"/>
              </a:ext>
            </a:extLst>
          </p:cNvPr>
          <p:cNvSpPr>
            <a:spLocks xmlns:a="http://schemas.openxmlformats.org/drawingml/2006/main" noGrp="1"/>
          </p:cNvSpPr>
          <p:nvPr/>
        </p:nvSpPr>
        <p:spPr>
          <a:xfrm xmlns:a="http://schemas.openxmlformats.org/drawingml/2006/main">
            <a:off x="2924175" y="3086100"/>
            <a:ext cx="228600" cy="266700"/>
          </a:xfrm>
          <a:prstGeom xmlns:a="http://schemas.openxmlformats.org/drawingml/2006/main" prst="downArrow">
            <a:avLst/>
          </a:prstGeom>
          <a:solidFill xmlns:a="http://schemas.openxmlformats.org/drawingml/2006/main">
            <a:srgbClr val="146B5F"/>
          </a:solidFill>
          <a:ln xmlns:a="http://schemas.openxmlformats.org/drawingml/2006/main" w="0">
            <a:noFill/>
          </a:ln>
        </p:spPr>
      </p:sp>
      <p:sp>
        <p:nvSpPr>
          <p:cNvPr id="5" name="diagram-5">
            <a:extLst xmlns:a="http://schemas.openxmlformats.org/drawingml/2006/main">
              <a:ext uri="{FF2B5EF4-FFF2-40B4-BE49-F238E27FC236}">
                <a16:creationId xmlns:a16="http://schemas.microsoft.com/office/drawing/2014/main" id="{1097914F-4988-41FE-ADD3-73025308D5A9}"/>
              </a:ext>
            </a:extLst>
          </p:cNvPr>
          <p:cNvSpPr>
            <a:spLocks xmlns:a="http://schemas.openxmlformats.org/drawingml/2006/main" noGrp="1"/>
          </p:cNvSpPr>
          <p:nvPr/>
        </p:nvSpPr>
        <p:spPr>
          <a:xfrm xmlns:a="http://schemas.openxmlformats.org/drawingml/2006/main">
            <a:off x="609600" y="3419475"/>
            <a:ext cx="4857750" cy="742950"/>
          </a:xfrm>
          <a:prstGeom xmlns:a="http://schemas.openxmlformats.org/drawingml/2006/main" prst="rect">
            <a:avLst/>
          </a:prstGeom>
          <a:solidFill xmlns:a="http://schemas.openxmlformats.org/drawingml/2006/main">
            <a:srgbClr val="FCFCF8"/>
          </a:solidFill>
          <a:ln xmlns:a="http://schemas.openxmlformats.org/drawingml/2006/main" w="14288">
            <a:solidFill>
              <a:srgbClr val="146B5F"/>
            </a:solidFill>
          </a:ln>
        </p:spPr>
        <p:txBody>
          <a:bodyPr xmlns:a="http://schemas.openxmlformats.org/drawingml/2006/main" wrap="square" lIns="95250" tIns="95250" rIns="95250" bIns="95250" anchor="ctr"/>
          <a:lstStyle xmlns:a="http://schemas.openxmlformats.org/drawingml/2006/main">
            <a:defPPr algn="ctr">
              <a:defRPr sz="1950" b="0">
                <a:solidFill>
                  <a:srgbClr val="122632"/>
                </a:solidFill>
                <a:latin typeface="Arial"/>
                <a:ea typeface="Arial"/>
                <a:cs typeface="Arial"/>
              </a:defRPr>
            </a:defPPr>
          </a:lstStyle>
          <a:p xmlns:a="http://schemas.openxmlformats.org/drawingml/2006/main">
            <a:pPr algn="ctr">
              <a:defRPr sz="1950" b="0">
                <a:solidFill>
                  <a:srgbClr val="122632"/>
                </a:solidFill>
                <a:latin typeface="Arial"/>
                <a:ea typeface="Arial"/>
                <a:cs typeface="Arial"/>
              </a:defRPr>
            </a:pPr>
            <a:r>
              <a:rPr sz="1950" b="0">
                <a:solidFill>
                  <a:srgbClr val="122632"/>
                </a:solidFill>
                <a:latin typeface="Arial"/>
                <a:ea typeface="Arial"/>
                <a:cs typeface="Arial"/>
              </a:rPr>
              <a:t>Wake sleepers; select a ready task</a:t>
            </a:r>
          </a:p>
        </p:txBody>
      </p:sp>
      <p:sp>
        <p:nvSpPr>
          <p:cNvPr id="6" name="flow-6">
            <a:extLst xmlns:a="http://schemas.openxmlformats.org/drawingml/2006/main">
              <a:ext uri="{FF2B5EF4-FFF2-40B4-BE49-F238E27FC236}">
                <a16:creationId xmlns:a16="http://schemas.microsoft.com/office/drawing/2014/main" id="{BB5F55D9-408A-4D97-BC0A-FC87AD870002}"/>
              </a:ext>
            </a:extLst>
          </p:cNvPr>
          <p:cNvSpPr>
            <a:spLocks xmlns:a="http://schemas.openxmlformats.org/drawingml/2006/main" noGrp="1"/>
          </p:cNvSpPr>
          <p:nvPr/>
        </p:nvSpPr>
        <p:spPr>
          <a:xfrm xmlns:a="http://schemas.openxmlformats.org/drawingml/2006/main">
            <a:off x="2924175" y="4238625"/>
            <a:ext cx="228600" cy="266700"/>
          </a:xfrm>
          <a:prstGeom xmlns:a="http://schemas.openxmlformats.org/drawingml/2006/main" prst="downArrow">
            <a:avLst/>
          </a:prstGeom>
          <a:solidFill xmlns:a="http://schemas.openxmlformats.org/drawingml/2006/main">
            <a:srgbClr val="146B5F"/>
          </a:solidFill>
          <a:ln xmlns:a="http://schemas.openxmlformats.org/drawingml/2006/main" w="0">
            <a:noFill/>
          </a:ln>
        </p:spPr>
      </p:sp>
      <p:sp>
        <p:nvSpPr>
          <p:cNvPr id="7" name="diagram-7">
            <a:extLst xmlns:a="http://schemas.openxmlformats.org/drawingml/2006/main">
              <a:ext uri="{FF2B5EF4-FFF2-40B4-BE49-F238E27FC236}">
                <a16:creationId xmlns:a16="http://schemas.microsoft.com/office/drawing/2014/main" id="{B39668DA-4D79-400D-8B65-3BEE7EFFB478}"/>
              </a:ext>
            </a:extLst>
          </p:cNvPr>
          <p:cNvSpPr>
            <a:spLocks xmlns:a="http://schemas.openxmlformats.org/drawingml/2006/main" noGrp="1"/>
          </p:cNvSpPr>
          <p:nvPr/>
        </p:nvSpPr>
        <p:spPr>
          <a:xfrm xmlns:a="http://schemas.openxmlformats.org/drawingml/2006/main">
            <a:off x="609600" y="4572000"/>
            <a:ext cx="4857750" cy="742950"/>
          </a:xfrm>
          <a:prstGeom xmlns:a="http://schemas.openxmlformats.org/drawingml/2006/main" prst="rect">
            <a:avLst/>
          </a:prstGeom>
          <a:solidFill xmlns:a="http://schemas.openxmlformats.org/drawingml/2006/main">
            <a:srgbClr val="FCFCF8"/>
          </a:solidFill>
          <a:ln xmlns:a="http://schemas.openxmlformats.org/drawingml/2006/main" w="14288">
            <a:solidFill>
              <a:srgbClr val="146B5F"/>
            </a:solidFill>
          </a:ln>
        </p:spPr>
        <p:txBody>
          <a:bodyPr xmlns:a="http://schemas.openxmlformats.org/drawingml/2006/main" wrap="square" lIns="95250" tIns="95250" rIns="95250" bIns="95250" anchor="ctr"/>
          <a:lstStyle xmlns:a="http://schemas.openxmlformats.org/drawingml/2006/main">
            <a:defPPr algn="ctr">
              <a:defRPr sz="1950" b="0">
                <a:solidFill>
                  <a:srgbClr val="122632"/>
                </a:solidFill>
                <a:latin typeface="Arial"/>
                <a:ea typeface="Arial"/>
                <a:cs typeface="Arial"/>
              </a:defRPr>
            </a:defPPr>
          </a:lstStyle>
          <a:p xmlns:a="http://schemas.openxmlformats.org/drawingml/2006/main">
            <a:pPr algn="ctr">
              <a:defRPr sz="1950" b="0">
                <a:solidFill>
                  <a:srgbClr val="122632"/>
                </a:solidFill>
                <a:latin typeface="Arial"/>
                <a:ea typeface="Arial"/>
                <a:cs typeface="Arial"/>
              </a:defRPr>
            </a:pPr>
            <a:r>
              <a:rPr sz="1950" b="0">
                <a:solidFill>
                  <a:srgbClr val="122632"/>
                </a:solidFill>
                <a:latin typeface="Arial"/>
                <a:ea typeface="Arial"/>
                <a:cs typeface="Arial"/>
              </a:rPr>
              <a:t>Switch page table and restore context</a:t>
            </a:r>
          </a:p>
        </p:txBody>
      </p:sp>
      <p:sp>
        <p:nvSpPr>
          <p:cNvPr id="8" name="text-8">
            <a:extLst xmlns:a="http://schemas.openxmlformats.org/drawingml/2006/main">
              <a:ext uri="{FF2B5EF4-FFF2-40B4-BE49-F238E27FC236}">
                <a16:creationId xmlns:a16="http://schemas.microsoft.com/office/drawing/2014/main" id="{FCABE296-77AE-4168-823A-8669BD4429E2}"/>
              </a:ext>
            </a:extLst>
          </p:cNvPr>
          <p:cNvSpPr>
            <a:spLocks xmlns:a="http://schemas.openxmlformats.org/drawingml/2006/main" noGrp="1"/>
          </p:cNvSpPr>
          <p:nvPr/>
        </p:nvSpPr>
        <p:spPr>
          <a:xfrm xmlns:a="http://schemas.openxmlformats.org/drawingml/2006/main">
            <a:off x="6334125" y="1676400"/>
            <a:ext cx="476250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2100" b="1">
                <a:solidFill>
                  <a:srgbClr val="146B5F"/>
                </a:solidFill>
                <a:latin typeface="Arial"/>
                <a:ea typeface="Arial"/>
                <a:cs typeface="Arial"/>
              </a:defRPr>
            </a:defPPr>
          </a:lstStyle>
          <a:p xmlns:a="http://schemas.openxmlformats.org/drawingml/2006/main">
            <a:pPr>
              <a:defRPr sz="2100" b="1">
                <a:solidFill>
                  <a:srgbClr val="146B5F"/>
                </a:solidFill>
                <a:latin typeface="Arial"/>
                <a:ea typeface="Arial"/>
                <a:cs typeface="Arial"/>
              </a:defRPr>
            </a:pPr>
            <a:r>
              <a:rPr sz="2100" b="1">
                <a:solidFill>
                  <a:srgbClr val="146B5F"/>
                </a:solidFill>
                <a:latin typeface="Arial"/>
                <a:ea typeface="Arial"/>
                <a:cs typeface="Arial"/>
              </a:rPr>
              <a:t>Capability IPC</a:t>
            </a:r>
          </a:p>
        </p:txBody>
      </p:sp>
      <p:sp>
        <p:nvSpPr>
          <p:cNvPr id="9" name="diagram-9">
            <a:extLst xmlns:a="http://schemas.openxmlformats.org/drawingml/2006/main">
              <a:ext uri="{FF2B5EF4-FFF2-40B4-BE49-F238E27FC236}">
                <a16:creationId xmlns:a16="http://schemas.microsoft.com/office/drawing/2014/main" id="{9E3FFF7F-EDE5-4129-933E-AFB4927D2E50}"/>
              </a:ext>
            </a:extLst>
          </p:cNvPr>
          <p:cNvSpPr>
            <a:spLocks xmlns:a="http://schemas.openxmlformats.org/drawingml/2006/main" noGrp="1"/>
          </p:cNvSpPr>
          <p:nvPr/>
        </p:nvSpPr>
        <p:spPr>
          <a:xfrm xmlns:a="http://schemas.openxmlformats.org/drawingml/2006/main">
            <a:off x="6324600" y="2266950"/>
            <a:ext cx="5257800" cy="742950"/>
          </a:xfrm>
          <a:prstGeom xmlns:a="http://schemas.openxmlformats.org/drawingml/2006/main" prst="rect">
            <a:avLst/>
          </a:prstGeom>
          <a:solidFill xmlns:a="http://schemas.openxmlformats.org/drawingml/2006/main">
            <a:srgbClr val="FCFCF8"/>
          </a:solidFill>
          <a:ln xmlns:a="http://schemas.openxmlformats.org/drawingml/2006/main" w="14288">
            <a:solidFill>
              <a:srgbClr val="146B5F"/>
            </a:solidFill>
          </a:ln>
        </p:spPr>
        <p:txBody>
          <a:bodyPr xmlns:a="http://schemas.openxmlformats.org/drawingml/2006/main" wrap="square" lIns="95250" tIns="95250" rIns="95250" bIns="95250" anchor="ctr"/>
          <a:lstStyle xmlns:a="http://schemas.openxmlformats.org/drawingml/2006/main">
            <a:defPPr algn="ctr">
              <a:defRPr sz="1950" b="0">
                <a:solidFill>
                  <a:srgbClr val="122632"/>
                </a:solidFill>
                <a:latin typeface="Arial"/>
                <a:ea typeface="Arial"/>
                <a:cs typeface="Arial"/>
              </a:defRPr>
            </a:defPPr>
          </a:lstStyle>
          <a:p xmlns:a="http://schemas.openxmlformats.org/drawingml/2006/main">
            <a:pPr algn="ctr">
              <a:defRPr sz="1950" b="0">
                <a:solidFill>
                  <a:srgbClr val="122632"/>
                </a:solidFill>
                <a:latin typeface="Arial"/>
                <a:ea typeface="Arial"/>
                <a:cs typeface="Arial"/>
              </a:defRPr>
            </a:pPr>
            <a:r>
              <a:rPr sz="1950" b="0">
                <a:solidFill>
                  <a:srgbClr val="122632"/>
                </a:solidFill>
                <a:latin typeface="Arial"/>
                <a:ea typeface="Arial"/>
                <a:cs typeface="Arial"/>
              </a:rPr>
              <a:t>Resolve caller authority and buffer</a:t>
            </a:r>
          </a:p>
        </p:txBody>
      </p:sp>
      <p:sp>
        <p:nvSpPr>
          <p:cNvPr id="10" name="flow-10">
            <a:extLst xmlns:a="http://schemas.openxmlformats.org/drawingml/2006/main">
              <a:ext uri="{FF2B5EF4-FFF2-40B4-BE49-F238E27FC236}">
                <a16:creationId xmlns:a16="http://schemas.microsoft.com/office/drawing/2014/main" id="{30527C88-B6BF-4F9A-ADD6-77EF077AE331}"/>
              </a:ext>
            </a:extLst>
          </p:cNvPr>
          <p:cNvSpPr>
            <a:spLocks xmlns:a="http://schemas.openxmlformats.org/drawingml/2006/main" noGrp="1"/>
          </p:cNvSpPr>
          <p:nvPr/>
        </p:nvSpPr>
        <p:spPr>
          <a:xfrm xmlns:a="http://schemas.openxmlformats.org/drawingml/2006/main">
            <a:off x="8839200" y="3086100"/>
            <a:ext cx="228600" cy="266700"/>
          </a:xfrm>
          <a:prstGeom xmlns:a="http://schemas.openxmlformats.org/drawingml/2006/main" prst="downArrow">
            <a:avLst/>
          </a:prstGeom>
          <a:solidFill xmlns:a="http://schemas.openxmlformats.org/drawingml/2006/main">
            <a:srgbClr val="146B5F"/>
          </a:solidFill>
          <a:ln xmlns:a="http://schemas.openxmlformats.org/drawingml/2006/main" w="0">
            <a:noFill/>
          </a:ln>
        </p:spPr>
      </p:sp>
      <p:sp>
        <p:nvSpPr>
          <p:cNvPr id="11" name="diagram-11">
            <a:extLst xmlns:a="http://schemas.openxmlformats.org/drawingml/2006/main">
              <a:ext uri="{FF2B5EF4-FFF2-40B4-BE49-F238E27FC236}">
                <a16:creationId xmlns:a16="http://schemas.microsoft.com/office/drawing/2014/main" id="{5D5409F6-D72C-4B80-8A26-FC37DE279C9C}"/>
              </a:ext>
            </a:extLst>
          </p:cNvPr>
          <p:cNvSpPr>
            <a:spLocks xmlns:a="http://schemas.openxmlformats.org/drawingml/2006/main" noGrp="1"/>
          </p:cNvSpPr>
          <p:nvPr/>
        </p:nvSpPr>
        <p:spPr>
          <a:xfrm xmlns:a="http://schemas.openxmlformats.org/drawingml/2006/main">
            <a:off x="6324600" y="3419475"/>
            <a:ext cx="5257800" cy="742950"/>
          </a:xfrm>
          <a:prstGeom xmlns:a="http://schemas.openxmlformats.org/drawingml/2006/main" prst="rect">
            <a:avLst/>
          </a:prstGeom>
          <a:solidFill xmlns:a="http://schemas.openxmlformats.org/drawingml/2006/main">
            <a:srgbClr val="FCFCF8"/>
          </a:solidFill>
          <a:ln xmlns:a="http://schemas.openxmlformats.org/drawingml/2006/main" w="14288">
            <a:solidFill>
              <a:srgbClr val="146B5F"/>
            </a:solidFill>
          </a:ln>
        </p:spPr>
        <p:txBody>
          <a:bodyPr xmlns:a="http://schemas.openxmlformats.org/drawingml/2006/main" wrap="square" lIns="95250" tIns="95250" rIns="95250" bIns="95250" anchor="ctr"/>
          <a:lstStyle xmlns:a="http://schemas.openxmlformats.org/drawingml/2006/main">
            <a:defPPr algn="ctr">
              <a:defRPr sz="1950" b="0">
                <a:solidFill>
                  <a:srgbClr val="122632"/>
                </a:solidFill>
                <a:latin typeface="Arial"/>
                <a:ea typeface="Arial"/>
                <a:cs typeface="Arial"/>
              </a:defRPr>
            </a:defPPr>
          </a:lstStyle>
          <a:p xmlns:a="http://schemas.openxmlformats.org/drawingml/2006/main">
            <a:pPr algn="ctr">
              <a:defRPr sz="1950" b="0">
                <a:solidFill>
                  <a:srgbClr val="122632"/>
                </a:solidFill>
                <a:latin typeface="Arial"/>
                <a:ea typeface="Arial"/>
                <a:cs typeface="Arial"/>
              </a:defRPr>
            </a:pPr>
            <a:r>
              <a:rPr sz="1950" b="0">
                <a:solidFill>
                  <a:srgbClr val="122632"/>
                </a:solidFill>
                <a:latin typeface="Arial"/>
                <a:ea typeface="Arial"/>
                <a:cs typeface="Arial"/>
              </a:rPr>
              <a:t>Queue a bounded, sender-stamped message</a:t>
            </a:r>
          </a:p>
        </p:txBody>
      </p:sp>
      <p:sp>
        <p:nvSpPr>
          <p:cNvPr id="12" name="flow-12">
            <a:extLst xmlns:a="http://schemas.openxmlformats.org/drawingml/2006/main">
              <a:ext uri="{FF2B5EF4-FFF2-40B4-BE49-F238E27FC236}">
                <a16:creationId xmlns:a16="http://schemas.microsoft.com/office/drawing/2014/main" id="{310B9CFC-D89C-45EB-8515-A27B6802795B}"/>
              </a:ext>
            </a:extLst>
          </p:cNvPr>
          <p:cNvSpPr>
            <a:spLocks xmlns:a="http://schemas.openxmlformats.org/drawingml/2006/main" noGrp="1"/>
          </p:cNvSpPr>
          <p:nvPr/>
        </p:nvSpPr>
        <p:spPr>
          <a:xfrm xmlns:a="http://schemas.openxmlformats.org/drawingml/2006/main">
            <a:off x="8839200" y="4238625"/>
            <a:ext cx="228600" cy="266700"/>
          </a:xfrm>
          <a:prstGeom xmlns:a="http://schemas.openxmlformats.org/drawingml/2006/main" prst="downArrow">
            <a:avLst/>
          </a:prstGeom>
          <a:solidFill xmlns:a="http://schemas.openxmlformats.org/drawingml/2006/main">
            <a:srgbClr val="146B5F"/>
          </a:solidFill>
          <a:ln xmlns:a="http://schemas.openxmlformats.org/drawingml/2006/main" w="0">
            <a:noFill/>
          </a:ln>
        </p:spPr>
      </p:sp>
      <p:sp>
        <p:nvSpPr>
          <p:cNvPr id="13" name="diagram-13">
            <a:extLst xmlns:a="http://schemas.openxmlformats.org/drawingml/2006/main">
              <a:ext uri="{FF2B5EF4-FFF2-40B4-BE49-F238E27FC236}">
                <a16:creationId xmlns:a16="http://schemas.microsoft.com/office/drawing/2014/main" id="{BCC12405-B969-4E9C-8B9A-916B2026975C}"/>
              </a:ext>
            </a:extLst>
          </p:cNvPr>
          <p:cNvSpPr>
            <a:spLocks xmlns:a="http://schemas.openxmlformats.org/drawingml/2006/main" noGrp="1"/>
          </p:cNvSpPr>
          <p:nvPr/>
        </p:nvSpPr>
        <p:spPr>
          <a:xfrm xmlns:a="http://schemas.openxmlformats.org/drawingml/2006/main">
            <a:off x="6324600" y="4572000"/>
            <a:ext cx="5257800" cy="742950"/>
          </a:xfrm>
          <a:prstGeom xmlns:a="http://schemas.openxmlformats.org/drawingml/2006/main" prst="rect">
            <a:avLst/>
          </a:prstGeom>
          <a:solidFill xmlns:a="http://schemas.openxmlformats.org/drawingml/2006/main">
            <a:srgbClr val="FCFCF8"/>
          </a:solidFill>
          <a:ln xmlns:a="http://schemas.openxmlformats.org/drawingml/2006/main" w="14288">
            <a:solidFill>
              <a:srgbClr val="146B5F"/>
            </a:solidFill>
          </a:ln>
        </p:spPr>
        <p:txBody>
          <a:bodyPr xmlns:a="http://schemas.openxmlformats.org/drawingml/2006/main" wrap="square" lIns="95250" tIns="95250" rIns="95250" bIns="95250" anchor="ctr"/>
          <a:lstStyle xmlns:a="http://schemas.openxmlformats.org/drawingml/2006/main">
            <a:defPPr algn="ctr">
              <a:defRPr sz="1950" b="0">
                <a:solidFill>
                  <a:srgbClr val="122632"/>
                </a:solidFill>
                <a:latin typeface="Arial"/>
                <a:ea typeface="Arial"/>
                <a:cs typeface="Arial"/>
              </a:defRPr>
            </a:defPPr>
          </a:lstStyle>
          <a:p xmlns:a="http://schemas.openxmlformats.org/drawingml/2006/main">
            <a:pPr algn="ctr">
              <a:defRPr sz="1950" b="0">
                <a:solidFill>
                  <a:srgbClr val="122632"/>
                </a:solidFill>
                <a:latin typeface="Arial"/>
                <a:ea typeface="Arial"/>
                <a:cs typeface="Arial"/>
              </a:defRPr>
            </a:pPr>
            <a:r>
              <a:rPr sz="1950" b="0">
                <a:solidFill>
                  <a:srgbClr val="122632"/>
                </a:solidFill>
                <a:latin typeface="Arial"/>
                <a:ea typeface="Arial"/>
                <a:cs typeface="Arial"/>
              </a:rPr>
              <a:t>Wake receiver or block until input</a:t>
            </a:r>
          </a:p>
        </p:txBody>
      </p:sp>
      <p:sp>
        <p:nvSpPr>
          <p:cNvPr id="14" name="text-14">
            <a:extLst xmlns:a="http://schemas.openxmlformats.org/drawingml/2006/main">
              <a:ext uri="{FF2B5EF4-FFF2-40B4-BE49-F238E27FC236}">
                <a16:creationId xmlns:a16="http://schemas.microsoft.com/office/drawing/2014/main" id="{4CA2597E-474C-40C7-B36C-F4CDA608A1B2}"/>
              </a:ext>
            </a:extLst>
          </p:cNvPr>
          <p:cNvSpPr>
            <a:spLocks xmlns:a="http://schemas.openxmlformats.org/drawingml/2006/main" noGrp="1"/>
          </p:cNvSpPr>
          <p:nvPr/>
        </p:nvSpPr>
        <p:spPr>
          <a:xfrm xmlns:a="http://schemas.openxmlformats.org/drawingml/2006/main">
            <a:off x="609600" y="5629275"/>
            <a:ext cx="49053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1875" b="0">
                <a:solidFill>
                  <a:srgbClr val="58656A"/>
                </a:solidFill>
                <a:latin typeface="Arial"/>
                <a:ea typeface="Arial"/>
                <a:cs typeface="Arial"/>
              </a:defRPr>
            </a:defPPr>
          </a:lstStyle>
          <a:p xmlns:a="http://schemas.openxmlformats.org/drawingml/2006/main">
            <a:pPr>
              <a:defRPr sz="1875" b="0">
                <a:solidFill>
                  <a:srgbClr val="58656A"/>
                </a:solidFill>
                <a:latin typeface="Arial"/>
                <a:ea typeface="Arial"/>
                <a:cs typeface="Arial"/>
              </a:defRPr>
            </a:pPr>
            <a:r>
              <a:rPr sz="1875" b="0">
                <a:solidFill>
                  <a:srgbClr val="58656A"/>
                </a:solidFill>
                <a:latin typeface="Arial"/>
                <a:ea typeface="Arial"/>
                <a:cs typeface="Arial"/>
              </a:rPr>
              <a:t>No voluntary yield is required.</a:t>
            </a:r>
          </a:p>
        </p:txBody>
      </p:sp>
      <p:sp>
        <p:nvSpPr>
          <p:cNvPr id="15" name="text-15">
            <a:extLst xmlns:a="http://schemas.openxmlformats.org/drawingml/2006/main">
              <a:ext uri="{FF2B5EF4-FFF2-40B4-BE49-F238E27FC236}">
                <a16:creationId xmlns:a16="http://schemas.microsoft.com/office/drawing/2014/main" id="{4A5A63EF-EB08-4E52-B87D-3A4FFC404665}"/>
              </a:ext>
            </a:extLst>
          </p:cNvPr>
          <p:cNvSpPr>
            <a:spLocks xmlns:a="http://schemas.openxmlformats.org/drawingml/2006/main" noGrp="1"/>
          </p:cNvSpPr>
          <p:nvPr/>
        </p:nvSpPr>
        <p:spPr>
          <a:xfrm xmlns:a="http://schemas.openxmlformats.org/drawingml/2006/main">
            <a:off x="6324600" y="5629275"/>
            <a:ext cx="52578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1875" b="0">
                <a:solidFill>
                  <a:srgbClr val="58656A"/>
                </a:solidFill>
                <a:latin typeface="Arial"/>
                <a:ea typeface="Arial"/>
                <a:cs typeface="Arial"/>
              </a:defRPr>
            </a:defPPr>
          </a:lstStyle>
          <a:p xmlns:a="http://schemas.openxmlformats.org/drawingml/2006/main">
            <a:pPr>
              <a:defRPr sz="1875" b="0">
                <a:solidFill>
                  <a:srgbClr val="58656A"/>
                </a:solidFill>
                <a:latin typeface="Arial"/>
                <a:ea typeface="Arial"/>
                <a:cs typeface="Arial"/>
              </a:defRPr>
            </a:pPr>
            <a:r>
              <a:rPr sz="1875" b="0">
                <a:solidFill>
                  <a:srgbClr val="58656A"/>
                </a:solidFill>
                <a:latin typeface="Arial"/>
                <a:ea typeface="Arial"/>
                <a:cs typeface="Arial"/>
              </a:rPr>
              <a:t>Invalid rights or full queues return errors.</a:t>
            </a:r>
          </a:p>
        </p:txBody>
      </p:sp>
      <p:sp>
        <p:nvSpPr>
          <p:cNvPr id="16" name="text-16">
            <a:extLst xmlns:a="http://schemas.openxmlformats.org/drawingml/2006/main">
              <a:ext uri="{FF2B5EF4-FFF2-40B4-BE49-F238E27FC236}">
                <a16:creationId xmlns:a16="http://schemas.microsoft.com/office/drawing/2014/main" id="{FC38D4BC-EAE8-4916-A548-8A4A779D3EE3}"/>
              </a:ext>
            </a:extLst>
          </p:cNvPr>
          <p:cNvSpPr>
            <a:spLocks xmlns:a="http://schemas.openxmlformats.org/drawingml/2006/main" noGrp="1"/>
          </p:cNvSpPr>
          <p:nvPr/>
        </p:nvSpPr>
        <p:spPr>
          <a:xfrm xmlns:a="http://schemas.openxmlformats.org/drawingml/2006/main">
            <a:off x="609600" y="6486525"/>
            <a:ext cx="109728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1200" b="0">
                <a:solidFill>
                  <a:srgbClr val="58656A"/>
                </a:solidFill>
                <a:latin typeface="Arial"/>
                <a:ea typeface="Arial"/>
                <a:cs typeface="Arial"/>
              </a:defRPr>
            </a:defPPr>
          </a:lstStyle>
          <a:p xmlns:a="http://schemas.openxmlformats.org/drawingml/2006/main">
            <a:pPr>
              <a:defRPr sz="1200" b="0">
                <a:solidFill>
                  <a:srgbClr val="58656A"/>
                </a:solidFill>
                <a:latin typeface="Arial"/>
                <a:ea typeface="Arial"/>
                <a:cs typeface="Arial"/>
              </a:defRPr>
            </a:pPr>
            <a:r>
              <a:rPr sz="1200" b="0">
                <a:solidFill>
                  <a:srgbClr val="58656A"/>
                </a:solidFill>
                <a:latin typeface="Arial"/>
                <a:ea typeface="Arial"/>
                <a:cs typeface="Arial"/>
              </a:rPr>
              <a:t>09 / 24     100-Hz round robin keeps the console running while cpu-hog never yields.</a:t>
            </a:r>
          </a:p>
        </p:txBody>
      </p:sp>
    </p:spTree>
    <p:extLst>
      <p:ext uri="{BB962C8B-B14F-4D97-AF65-F5344CB8AC3E}">
        <p14:creationId xmlns:p14="http://schemas.microsoft.com/office/powerpoint/2010/main" val="2013353999"/>
      </p:ext>
    </p:extLst>
  </p:cSld>
</p:sld>
</file>

<file path=ppt/slides/slide10.xml><?xml version="1.0" encoding="utf-8"?>
<p:sld xmlns:p="http://schemas.openxmlformats.org/presentationml/2006/main">
  <p:cSld>
    <p:bg>
      <p:bgPr>
        <a:solidFill xmlns:a="http://schemas.openxmlformats.org/drawingml/2006/main">
          <a:srgbClr val="F6F4EE"/>
        </a:solidFill>
      </p:bgPr>
    </p:bg>
    <p:spTree>
      <p:nvGrpSpPr>
        <p:cNvPr id="1" name=""/>
        <p:cNvGrpSpPr/>
        <p:nvPr/>
      </p:nvGrpSpPr>
      <p:grpSpPr>
        <a:xfrm xmlns:a="http://schemas.openxmlformats.org/drawingml/2006/main"/>
      </p:grpSpPr>
      <p:sp>
        <p:nvSpPr>
          <p:cNvPr id="13" name="text-1">
            <a:extLst xmlns:a="http://schemas.openxmlformats.org/drawingml/2006/main">
              <a:ext uri="{FF2B5EF4-FFF2-40B4-BE49-F238E27FC236}">
                <a16:creationId xmlns:a16="http://schemas.microsoft.com/office/drawing/2014/main" id="{1994F362-206B-454C-B566-2C029792BB78}"/>
              </a:ext>
            </a:extLst>
          </p:cNvPr>
          <p:cNvSpPr>
            <a:spLocks xmlns:a="http://schemas.openxmlformats.org/drawingml/2006/main" noGrp="1"/>
          </p:cNvSpPr>
          <p:nvPr/>
        </p:nvSpPr>
        <p:spPr>
          <a:xfrm xmlns:a="http://schemas.openxmlformats.org/drawingml/2006/main">
            <a:off x="609600" y="514350"/>
            <a:ext cx="109728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3300" b="1">
                <a:solidFill>
                  <a:srgbClr val="122632"/>
                </a:solidFill>
                <a:latin typeface="Arial"/>
                <a:ea typeface="Arial"/>
                <a:cs typeface="Arial"/>
              </a:defRPr>
            </a:defPPr>
          </a:lstStyle>
          <a:p xmlns:a="http://schemas.openxmlformats.org/drawingml/2006/main">
            <a:pPr>
              <a:defRPr sz="3300" b="1">
                <a:solidFill>
                  <a:srgbClr val="122632"/>
                </a:solidFill>
                <a:latin typeface="Arial"/>
                <a:ea typeface="Arial"/>
                <a:cs typeface="Arial"/>
              </a:defRPr>
            </a:pPr>
            <a:r>
              <a:rPr sz="3300" b="1">
                <a:solidFill>
                  <a:srgbClr val="122632"/>
                </a:solidFill>
                <a:latin typeface="Arial"/>
                <a:ea typeface="Arial"/>
                <a:cs typeface="Arial"/>
              </a:rPr>
              <a:t>Algorithm: filesystem commit</a:t>
            </a:r>
          </a:p>
        </p:txBody>
      </p:sp>
      <p:sp>
        <p:nvSpPr>
          <p:cNvPr id="2" name="diagram-2">
            <a:extLst xmlns:a="http://schemas.openxmlformats.org/drawingml/2006/main">
              <a:ext uri="{FF2B5EF4-FFF2-40B4-BE49-F238E27FC236}">
                <a16:creationId xmlns:a16="http://schemas.microsoft.com/office/drawing/2014/main" id="{523E410B-38CA-4B6F-A358-8495220AE9FC}"/>
              </a:ext>
            </a:extLst>
          </p:cNvPr>
          <p:cNvSpPr>
            <a:spLocks xmlns:a="http://schemas.openxmlformats.org/drawingml/2006/main" noGrp="1"/>
          </p:cNvSpPr>
          <p:nvPr/>
        </p:nvSpPr>
        <p:spPr>
          <a:xfrm xmlns:a="http://schemas.openxmlformats.org/drawingml/2006/main">
            <a:off x="609600" y="2019300"/>
            <a:ext cx="2428875" cy="1266825"/>
          </a:xfrm>
          <a:prstGeom xmlns:a="http://schemas.openxmlformats.org/drawingml/2006/main" prst="rect">
            <a:avLst/>
          </a:prstGeom>
          <a:solidFill xmlns:a="http://schemas.openxmlformats.org/drawingml/2006/main">
            <a:srgbClr val="FCFCF8"/>
          </a:solidFill>
          <a:ln xmlns:a="http://schemas.openxmlformats.org/drawingml/2006/main" w="14288">
            <a:solidFill>
              <a:srgbClr val="146B5F"/>
            </a:solidFill>
          </a:ln>
        </p:spPr>
        <p:txBody>
          <a:bodyPr xmlns:a="http://schemas.openxmlformats.org/drawingml/2006/main" wrap="square" lIns="95250" tIns="95250" rIns="95250" bIns="95250" anchor="ctr"/>
          <a:lstStyle xmlns:a="http://schemas.openxmlformats.org/drawingml/2006/main">
            <a:defPPr algn="ctr">
              <a:defRPr sz="1950" b="0">
                <a:solidFill>
                  <a:srgbClr val="122632"/>
                </a:solidFill>
                <a:latin typeface="Arial"/>
                <a:ea typeface="Arial"/>
                <a:cs typeface="Arial"/>
              </a:defRPr>
            </a:defPPr>
          </a:lstStyle>
          <a:p xmlns:a="http://schemas.openxmlformats.org/drawingml/2006/main">
            <a:pPr algn="ctr">
              <a:defRPr sz="1950" b="0">
                <a:solidFill>
                  <a:srgbClr val="122632"/>
                </a:solidFill>
                <a:latin typeface="Arial"/>
                <a:ea typeface="Arial"/>
                <a:cs typeface="Arial"/>
              </a:defRPr>
            </a:pPr>
            <a:r>
              <a:rPr sz="1950" b="0">
                <a:solidFill>
                  <a:srgbClr val="122632"/>
                </a:solidFill>
                <a:latin typeface="Arial"/>
                <a:ea typeface="Arial"/>
                <a:cs typeface="Arial"/>
              </a:rPr>
              <a:t>Build new root</a:t>
            </a:r>
          </a:p>
          <a:p xmlns:a="http://schemas.openxmlformats.org/drawingml/2006/main">
            <a:pPr algn="ctr">
              <a:defRPr sz="1950" b="0">
                <a:solidFill>
                  <a:srgbClr val="122632"/>
                </a:solidFill>
                <a:latin typeface="Arial"/>
                <a:ea typeface="Arial"/>
                <a:cs typeface="Arial"/>
              </a:defRPr>
            </a:pPr>
            <a:r>
              <a:rPr sz="1950" b="0">
                <a:solidFill>
                  <a:srgbClr val="122632"/>
                </a:solidFill>
                <a:latin typeface="Arial"/>
                <a:ea typeface="Arial"/>
                <a:cs typeface="Arial"/>
              </a:rPr>
              <a:t>in an unused slot</a:t>
            </a:r>
          </a:p>
        </p:txBody>
      </p:sp>
      <p:sp>
        <p:nvSpPr>
          <p:cNvPr id="3" name="flow-3">
            <a:extLst xmlns:a="http://schemas.openxmlformats.org/drawingml/2006/main">
              <a:ext uri="{FF2B5EF4-FFF2-40B4-BE49-F238E27FC236}">
                <a16:creationId xmlns:a16="http://schemas.microsoft.com/office/drawing/2014/main" id="{1E04E9B1-5A19-46B8-AB9B-5A18025A213A}"/>
              </a:ext>
            </a:extLst>
          </p:cNvPr>
          <p:cNvSpPr>
            <a:spLocks xmlns:a="http://schemas.openxmlformats.org/drawingml/2006/main" noGrp="1"/>
          </p:cNvSpPr>
          <p:nvPr/>
        </p:nvSpPr>
        <p:spPr>
          <a:xfrm xmlns:a="http://schemas.openxmlformats.org/drawingml/2006/main">
            <a:off x="3124200" y="2543175"/>
            <a:ext cx="247650" cy="219075"/>
          </a:xfrm>
          <a:prstGeom xmlns:a="http://schemas.openxmlformats.org/drawingml/2006/main" prst="rightArrow">
            <a:avLst/>
          </a:prstGeom>
          <a:solidFill xmlns:a="http://schemas.openxmlformats.org/drawingml/2006/main">
            <a:srgbClr val="146B5F"/>
          </a:solidFill>
          <a:ln xmlns:a="http://schemas.openxmlformats.org/drawingml/2006/main" w="0">
            <a:noFill/>
          </a:ln>
        </p:spPr>
      </p:sp>
      <p:sp>
        <p:nvSpPr>
          <p:cNvPr id="4" name="diagram-4">
            <a:extLst xmlns:a="http://schemas.openxmlformats.org/drawingml/2006/main">
              <a:ext uri="{FF2B5EF4-FFF2-40B4-BE49-F238E27FC236}">
                <a16:creationId xmlns:a16="http://schemas.microsoft.com/office/drawing/2014/main" id="{77FE4969-8593-4072-BCEE-40EB0329AAFB}"/>
              </a:ext>
            </a:extLst>
          </p:cNvPr>
          <p:cNvSpPr>
            <a:spLocks xmlns:a="http://schemas.openxmlformats.org/drawingml/2006/main" noGrp="1"/>
          </p:cNvSpPr>
          <p:nvPr/>
        </p:nvSpPr>
        <p:spPr>
          <a:xfrm xmlns:a="http://schemas.openxmlformats.org/drawingml/2006/main">
            <a:off x="3457575" y="2019300"/>
            <a:ext cx="2428875" cy="1266825"/>
          </a:xfrm>
          <a:prstGeom xmlns:a="http://schemas.openxmlformats.org/drawingml/2006/main" prst="rect">
            <a:avLst/>
          </a:prstGeom>
          <a:solidFill xmlns:a="http://schemas.openxmlformats.org/drawingml/2006/main">
            <a:srgbClr val="FCFCF8"/>
          </a:solidFill>
          <a:ln xmlns:a="http://schemas.openxmlformats.org/drawingml/2006/main" w="14288">
            <a:solidFill>
              <a:srgbClr val="146B5F"/>
            </a:solidFill>
          </a:ln>
        </p:spPr>
        <p:txBody>
          <a:bodyPr xmlns:a="http://schemas.openxmlformats.org/drawingml/2006/main" wrap="square" lIns="95250" tIns="95250" rIns="95250" bIns="95250" anchor="ctr"/>
          <a:lstStyle xmlns:a="http://schemas.openxmlformats.org/drawingml/2006/main">
            <a:defPPr algn="ctr">
              <a:defRPr sz="1950" b="0">
                <a:solidFill>
                  <a:srgbClr val="122632"/>
                </a:solidFill>
                <a:latin typeface="Arial"/>
                <a:ea typeface="Arial"/>
                <a:cs typeface="Arial"/>
              </a:defRPr>
            </a:defPPr>
          </a:lstStyle>
          <a:p xmlns:a="http://schemas.openxmlformats.org/drawingml/2006/main">
            <a:pPr algn="ctr">
              <a:defRPr sz="1950" b="0">
                <a:solidFill>
                  <a:srgbClr val="122632"/>
                </a:solidFill>
                <a:latin typeface="Arial"/>
                <a:ea typeface="Arial"/>
                <a:cs typeface="Arial"/>
              </a:defRPr>
            </a:pPr>
            <a:r>
              <a:rPr sz="1950" b="0">
                <a:solidFill>
                  <a:srgbClr val="122632"/>
                </a:solidFill>
                <a:latin typeface="Arial"/>
                <a:ea typeface="Arial"/>
                <a:cs typeface="Arial"/>
              </a:rPr>
              <a:t>Write payload</a:t>
            </a:r>
          </a:p>
          <a:p xmlns:a="http://schemas.openxmlformats.org/drawingml/2006/main">
            <a:pPr algn="ctr">
              <a:defRPr sz="1950" b="0">
                <a:solidFill>
                  <a:srgbClr val="122632"/>
                </a:solidFill>
                <a:latin typeface="Arial"/>
                <a:ea typeface="Arial"/>
                <a:cs typeface="Arial"/>
              </a:defRPr>
            </a:pPr>
            <a:r>
              <a:rPr sz="1950" b="0">
                <a:solidFill>
                  <a:srgbClr val="122632"/>
                </a:solidFill>
                <a:latin typeface="Arial"/>
                <a:ea typeface="Arial"/>
                <a:cs typeface="Arial"/>
              </a:rPr>
              <a:t>and flush</a:t>
            </a:r>
          </a:p>
        </p:txBody>
      </p:sp>
      <p:sp>
        <p:nvSpPr>
          <p:cNvPr id="5" name="flow-5">
            <a:extLst xmlns:a="http://schemas.openxmlformats.org/drawingml/2006/main">
              <a:ext uri="{FF2B5EF4-FFF2-40B4-BE49-F238E27FC236}">
                <a16:creationId xmlns:a16="http://schemas.microsoft.com/office/drawing/2014/main" id="{BF809C06-0542-4507-8868-992867C2C6BC}"/>
              </a:ext>
            </a:extLst>
          </p:cNvPr>
          <p:cNvSpPr>
            <a:spLocks xmlns:a="http://schemas.openxmlformats.org/drawingml/2006/main" noGrp="1"/>
          </p:cNvSpPr>
          <p:nvPr/>
        </p:nvSpPr>
        <p:spPr>
          <a:xfrm xmlns:a="http://schemas.openxmlformats.org/drawingml/2006/main">
            <a:off x="5972175" y="2543175"/>
            <a:ext cx="247650" cy="219075"/>
          </a:xfrm>
          <a:prstGeom xmlns:a="http://schemas.openxmlformats.org/drawingml/2006/main" prst="rightArrow">
            <a:avLst/>
          </a:prstGeom>
          <a:solidFill xmlns:a="http://schemas.openxmlformats.org/drawingml/2006/main">
            <a:srgbClr val="146B5F"/>
          </a:solidFill>
          <a:ln xmlns:a="http://schemas.openxmlformats.org/drawingml/2006/main" w="0">
            <a:noFill/>
          </a:ln>
        </p:spPr>
      </p:sp>
      <p:sp>
        <p:nvSpPr>
          <p:cNvPr id="6" name="diagram-6">
            <a:extLst xmlns:a="http://schemas.openxmlformats.org/drawingml/2006/main">
              <a:ext uri="{FF2B5EF4-FFF2-40B4-BE49-F238E27FC236}">
                <a16:creationId xmlns:a16="http://schemas.microsoft.com/office/drawing/2014/main" id="{FA677DE2-40F1-4129-BEBA-7B31387F189D}"/>
              </a:ext>
            </a:extLst>
          </p:cNvPr>
          <p:cNvSpPr>
            <a:spLocks xmlns:a="http://schemas.openxmlformats.org/drawingml/2006/main" noGrp="1"/>
          </p:cNvSpPr>
          <p:nvPr/>
        </p:nvSpPr>
        <p:spPr>
          <a:xfrm xmlns:a="http://schemas.openxmlformats.org/drawingml/2006/main">
            <a:off x="6305550" y="2019300"/>
            <a:ext cx="2428875" cy="1266825"/>
          </a:xfrm>
          <a:prstGeom xmlns:a="http://schemas.openxmlformats.org/drawingml/2006/main" prst="rect">
            <a:avLst/>
          </a:prstGeom>
          <a:solidFill xmlns:a="http://schemas.openxmlformats.org/drawingml/2006/main">
            <a:srgbClr val="FCFCF8"/>
          </a:solidFill>
          <a:ln xmlns:a="http://schemas.openxmlformats.org/drawingml/2006/main" w="14288">
            <a:solidFill>
              <a:srgbClr val="146B5F"/>
            </a:solidFill>
          </a:ln>
        </p:spPr>
        <p:txBody>
          <a:bodyPr xmlns:a="http://schemas.openxmlformats.org/drawingml/2006/main" wrap="square" lIns="95250" tIns="95250" rIns="95250" bIns="95250" anchor="ctr"/>
          <a:lstStyle xmlns:a="http://schemas.openxmlformats.org/drawingml/2006/main">
            <a:defPPr algn="ctr">
              <a:defRPr sz="1950" b="0">
                <a:solidFill>
                  <a:srgbClr val="122632"/>
                </a:solidFill>
                <a:latin typeface="Arial"/>
                <a:ea typeface="Arial"/>
                <a:cs typeface="Arial"/>
              </a:defRPr>
            </a:defPPr>
          </a:lstStyle>
          <a:p xmlns:a="http://schemas.openxmlformats.org/drawingml/2006/main">
            <a:pPr algn="ctr">
              <a:defRPr sz="1950" b="0">
                <a:solidFill>
                  <a:srgbClr val="122632"/>
                </a:solidFill>
                <a:latin typeface="Arial"/>
                <a:ea typeface="Arial"/>
                <a:cs typeface="Arial"/>
              </a:defRPr>
            </a:pPr>
            <a:r>
              <a:rPr sz="1950" b="0">
                <a:solidFill>
                  <a:srgbClr val="122632"/>
                </a:solidFill>
                <a:latin typeface="Arial"/>
                <a:ea typeface="Arial"/>
                <a:cs typeface="Arial"/>
              </a:rPr>
              <a:t>Write commit header</a:t>
            </a:r>
          </a:p>
          <a:p xmlns:a="http://schemas.openxmlformats.org/drawingml/2006/main">
            <a:pPr algn="ctr">
              <a:defRPr sz="1950" b="0">
                <a:solidFill>
                  <a:srgbClr val="122632"/>
                </a:solidFill>
                <a:latin typeface="Arial"/>
                <a:ea typeface="Arial"/>
                <a:cs typeface="Arial"/>
              </a:defRPr>
            </a:pPr>
            <a:r>
              <a:rPr sz="1950" b="0">
                <a:solidFill>
                  <a:srgbClr val="122632"/>
                </a:solidFill>
                <a:latin typeface="Arial"/>
                <a:ea typeface="Arial"/>
                <a:cs typeface="Arial"/>
              </a:rPr>
              <a:t>and flush</a:t>
            </a:r>
          </a:p>
        </p:txBody>
      </p:sp>
      <p:sp>
        <p:nvSpPr>
          <p:cNvPr id="7" name="flow-7">
            <a:extLst xmlns:a="http://schemas.openxmlformats.org/drawingml/2006/main">
              <a:ext uri="{FF2B5EF4-FFF2-40B4-BE49-F238E27FC236}">
                <a16:creationId xmlns:a16="http://schemas.microsoft.com/office/drawing/2014/main" id="{46DF19F7-0E69-4508-A516-E9654A775898}"/>
              </a:ext>
            </a:extLst>
          </p:cNvPr>
          <p:cNvSpPr>
            <a:spLocks xmlns:a="http://schemas.openxmlformats.org/drawingml/2006/main" noGrp="1"/>
          </p:cNvSpPr>
          <p:nvPr/>
        </p:nvSpPr>
        <p:spPr>
          <a:xfrm xmlns:a="http://schemas.openxmlformats.org/drawingml/2006/main">
            <a:off x="8820150" y="2543175"/>
            <a:ext cx="247650" cy="219075"/>
          </a:xfrm>
          <a:prstGeom xmlns:a="http://schemas.openxmlformats.org/drawingml/2006/main" prst="rightArrow">
            <a:avLst/>
          </a:prstGeom>
          <a:solidFill xmlns:a="http://schemas.openxmlformats.org/drawingml/2006/main">
            <a:srgbClr val="146B5F"/>
          </a:solidFill>
          <a:ln xmlns:a="http://schemas.openxmlformats.org/drawingml/2006/main" w="0">
            <a:noFill/>
          </a:ln>
        </p:spPr>
      </p:sp>
      <p:sp>
        <p:nvSpPr>
          <p:cNvPr id="8" name="diagram-8">
            <a:extLst xmlns:a="http://schemas.openxmlformats.org/drawingml/2006/main">
              <a:ext uri="{FF2B5EF4-FFF2-40B4-BE49-F238E27FC236}">
                <a16:creationId xmlns:a16="http://schemas.microsoft.com/office/drawing/2014/main" id="{AC82ACB8-2D94-4F62-A6F6-A51D9DF11C40}"/>
              </a:ext>
            </a:extLst>
          </p:cNvPr>
          <p:cNvSpPr>
            <a:spLocks xmlns:a="http://schemas.openxmlformats.org/drawingml/2006/main" noGrp="1"/>
          </p:cNvSpPr>
          <p:nvPr/>
        </p:nvSpPr>
        <p:spPr>
          <a:xfrm xmlns:a="http://schemas.openxmlformats.org/drawingml/2006/main">
            <a:off x="9153525" y="2019300"/>
            <a:ext cx="2428875" cy="1266825"/>
          </a:xfrm>
          <a:prstGeom xmlns:a="http://schemas.openxmlformats.org/drawingml/2006/main" prst="rect">
            <a:avLst/>
          </a:prstGeom>
          <a:solidFill xmlns:a="http://schemas.openxmlformats.org/drawingml/2006/main">
            <a:srgbClr val="B8D8C6"/>
          </a:solidFill>
          <a:ln xmlns:a="http://schemas.openxmlformats.org/drawingml/2006/main" w="14288">
            <a:solidFill>
              <a:srgbClr val="146B5F"/>
            </a:solidFill>
          </a:ln>
        </p:spPr>
        <p:txBody>
          <a:bodyPr xmlns:a="http://schemas.openxmlformats.org/drawingml/2006/main" wrap="square" lIns="95250" tIns="95250" rIns="95250" bIns="95250" anchor="ctr"/>
          <a:lstStyle xmlns:a="http://schemas.openxmlformats.org/drawingml/2006/main">
            <a:defPPr algn="ctr">
              <a:defRPr sz="1950" b="0">
                <a:solidFill>
                  <a:srgbClr val="122632"/>
                </a:solidFill>
                <a:latin typeface="Arial"/>
                <a:ea typeface="Arial"/>
                <a:cs typeface="Arial"/>
              </a:defRPr>
            </a:defPPr>
          </a:lstStyle>
          <a:p xmlns:a="http://schemas.openxmlformats.org/drawingml/2006/main">
            <a:pPr algn="ctr">
              <a:defRPr sz="1950" b="0">
                <a:solidFill>
                  <a:srgbClr val="122632"/>
                </a:solidFill>
                <a:latin typeface="Arial"/>
                <a:ea typeface="Arial"/>
                <a:cs typeface="Arial"/>
              </a:defRPr>
            </a:pPr>
            <a:r>
              <a:rPr sz="1950" b="0">
                <a:solidFill>
                  <a:srgbClr val="122632"/>
                </a:solidFill>
                <a:latin typeface="Arial"/>
                <a:ea typeface="Arial"/>
                <a:cs typeface="Arial"/>
              </a:rPr>
              <a:t>Publish committed</a:t>
            </a:r>
          </a:p>
          <a:p xmlns:a="http://schemas.openxmlformats.org/drawingml/2006/main">
            <a:pPr algn="ctr">
              <a:defRPr sz="1950" b="0">
                <a:solidFill>
                  <a:srgbClr val="122632"/>
                </a:solidFill>
                <a:latin typeface="Arial"/>
                <a:ea typeface="Arial"/>
                <a:cs typeface="Arial"/>
              </a:defRPr>
            </a:pPr>
            <a:r>
              <a:rPr sz="1950" b="0">
                <a:solidFill>
                  <a:srgbClr val="122632"/>
                </a:solidFill>
                <a:latin typeface="Arial"/>
                <a:ea typeface="Arial"/>
                <a:cs typeface="Arial"/>
              </a:rPr>
              <a:t>generation</a:t>
            </a:r>
          </a:p>
        </p:txBody>
      </p:sp>
      <p:sp>
        <p:nvSpPr>
          <p:cNvPr id="9" name="text-9">
            <a:extLst xmlns:a="http://schemas.openxmlformats.org/drawingml/2006/main">
              <a:ext uri="{FF2B5EF4-FFF2-40B4-BE49-F238E27FC236}">
                <a16:creationId xmlns:a16="http://schemas.microsoft.com/office/drawing/2014/main" id="{0A50149E-E7A3-4DD1-B883-8F3D26E15427}"/>
              </a:ext>
            </a:extLst>
          </p:cNvPr>
          <p:cNvSpPr>
            <a:spLocks xmlns:a="http://schemas.openxmlformats.org/drawingml/2006/main" noGrp="1"/>
          </p:cNvSpPr>
          <p:nvPr/>
        </p:nvSpPr>
        <p:spPr>
          <a:xfrm xmlns:a="http://schemas.openxmlformats.org/drawingml/2006/main">
            <a:off x="609600" y="3876675"/>
            <a:ext cx="3286125"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2250" b="1">
                <a:solidFill>
                  <a:srgbClr val="146B5F"/>
                </a:solidFill>
                <a:latin typeface="Arial"/>
                <a:ea typeface="Arial"/>
                <a:cs typeface="Arial"/>
              </a:defRPr>
            </a:defPPr>
          </a:lstStyle>
          <a:p xmlns:a="http://schemas.openxmlformats.org/drawingml/2006/main">
            <a:pPr>
              <a:defRPr sz="2250" b="1">
                <a:solidFill>
                  <a:srgbClr val="146B5F"/>
                </a:solidFill>
                <a:latin typeface="Arial"/>
                <a:ea typeface="Arial"/>
                <a:cs typeface="Arial"/>
              </a:defRPr>
            </a:pPr>
            <a:r>
              <a:rPr sz="2250" b="1">
                <a:solidFill>
                  <a:srgbClr val="146B5F"/>
                </a:solidFill>
                <a:latin typeface="Arial"/>
                <a:ea typeface="Arial"/>
                <a:cs typeface="Arial"/>
              </a:rPr>
              <a:t>Mount after reboot</a:t>
            </a:r>
          </a:p>
        </p:txBody>
      </p:sp>
      <p:sp>
        <p:nvSpPr>
          <p:cNvPr id="10" name="text-10">
            <a:extLst xmlns:a="http://schemas.openxmlformats.org/drawingml/2006/main">
              <a:ext uri="{FF2B5EF4-FFF2-40B4-BE49-F238E27FC236}">
                <a16:creationId xmlns:a16="http://schemas.microsoft.com/office/drawing/2014/main" id="{76BFD61B-C709-4B39-92BB-E5F207D9DB35}"/>
              </a:ext>
            </a:extLst>
          </p:cNvPr>
          <p:cNvSpPr>
            <a:spLocks xmlns:a="http://schemas.openxmlformats.org/drawingml/2006/main" noGrp="1"/>
          </p:cNvSpPr>
          <p:nvPr/>
        </p:nvSpPr>
        <p:spPr>
          <a:xfrm xmlns:a="http://schemas.openxmlformats.org/drawingml/2006/main">
            <a:off x="4191000" y="3876675"/>
            <a:ext cx="7362825" cy="962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2175" b="0">
                <a:solidFill>
                  <a:srgbClr val="122632"/>
                </a:solidFill>
                <a:latin typeface="Arial"/>
                <a:ea typeface="Arial"/>
                <a:cs typeface="Arial"/>
              </a:defRPr>
            </a:defPPr>
          </a:lstStyle>
          <a:p xmlns:a="http://schemas.openxmlformats.org/drawingml/2006/main">
            <a:pPr>
              <a:defRPr sz="2175" b="0">
                <a:solidFill>
                  <a:srgbClr val="122632"/>
                </a:solidFill>
                <a:latin typeface="Arial"/>
                <a:ea typeface="Arial"/>
                <a:cs typeface="Arial"/>
              </a:defRPr>
            </a:pPr>
            <a:r>
              <a:rPr sz="2175" b="0">
                <a:solidFill>
                  <a:srgbClr val="122632"/>
                </a:solidFill>
                <a:latin typeface="Arial"/>
                <a:ea typeface="Arial"/>
                <a:cs typeface="Arial"/>
              </a:rPr>
              <a:t>Validate headers, payload checksums and structure.</a:t>
            </a:r>
          </a:p>
          <a:p xmlns:a="http://schemas.openxmlformats.org/drawingml/2006/main">
            <a:pPr>
              <a:defRPr sz="2175" b="0">
                <a:solidFill>
                  <a:srgbClr val="122632"/>
                </a:solidFill>
                <a:latin typeface="Arial"/>
                <a:ea typeface="Arial"/>
                <a:cs typeface="Arial"/>
              </a:defRPr>
            </a:pPr>
            <a:r>
              <a:rPr sz="2175" b="0">
                <a:solidFill>
                  <a:srgbClr val="122632"/>
                </a:solidFill>
                <a:latin typeface="Arial"/>
                <a:ea typeface="Arial"/>
                <a:cs typeface="Arial"/>
              </a:rPr>
              <a:t>Select the newest valid root.</a:t>
            </a:r>
          </a:p>
        </p:txBody>
      </p:sp>
      <p:sp>
        <p:nvSpPr>
          <p:cNvPr id="11" name="text-11">
            <a:extLst xmlns:a="http://schemas.openxmlformats.org/drawingml/2006/main">
              <a:ext uri="{FF2B5EF4-FFF2-40B4-BE49-F238E27FC236}">
                <a16:creationId xmlns:a16="http://schemas.microsoft.com/office/drawing/2014/main" id="{6ECEEF79-84E2-43E8-815F-2EB123DCABF5}"/>
              </a:ext>
            </a:extLst>
          </p:cNvPr>
          <p:cNvSpPr>
            <a:spLocks xmlns:a="http://schemas.openxmlformats.org/drawingml/2006/main" noGrp="1"/>
          </p:cNvSpPr>
          <p:nvPr/>
        </p:nvSpPr>
        <p:spPr>
          <a:xfrm xmlns:a="http://schemas.openxmlformats.org/drawingml/2006/main">
            <a:off x="609600" y="5267325"/>
            <a:ext cx="109728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2100" b="0">
                <a:solidFill>
                  <a:srgbClr val="58656A"/>
                </a:solidFill>
                <a:latin typeface="Arial"/>
                <a:ea typeface="Arial"/>
                <a:cs typeface="Arial"/>
              </a:defRPr>
            </a:defPPr>
          </a:lstStyle>
          <a:p xmlns:a="http://schemas.openxmlformats.org/drawingml/2006/main">
            <a:pPr>
              <a:defRPr sz="2100" b="0">
                <a:solidFill>
                  <a:srgbClr val="58656A"/>
                </a:solidFill>
                <a:latin typeface="Arial"/>
                <a:ea typeface="Arial"/>
                <a:cs typeface="Arial"/>
              </a:defRPr>
            </a:pPr>
            <a:r>
              <a:rPr sz="2100" b="0">
                <a:solidFill>
                  <a:srgbClr val="58656A"/>
                </a:solidFill>
                <a:latin typeface="Arial"/>
                <a:ea typeface="Arial"/>
                <a:cs typeface="Arial"/>
              </a:rPr>
              <a:t>64 retained generations on a 16-MiB disk.</a:t>
            </a:r>
          </a:p>
          <a:p xmlns:a="http://schemas.openxmlformats.org/drawingml/2006/main">
            <a:pPr>
              <a:defRPr sz="2100" b="0">
                <a:solidFill>
                  <a:srgbClr val="58656A"/>
                </a:solidFill>
                <a:latin typeface="Arial"/>
                <a:ea typeface="Arial"/>
                <a:cs typeface="Arial"/>
              </a:defRPr>
            </a:pPr>
            <a:r>
              <a:rPr sz="2100" b="0">
                <a:solidFill>
                  <a:srgbClr val="58656A"/>
                </a:solidFill>
                <a:latin typeface="Arial"/>
                <a:ea typeface="Arial"/>
                <a:cs typeface="Arial"/>
              </a:rPr>
              <a:t>Full volumes refuse new commits; old roots remain intact.</a:t>
            </a:r>
          </a:p>
        </p:txBody>
      </p:sp>
      <p:sp>
        <p:nvSpPr>
          <p:cNvPr id="12" name="text-12">
            <a:extLst xmlns:a="http://schemas.openxmlformats.org/drawingml/2006/main">
              <a:ext uri="{FF2B5EF4-FFF2-40B4-BE49-F238E27FC236}">
                <a16:creationId xmlns:a16="http://schemas.microsoft.com/office/drawing/2014/main" id="{D6CAC00C-FB6C-49E2-806A-16E0F92A9A43}"/>
              </a:ext>
            </a:extLst>
          </p:cNvPr>
          <p:cNvSpPr>
            <a:spLocks xmlns:a="http://schemas.openxmlformats.org/drawingml/2006/main" noGrp="1"/>
          </p:cNvSpPr>
          <p:nvPr/>
        </p:nvSpPr>
        <p:spPr>
          <a:xfrm xmlns:a="http://schemas.openxmlformats.org/drawingml/2006/main">
            <a:off x="609600" y="6486525"/>
            <a:ext cx="109728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1200" b="0">
                <a:solidFill>
                  <a:srgbClr val="58656A"/>
                </a:solidFill>
                <a:latin typeface="Arial"/>
                <a:ea typeface="Arial"/>
                <a:cs typeface="Arial"/>
              </a:defRPr>
            </a:defPPr>
          </a:lstStyle>
          <a:p xmlns:a="http://schemas.openxmlformats.org/drawingml/2006/main">
            <a:pPr>
              <a:defRPr sz="1200" b="0">
                <a:solidFill>
                  <a:srgbClr val="58656A"/>
                </a:solidFill>
                <a:latin typeface="Arial"/>
                <a:ea typeface="Arial"/>
                <a:cs typeface="Arial"/>
              </a:defRPr>
            </a:pPr>
            <a:r>
              <a:rPr sz="1200" b="0">
                <a:solidFill>
                  <a:srgbClr val="58656A"/>
                </a:solidFill>
                <a:latin typeface="Arial"/>
                <a:ea typeface="Arial"/>
                <a:cs typeface="Arial"/>
              </a:rPr>
              <a:t>10 / 24     On ambiguous I/O failure, the mount refuses further operations until remount.</a:t>
            </a:r>
          </a:p>
        </p:txBody>
      </p:sp>
    </p:spTree>
    <p:extLst>
      <p:ext uri="{BB962C8B-B14F-4D97-AF65-F5344CB8AC3E}">
        <p14:creationId xmlns:p14="http://schemas.microsoft.com/office/powerpoint/2010/main" val="923066889"/>
      </p:ext>
    </p:extLst>
  </p:cSld>
</p:sld>
</file>

<file path=ppt/slides/slide11.xml><?xml version="1.0" encoding="utf-8"?>
<p:sld xmlns:p="http://schemas.openxmlformats.org/presentationml/2006/main">
  <p:cSld>
    <p:bg>
      <p:bgPr>
        <a:solidFill xmlns:a="http://schemas.openxmlformats.org/drawingml/2006/main">
          <a:srgbClr val="F6F4EE"/>
        </a:solidFill>
      </p:bgPr>
    </p:bg>
    <p:spTree>
      <p:nvGrpSpPr>
        <p:cNvPr id="1" name=""/>
        <p:cNvGrpSpPr/>
        <p:nvPr/>
      </p:nvGrpSpPr>
      <p:grpSpPr>
        <a:xfrm xmlns:a="http://schemas.openxmlformats.org/drawingml/2006/main"/>
      </p:grpSpPr>
      <p:sp>
        <p:nvSpPr>
          <p:cNvPr id="4" name="text-1">
            <a:extLst xmlns:a="http://schemas.openxmlformats.org/drawingml/2006/main">
              <a:ext uri="{FF2B5EF4-FFF2-40B4-BE49-F238E27FC236}">
                <a16:creationId xmlns:a16="http://schemas.microsoft.com/office/drawing/2014/main" id="{3D04E239-9E28-49DE-ADFE-96C090760E21}"/>
              </a:ext>
            </a:extLst>
          </p:cNvPr>
          <p:cNvSpPr>
            <a:spLocks xmlns:a="http://schemas.openxmlformats.org/drawingml/2006/main" noGrp="1"/>
          </p:cNvSpPr>
          <p:nvPr/>
        </p:nvSpPr>
        <p:spPr>
          <a:xfrm xmlns:a="http://schemas.openxmlformats.org/drawingml/2006/main">
            <a:off x="609600" y="514350"/>
            <a:ext cx="109728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3300" b="1">
                <a:solidFill>
                  <a:srgbClr val="122632"/>
                </a:solidFill>
                <a:latin typeface="Arial"/>
                <a:ea typeface="Arial"/>
                <a:cs typeface="Arial"/>
              </a:defRPr>
            </a:defPPr>
          </a:lstStyle>
          <a:p xmlns:a="http://schemas.openxmlformats.org/drawingml/2006/main">
            <a:pPr>
              <a:defRPr sz="3300" b="1">
                <a:solidFill>
                  <a:srgbClr val="122632"/>
                </a:solidFill>
                <a:latin typeface="Arial"/>
                <a:ea typeface="Arial"/>
                <a:cs typeface="Arial"/>
              </a:defRPr>
            </a:pPr>
            <a:r>
              <a:rPr sz="3300" b="1">
                <a:solidFill>
                  <a:srgbClr val="122632"/>
                </a:solidFill>
                <a:latin typeface="Arial"/>
                <a:ea typeface="Arial"/>
                <a:cs typeface="Arial"/>
              </a:rPr>
              <a:t>Two checkpoint paths</a:t>
            </a:r>
          </a:p>
        </p:txBody>
      </p:sp>
      <p:graphicFrame>
        <p:nvGraphicFramePr>
          <p:cNvPr id="2" name="">
            <a:extLst xmlns:a="http://schemas.openxmlformats.org/drawingml/2006/main">
              <a:ext uri="{FF2B5EF4-FFF2-40B4-BE49-F238E27FC236}">
                <a16:creationId xmlns:a16="http://schemas.microsoft.com/office/drawing/2014/main" id="{5E4FCB3A-097B-459D-B437-6DA5EB6A58D3}"/>
              </a:ext>
            </a:extLst>
          </p:cNvPr>
          <p:cNvGraphicFramePr/>
          <p:nvPr/>
        </p:nvGraphicFramePr>
        <p:xfrm>
          <a:off xmlns:a="http://schemas.openxmlformats.org/drawingml/2006/main" x="609600" y="1685925"/>
          <a:ext xmlns:a="http://schemas.openxmlformats.org/drawingml/2006/main" cx="10972800" cy="4171950"/>
        </p:xfrm>
        <a:graphic xmlns:a="http://schemas.openxmlformats.org/drawingml/2006/main">
          <a:graphicData uri="http://schemas.openxmlformats.org/drawingml/2006/table">
            <a:tbl>
              <a:tblPr firstRow="1" bandRow="0"/>
              <a:tblGrid>
                <a:gridCol w="2476500"/>
                <a:gridCol w="4248150"/>
                <a:gridCol w="4248150"/>
              </a:tblGrid>
              <a:tr h="457200">
                <a:tc>
                  <a:txBody>
                    <a:bodyPr/>
                    <a:lstStyle/>
                    <a:p>
                      <a:r>
                        <a:rPr sz="1725" b="1">
                          <a:solidFill>
                            <a:srgbClr val="FCFCF8"/>
                          </a:solidFill>
                          <a:latin typeface="Arial"/>
                          <a:ea typeface="Arial"/>
                          <a:cs typeface="Arial"/>
                        </a:rPr>
                        <a:t>Property</a:t>
                      </a:r>
                    </a:p>
                  </a:txBody>
                  <a:tcPr marL="123825" marR="123825" marT="66675" marB="66675" anchor="ctr">
                    <a:solidFill>
                      <a:srgbClr val="122632"/>
                    </a:solidFill>
                  </a:tcPr>
                </a:tc>
                <a:tc>
                  <a:txBody>
                    <a:bodyPr/>
                    <a:lstStyle/>
                    <a:p>
                      <a:r>
                        <a:rPr sz="1725" b="1">
                          <a:solidFill>
                            <a:srgbClr val="FCFCF8"/>
                          </a:solidFill>
                          <a:latin typeface="Arial"/>
                          <a:ea typeface="Arial"/>
                          <a:cs typeface="Arial"/>
                        </a:rPr>
                        <a:t>Native counter service</a:t>
                      </a:r>
                    </a:p>
                  </a:txBody>
                  <a:tcPr marL="123825" marR="123825" marT="66675" marB="66675" anchor="ctr">
                    <a:solidFill>
                      <a:srgbClr val="122632"/>
                    </a:solidFill>
                  </a:tcPr>
                </a:tc>
                <a:tc>
                  <a:txBody>
                    <a:bodyPr/>
                    <a:lstStyle/>
                    <a:p>
                      <a:r>
                        <a:rPr sz="1725" b="1">
                          <a:solidFill>
                            <a:srgbClr val="FCFCF8"/>
                          </a:solidFill>
                          <a:latin typeface="Arial"/>
                          <a:ea typeface="Arial"/>
                          <a:cs typeface="Arial"/>
                        </a:rPr>
                        <a:t>Wasm worker</a:t>
                      </a:r>
                    </a:p>
                  </a:txBody>
                  <a:tcPr marL="123825" marR="123825" marT="66675" marB="66675" anchor="ctr">
                    <a:solidFill>
                      <a:srgbClr val="122632"/>
                    </a:solidFill>
                  </a:tcPr>
                </a:tc>
              </a:tr>
              <a:tr h="742950">
                <a:tc>
                  <a:txBody>
                    <a:bodyPr/>
                    <a:lstStyle/>
                    <a:p>
                      <a:r>
                        <a:rPr sz="1800" b="1">
                          <a:solidFill>
                            <a:srgbClr val="122632"/>
                          </a:solidFill>
                          <a:latin typeface="Arial"/>
                          <a:ea typeface="Arial"/>
                          <a:cs typeface="Arial"/>
                        </a:rPr>
                        <a:t>Boundary</a:t>
                      </a:r>
                    </a:p>
                  </a:txBody>
                  <a:tcPr marL="123825" marR="123825" marT="66675" marB="66675" anchor="ctr">
                    <a:solidFill>
                      <a:srgbClr val="F6F4EE"/>
                    </a:solidFill>
                  </a:tcPr>
                </a:tc>
                <a:tc>
                  <a:txBody>
                    <a:bodyPr/>
                    <a:lstStyle/>
                    <a:p>
                      <a:r>
                        <a:rPr sz="1800" b="0">
                          <a:solidFill>
                            <a:srgbClr val="122632"/>
                          </a:solidFill>
                          <a:latin typeface="Arial"/>
                          <a:ea typeface="Arial"/>
                          <a:cs typeface="Arial"/>
                        </a:rPr>
                        <a:t>Blocked IPC receive</a:t>
                      </a:r>
                    </a:p>
                  </a:txBody>
                  <a:tcPr marL="123825" marR="123825" marT="66675" marB="66675" anchor="ctr">
                    <a:solidFill>
                      <a:srgbClr val="F6F4EE"/>
                    </a:solidFill>
                  </a:tcPr>
                </a:tc>
                <a:tc>
                  <a:txBody>
                    <a:bodyPr/>
                    <a:lstStyle/>
                    <a:p>
                      <a:r>
                        <a:rPr sz="1800" b="0">
                          <a:solidFill>
                            <a:srgbClr val="122632"/>
                          </a:solidFill>
                          <a:latin typeface="Arial"/>
                          <a:ea typeface="Arial"/>
                          <a:cs typeface="Arial"/>
                        </a:rPr>
                        <a:t>Completed request handler</a:t>
                      </a:r>
                    </a:p>
                  </a:txBody>
                  <a:tcPr marL="123825" marR="123825" marT="66675" marB="66675" anchor="ctr">
                    <a:solidFill>
                      <a:srgbClr val="F6F4EE"/>
                    </a:solidFill>
                  </a:tcPr>
                </a:tc>
              </a:tr>
              <a:tr h="742950">
                <a:tc>
                  <a:txBody>
                    <a:bodyPr/>
                    <a:lstStyle/>
                    <a:p>
                      <a:r>
                        <a:rPr sz="1800" b="1">
                          <a:solidFill>
                            <a:srgbClr val="122632"/>
                          </a:solidFill>
                          <a:latin typeface="Arial"/>
                          <a:ea typeface="Arial"/>
                          <a:cs typeface="Arial"/>
                        </a:rPr>
                        <a:t>Saved state</a:t>
                      </a:r>
                    </a:p>
                  </a:txBody>
                  <a:tcPr marL="123825" marR="123825" marT="66675" marB="66675" anchor="ctr">
                    <a:solidFill>
                      <a:srgbClr val="E9EDE7"/>
                    </a:solidFill>
                  </a:tcPr>
                </a:tc>
                <a:tc>
                  <a:txBody>
                    <a:bodyPr/>
                    <a:lstStyle/>
                    <a:p>
                      <a:r>
                        <a:rPr sz="1800" b="0">
                          <a:solidFill>
                            <a:srgbClr val="122632"/>
                          </a:solidFill>
                          <a:latin typeface="Arial"/>
                          <a:ea typeface="Arial"/>
                          <a:cs typeface="Arial"/>
                        </a:rPr>
                        <a:t>Registers and page mappings</a:t>
                      </a:r>
                    </a:p>
                  </a:txBody>
                  <a:tcPr marL="123825" marR="123825" marT="66675" marB="66675" anchor="ctr">
                    <a:solidFill>
                      <a:srgbClr val="E9EDE7"/>
                    </a:solidFill>
                  </a:tcPr>
                </a:tc>
                <a:tc>
                  <a:txBody>
                    <a:bodyPr/>
                    <a:lstStyle/>
                    <a:p>
                      <a:r>
                        <a:rPr sz="1800" b="0">
                          <a:solidFill>
                            <a:srgbClr val="122632"/>
                          </a:solidFill>
                          <a:latin typeface="Arial"/>
                          <a:ea typeface="Arial"/>
                          <a:cs typeface="Arial"/>
                        </a:rPr>
                        <a:t>Linear memory and mutable global</a:t>
                      </a:r>
                    </a:p>
                  </a:txBody>
                  <a:tcPr marL="123825" marR="123825" marT="66675" marB="66675" anchor="ctr">
                    <a:solidFill>
                      <a:srgbClr val="E9EDE7"/>
                    </a:solidFill>
                  </a:tcPr>
                </a:tc>
              </a:tr>
              <a:tr h="742950">
                <a:tc>
                  <a:txBody>
                    <a:bodyPr/>
                    <a:lstStyle/>
                    <a:p>
                      <a:r>
                        <a:rPr sz="1800" b="1">
                          <a:solidFill>
                            <a:srgbClr val="122632"/>
                          </a:solidFill>
                          <a:latin typeface="Arial"/>
                          <a:ea typeface="Arial"/>
                          <a:cs typeface="Arial"/>
                        </a:rPr>
                        <a:t>Copy mechanism</a:t>
                      </a:r>
                    </a:p>
                  </a:txBody>
                  <a:tcPr marL="123825" marR="123825" marT="66675" marB="66675" anchor="ctr">
                    <a:solidFill>
                      <a:srgbClr val="F6F4EE"/>
                    </a:solidFill>
                  </a:tcPr>
                </a:tc>
                <a:tc>
                  <a:txBody>
                    <a:bodyPr/>
                    <a:lstStyle/>
                    <a:p>
                      <a:r>
                        <a:rPr sz="1800" b="0">
                          <a:solidFill>
                            <a:srgbClr val="122632"/>
                          </a:solidFill>
                          <a:latin typeface="Arial"/>
                          <a:ea typeface="Arial"/>
                          <a:cs typeface="Arial"/>
                        </a:rPr>
                        <a:t>Page protection and copy-on-write</a:t>
                      </a:r>
                    </a:p>
                  </a:txBody>
                  <a:tcPr marL="123825" marR="123825" marT="66675" marB="66675" anchor="ctr">
                    <a:solidFill>
                      <a:srgbClr val="F6F4EE"/>
                    </a:solidFill>
                  </a:tcPr>
                </a:tc>
                <a:tc>
                  <a:txBody>
                    <a:bodyPr/>
                    <a:lstStyle/>
                    <a:p>
                      <a:r>
                        <a:rPr sz="1800" b="0">
                          <a:solidFill>
                            <a:srgbClr val="122632"/>
                          </a:solidFill>
                          <a:latin typeface="Arial"/>
                          <a:ea typeface="Arial"/>
                          <a:cs typeface="Arial"/>
                        </a:rPr>
                        <a:t>Full state copy</a:t>
                      </a:r>
                    </a:p>
                  </a:txBody>
                  <a:tcPr marL="123825" marR="123825" marT="66675" marB="66675" anchor="ctr">
                    <a:solidFill>
                      <a:srgbClr val="F6F4EE"/>
                    </a:solidFill>
                  </a:tcPr>
                </a:tc>
              </a:tr>
              <a:tr h="742950">
                <a:tc>
                  <a:txBody>
                    <a:bodyPr/>
                    <a:lstStyle/>
                    <a:p>
                      <a:r>
                        <a:rPr sz="1800" b="1">
                          <a:solidFill>
                            <a:srgbClr val="122632"/>
                          </a:solidFill>
                          <a:latin typeface="Arial"/>
                          <a:ea typeface="Arial"/>
                          <a:cs typeface="Arial"/>
                        </a:rPr>
                        <a:t>Replay input</a:t>
                      </a:r>
                    </a:p>
                  </a:txBody>
                  <a:tcPr marL="123825" marR="123825" marT="66675" marB="66675" anchor="ctr">
                    <a:solidFill>
                      <a:srgbClr val="E9EDE7"/>
                    </a:solidFill>
                  </a:tcPr>
                </a:tc>
                <a:tc>
                  <a:txBody>
                    <a:bodyPr/>
                    <a:lstStyle/>
                    <a:p>
                      <a:r>
                        <a:rPr sz="1800" b="0">
                          <a:solidFill>
                            <a:srgbClr val="122632"/>
                          </a:solidFill>
                          <a:latin typeface="Arial"/>
                          <a:ea typeface="Arial"/>
                          <a:cs typeface="Arial"/>
                        </a:rPr>
                        <a:t>Two recorded IPC requests</a:t>
                      </a:r>
                    </a:p>
                  </a:txBody>
                  <a:tcPr marL="123825" marR="123825" marT="66675" marB="66675" anchor="ctr">
                    <a:solidFill>
                      <a:srgbClr val="E9EDE7"/>
                    </a:solidFill>
                  </a:tcPr>
                </a:tc>
                <a:tc>
                  <a:txBody>
                    <a:bodyPr/>
                    <a:lstStyle/>
                    <a:p>
                      <a:r>
                        <a:rPr sz="1800" b="0">
                          <a:solidFill>
                            <a:srgbClr val="122632"/>
                          </a:solidFill>
                          <a:latin typeface="Arial"/>
                          <a:ea typeface="Arial"/>
                          <a:cs typeface="Arial"/>
                        </a:rPr>
                        <a:t>Requests, clock and random values</a:t>
                      </a:r>
                    </a:p>
                  </a:txBody>
                  <a:tcPr marL="123825" marR="123825" marT="66675" marB="66675" anchor="ctr">
                    <a:solidFill>
                      <a:srgbClr val="E9EDE7"/>
                    </a:solidFill>
                  </a:tcPr>
                </a:tc>
              </a:tr>
              <a:tr h="742950">
                <a:tc>
                  <a:txBody>
                    <a:bodyPr/>
                    <a:lstStyle/>
                    <a:p>
                      <a:r>
                        <a:rPr sz="1800" b="1">
                          <a:solidFill>
                            <a:srgbClr val="122632"/>
                          </a:solidFill>
                          <a:latin typeface="Arial"/>
                          <a:ea typeface="Arial"/>
                          <a:cs typeface="Arial"/>
                        </a:rPr>
                        <a:t>Success check</a:t>
                      </a:r>
                    </a:p>
                  </a:txBody>
                  <a:tcPr marL="123825" marR="123825" marT="66675" marB="66675" anchor="ctr">
                    <a:solidFill>
                      <a:srgbClr val="F6F4EE"/>
                    </a:solidFill>
                  </a:tcPr>
                </a:tc>
                <a:tc>
                  <a:txBody>
                    <a:bodyPr/>
                    <a:lstStyle/>
                    <a:p>
                      <a:r>
                        <a:rPr sz="1800" b="0">
                          <a:solidFill>
                            <a:srgbClr val="122632"/>
                          </a:solidFill>
                          <a:latin typeface="Arial"/>
                          <a:ea typeface="Arial"/>
                          <a:cs typeface="Arial"/>
                        </a:rPr>
                        <a:t>Equal replies; stale handles fail</a:t>
                      </a:r>
                    </a:p>
                  </a:txBody>
                  <a:tcPr marL="123825" marR="123825" marT="66675" marB="66675" anchor="ctr">
                    <a:solidFill>
                      <a:srgbClr val="F6F4EE"/>
                    </a:solidFill>
                  </a:tcPr>
                </a:tc>
                <a:tc>
                  <a:txBody>
                    <a:bodyPr/>
                    <a:lstStyle/>
                    <a:p>
                      <a:r>
                        <a:rPr sz="1800" b="0">
                          <a:solidFill>
                            <a:srgbClr val="122632"/>
                          </a:solidFill>
                          <a:latin typeface="Arial"/>
                          <a:ea typeface="Arial"/>
                          <a:cs typeface="Arial"/>
                        </a:rPr>
                        <a:t>Complete trace; equal state and effects</a:t>
                      </a:r>
                    </a:p>
                  </a:txBody>
                  <a:tcPr marL="123825" marR="123825" marT="66675" marB="66675" anchor="ctr">
                    <a:solidFill>
                      <a:srgbClr val="F6F4EE"/>
                    </a:solidFill>
                  </a:tcPr>
                </a:tc>
              </a:tr>
            </a:tbl>
          </a:graphicData>
        </a:graphic>
      </p:graphicFrame>
      <p:sp>
        <p:nvSpPr>
          <p:cNvPr id="3" name="text-2">
            <a:extLst xmlns:a="http://schemas.openxmlformats.org/drawingml/2006/main">
              <a:ext uri="{FF2B5EF4-FFF2-40B4-BE49-F238E27FC236}">
                <a16:creationId xmlns:a16="http://schemas.microsoft.com/office/drawing/2014/main" id="{5B30F1F6-4240-4D09-950D-C3E2C67229F8}"/>
              </a:ext>
            </a:extLst>
          </p:cNvPr>
          <p:cNvSpPr>
            <a:spLocks xmlns:a="http://schemas.openxmlformats.org/drawingml/2006/main" noGrp="1"/>
          </p:cNvSpPr>
          <p:nvPr/>
        </p:nvSpPr>
        <p:spPr>
          <a:xfrm xmlns:a="http://schemas.openxmlformats.org/drawingml/2006/main">
            <a:off x="609600" y="6486525"/>
            <a:ext cx="109728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1200" b="0">
                <a:solidFill>
                  <a:srgbClr val="58656A"/>
                </a:solidFill>
                <a:latin typeface="Arial"/>
                <a:ea typeface="Arial"/>
                <a:cs typeface="Arial"/>
              </a:defRPr>
            </a:defPPr>
          </a:lstStyle>
          <a:p xmlns:a="http://schemas.openxmlformats.org/drawingml/2006/main">
            <a:pPr>
              <a:defRPr sz="1200" b="0">
                <a:solidFill>
                  <a:srgbClr val="58656A"/>
                </a:solidFill>
                <a:latin typeface="Arial"/>
                <a:ea typeface="Arial"/>
                <a:cs typeface="Arial"/>
              </a:defRPr>
            </a:pPr>
            <a:r>
              <a:rPr sz="1200" b="0">
                <a:solidFill>
                  <a:srgbClr val="58656A"/>
                </a:solidFill>
                <a:latin typeface="Arial"/>
                <a:ea typeface="Arial"/>
                <a:cs typeface="Arial"/>
              </a:rPr>
              <a:t>11 / 24     Native COW and Wasm snapshots are separate implementations with restricted scopes.</a:t>
            </a:r>
          </a:p>
        </p:txBody>
      </p:sp>
    </p:spTree>
    <p:extLst>
      <p:ext uri="{BB962C8B-B14F-4D97-AF65-F5344CB8AC3E}">
        <p14:creationId xmlns:p14="http://schemas.microsoft.com/office/powerpoint/2010/main" val="1205525265"/>
      </p:ext>
    </p:extLst>
  </p:cSld>
</p:sld>
</file>

<file path=ppt/slides/slide12.xml><?xml version="1.0" encoding="utf-8"?>
<p:sld xmlns:p="http://schemas.openxmlformats.org/presentationml/2006/main">
  <p:cSld>
    <p:bg>
      <p:bgPr>
        <a:solidFill xmlns:a="http://schemas.openxmlformats.org/drawingml/2006/main">
          <a:srgbClr val="F6F4EE"/>
        </a:solidFill>
      </p:bgPr>
    </p:bg>
    <p:spTree>
      <p:nvGrpSpPr>
        <p:cNvPr id="1" name=""/>
        <p:cNvGrpSpPr/>
        <p:nvPr/>
      </p:nvGrpSpPr>
      <p:grpSpPr>
        <a:xfrm xmlns:a="http://schemas.openxmlformats.org/drawingml/2006/main"/>
      </p:grpSpPr>
      <p:sp>
        <p:nvSpPr>
          <p:cNvPr id="19" name="text-1">
            <a:extLst xmlns:a="http://schemas.openxmlformats.org/drawingml/2006/main">
              <a:ext uri="{FF2B5EF4-FFF2-40B4-BE49-F238E27FC236}">
                <a16:creationId xmlns:a16="http://schemas.microsoft.com/office/drawing/2014/main" id="{D90D411D-C8CA-433D-A181-290A2684F6DB}"/>
              </a:ext>
            </a:extLst>
          </p:cNvPr>
          <p:cNvSpPr>
            <a:spLocks xmlns:a="http://schemas.openxmlformats.org/drawingml/2006/main" noGrp="1"/>
          </p:cNvSpPr>
          <p:nvPr/>
        </p:nvSpPr>
        <p:spPr>
          <a:xfrm xmlns:a="http://schemas.openxmlformats.org/drawingml/2006/main">
            <a:off x="609600" y="514350"/>
            <a:ext cx="109728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3300" b="1">
                <a:solidFill>
                  <a:srgbClr val="122632"/>
                </a:solidFill>
                <a:latin typeface="Arial"/>
                <a:ea typeface="Arial"/>
                <a:cs typeface="Arial"/>
              </a:defRPr>
            </a:defPPr>
          </a:lstStyle>
          <a:p xmlns:a="http://schemas.openxmlformats.org/drawingml/2006/main">
            <a:pPr>
              <a:defRPr sz="3300" b="1">
                <a:solidFill>
                  <a:srgbClr val="122632"/>
                </a:solidFill>
                <a:latin typeface="Arial"/>
                <a:ea typeface="Arial"/>
                <a:cs typeface="Arial"/>
              </a:defRPr>
            </a:pPr>
            <a:r>
              <a:rPr sz="3300" b="1">
                <a:solidFill>
                  <a:srgbClr val="122632"/>
                </a:solidFill>
                <a:latin typeface="Arial"/>
                <a:ea typeface="Arial"/>
                <a:cs typeface="Arial"/>
              </a:rPr>
              <a:t>Algorithm: policy-checked recovery</a:t>
            </a:r>
          </a:p>
        </p:txBody>
      </p:sp>
      <p:sp>
        <p:nvSpPr>
          <p:cNvPr id="2" name="diagram-2">
            <a:extLst xmlns:a="http://schemas.openxmlformats.org/drawingml/2006/main">
              <a:ext uri="{FF2B5EF4-FFF2-40B4-BE49-F238E27FC236}">
                <a16:creationId xmlns:a16="http://schemas.microsoft.com/office/drawing/2014/main" id="{B44EB3B4-BA20-4067-A5E5-CD5A7755A3EB}"/>
              </a:ext>
            </a:extLst>
          </p:cNvPr>
          <p:cNvSpPr>
            <a:spLocks xmlns:a="http://schemas.openxmlformats.org/drawingml/2006/main" noGrp="1"/>
          </p:cNvSpPr>
          <p:nvPr/>
        </p:nvSpPr>
        <p:spPr>
          <a:xfrm xmlns:a="http://schemas.openxmlformats.org/drawingml/2006/main">
            <a:off x="609600" y="1638300"/>
            <a:ext cx="7877175" cy="533400"/>
          </a:xfrm>
          <a:prstGeom xmlns:a="http://schemas.openxmlformats.org/drawingml/2006/main" prst="rect">
            <a:avLst/>
          </a:prstGeom>
          <a:solidFill xmlns:a="http://schemas.openxmlformats.org/drawingml/2006/main">
            <a:srgbClr val="FCFCF8"/>
          </a:solidFill>
          <a:ln xmlns:a="http://schemas.openxmlformats.org/drawingml/2006/main" w="14288">
            <a:solidFill>
              <a:srgbClr val="146B5F"/>
            </a:solidFill>
          </a:ln>
        </p:spPr>
        <p:txBody>
          <a:bodyPr xmlns:a="http://schemas.openxmlformats.org/drawingml/2006/main" wrap="square" lIns="95250" tIns="95250" rIns="95250" bIns="95250" anchor="ctr"/>
          <a:lstStyle xmlns:a="http://schemas.openxmlformats.org/drawingml/2006/main">
            <a:defPPr algn="ctr">
              <a:defRPr sz="1875" b="0">
                <a:solidFill>
                  <a:srgbClr val="122632"/>
                </a:solidFill>
                <a:latin typeface="Arial"/>
                <a:ea typeface="Arial"/>
                <a:cs typeface="Arial"/>
              </a:defRPr>
            </a:defPPr>
          </a:lstStyle>
          <a:p xmlns:a="http://schemas.openxmlformats.org/drawingml/2006/main">
            <a:pPr algn="ctr">
              <a:defRPr sz="1875" b="0">
                <a:solidFill>
                  <a:srgbClr val="122632"/>
                </a:solidFill>
                <a:latin typeface="Arial"/>
                <a:ea typeface="Arial"/>
                <a:cs typeface="Arial"/>
              </a:defRPr>
            </a:pPr>
            <a:r>
              <a:rPr sz="1875" b="0">
                <a:solidFill>
                  <a:srgbClr val="122632"/>
                </a:solidFill>
                <a:latin typeface="Arial"/>
                <a:ea typeface="Arial"/>
                <a:cs typeface="Arial"/>
              </a:rPr>
              <a:t>Discard failed worker; load bundle and candidate plan</a:t>
            </a:r>
          </a:p>
        </p:txBody>
      </p:sp>
      <p:sp>
        <p:nvSpPr>
          <p:cNvPr id="3" name="flow-3">
            <a:extLst xmlns:a="http://schemas.openxmlformats.org/drawingml/2006/main">
              <a:ext uri="{FF2B5EF4-FFF2-40B4-BE49-F238E27FC236}">
                <a16:creationId xmlns:a16="http://schemas.microsoft.com/office/drawing/2014/main" id="{6E9ECD82-0AFD-4D0A-9E0E-3870B609E560}"/>
              </a:ext>
            </a:extLst>
          </p:cNvPr>
          <p:cNvSpPr>
            <a:spLocks xmlns:a="http://schemas.openxmlformats.org/drawingml/2006/main" noGrp="1"/>
          </p:cNvSpPr>
          <p:nvPr/>
        </p:nvSpPr>
        <p:spPr>
          <a:xfrm xmlns:a="http://schemas.openxmlformats.org/drawingml/2006/main">
            <a:off x="4438650" y="2200275"/>
            <a:ext cx="209550" cy="161925"/>
          </a:xfrm>
          <a:prstGeom xmlns:a="http://schemas.openxmlformats.org/drawingml/2006/main" prst="downArrow">
            <a:avLst/>
          </a:prstGeom>
          <a:solidFill xmlns:a="http://schemas.openxmlformats.org/drawingml/2006/main">
            <a:srgbClr val="146B5F"/>
          </a:solidFill>
          <a:ln xmlns:a="http://schemas.openxmlformats.org/drawingml/2006/main" w="0">
            <a:noFill/>
          </a:ln>
        </p:spPr>
      </p:sp>
      <p:sp>
        <p:nvSpPr>
          <p:cNvPr id="4" name="diagram-4">
            <a:extLst xmlns:a="http://schemas.openxmlformats.org/drawingml/2006/main">
              <a:ext uri="{FF2B5EF4-FFF2-40B4-BE49-F238E27FC236}">
                <a16:creationId xmlns:a16="http://schemas.microsoft.com/office/drawing/2014/main" id="{5986545E-6E4F-42C7-A94D-88402665274B}"/>
              </a:ext>
            </a:extLst>
          </p:cNvPr>
          <p:cNvSpPr>
            <a:spLocks xmlns:a="http://schemas.openxmlformats.org/drawingml/2006/main" noGrp="1"/>
          </p:cNvSpPr>
          <p:nvPr/>
        </p:nvSpPr>
        <p:spPr>
          <a:xfrm xmlns:a="http://schemas.openxmlformats.org/drawingml/2006/main">
            <a:off x="609600" y="2381250"/>
            <a:ext cx="7877175" cy="533400"/>
          </a:xfrm>
          <a:prstGeom xmlns:a="http://schemas.openxmlformats.org/drawingml/2006/main" prst="rect">
            <a:avLst/>
          </a:prstGeom>
          <a:solidFill xmlns:a="http://schemas.openxmlformats.org/drawingml/2006/main">
            <a:srgbClr val="FCFCF8"/>
          </a:solidFill>
          <a:ln xmlns:a="http://schemas.openxmlformats.org/drawingml/2006/main" w="14288">
            <a:solidFill>
              <a:srgbClr val="146B5F"/>
            </a:solidFill>
          </a:ln>
        </p:spPr>
        <p:txBody>
          <a:bodyPr xmlns:a="http://schemas.openxmlformats.org/drawingml/2006/main" wrap="square" lIns="95250" tIns="95250" rIns="95250" bIns="95250" anchor="ctr"/>
          <a:lstStyle xmlns:a="http://schemas.openxmlformats.org/drawingml/2006/main">
            <a:defPPr algn="ctr">
              <a:defRPr sz="1875" b="0">
                <a:solidFill>
                  <a:srgbClr val="122632"/>
                </a:solidFill>
                <a:latin typeface="Arial"/>
                <a:ea typeface="Arial"/>
                <a:cs typeface="Arial"/>
              </a:defRPr>
            </a:defPPr>
          </a:lstStyle>
          <a:p xmlns:a="http://schemas.openxmlformats.org/drawingml/2006/main">
            <a:pPr algn="ctr">
              <a:defRPr sz="1875" b="0">
                <a:solidFill>
                  <a:srgbClr val="122632"/>
                </a:solidFill>
                <a:latin typeface="Arial"/>
                <a:ea typeface="Arial"/>
                <a:cs typeface="Arial"/>
              </a:defRPr>
            </a:pPr>
            <a:r>
              <a:rPr sz="1875" b="0">
                <a:solidFill>
                  <a:srgbClr val="122632"/>
                </a:solidFill>
                <a:latin typeface="Arial"/>
                <a:ea typeface="Arial"/>
                <a:cs typeface="Arial"/>
              </a:rPr>
              <a:t>Verify policy; revalidate context before execution</a:t>
            </a:r>
          </a:p>
        </p:txBody>
      </p:sp>
      <p:sp>
        <p:nvSpPr>
          <p:cNvPr id="5" name="flow-5">
            <a:extLst xmlns:a="http://schemas.openxmlformats.org/drawingml/2006/main">
              <a:ext uri="{FF2B5EF4-FFF2-40B4-BE49-F238E27FC236}">
                <a16:creationId xmlns:a16="http://schemas.microsoft.com/office/drawing/2014/main" id="{3F8014DB-5FCB-4D65-8E75-154121FE615C}"/>
              </a:ext>
            </a:extLst>
          </p:cNvPr>
          <p:cNvSpPr>
            <a:spLocks xmlns:a="http://schemas.openxmlformats.org/drawingml/2006/main" noGrp="1"/>
          </p:cNvSpPr>
          <p:nvPr/>
        </p:nvSpPr>
        <p:spPr>
          <a:xfrm xmlns:a="http://schemas.openxmlformats.org/drawingml/2006/main">
            <a:off x="4438650" y="2943225"/>
            <a:ext cx="209550" cy="161925"/>
          </a:xfrm>
          <a:prstGeom xmlns:a="http://schemas.openxmlformats.org/drawingml/2006/main" prst="downArrow">
            <a:avLst/>
          </a:prstGeom>
          <a:solidFill xmlns:a="http://schemas.openxmlformats.org/drawingml/2006/main">
            <a:srgbClr val="146B5F"/>
          </a:solidFill>
          <a:ln xmlns:a="http://schemas.openxmlformats.org/drawingml/2006/main" w="0">
            <a:noFill/>
          </a:ln>
        </p:spPr>
      </p:sp>
      <p:sp>
        <p:nvSpPr>
          <p:cNvPr id="6" name="diagram-6">
            <a:extLst xmlns:a="http://schemas.openxmlformats.org/drawingml/2006/main">
              <a:ext uri="{FF2B5EF4-FFF2-40B4-BE49-F238E27FC236}">
                <a16:creationId xmlns:a16="http://schemas.microsoft.com/office/drawing/2014/main" id="{85F7299A-8863-4A26-813D-C57F1FE232A7}"/>
              </a:ext>
            </a:extLst>
          </p:cNvPr>
          <p:cNvSpPr>
            <a:spLocks xmlns:a="http://schemas.openxmlformats.org/drawingml/2006/main" noGrp="1"/>
          </p:cNvSpPr>
          <p:nvPr/>
        </p:nvSpPr>
        <p:spPr>
          <a:xfrm xmlns:a="http://schemas.openxmlformats.org/drawingml/2006/main">
            <a:off x="609600" y="3124200"/>
            <a:ext cx="7877175" cy="533400"/>
          </a:xfrm>
          <a:prstGeom xmlns:a="http://schemas.openxmlformats.org/drawingml/2006/main" prst="rect">
            <a:avLst/>
          </a:prstGeom>
          <a:solidFill xmlns:a="http://schemas.openxmlformats.org/drawingml/2006/main">
            <a:srgbClr val="FCFCF8"/>
          </a:solidFill>
          <a:ln xmlns:a="http://schemas.openxmlformats.org/drawingml/2006/main" w="14288">
            <a:solidFill>
              <a:srgbClr val="146B5F"/>
            </a:solidFill>
          </a:ln>
        </p:spPr>
        <p:txBody>
          <a:bodyPr xmlns:a="http://schemas.openxmlformats.org/drawingml/2006/main" wrap="square" lIns="95250" tIns="95250" rIns="95250" bIns="95250" anchor="ctr"/>
          <a:lstStyle xmlns:a="http://schemas.openxmlformats.org/drawingml/2006/main">
            <a:defPPr algn="ctr">
              <a:defRPr sz="1875" b="0">
                <a:solidFill>
                  <a:srgbClr val="122632"/>
                </a:solidFill>
                <a:latin typeface="Arial"/>
                <a:ea typeface="Arial"/>
                <a:cs typeface="Arial"/>
              </a:defRPr>
            </a:defPPr>
          </a:lstStyle>
          <a:p xmlns:a="http://schemas.openxmlformats.org/drawingml/2006/main">
            <a:pPr algn="ctr">
              <a:defRPr sz="1875" b="0">
                <a:solidFill>
                  <a:srgbClr val="122632"/>
                </a:solidFill>
                <a:latin typeface="Arial"/>
                <a:ea typeface="Arial"/>
                <a:cs typeface="Arial"/>
              </a:defRPr>
            </a:pPr>
            <a:r>
              <a:rPr sz="1875" b="0">
                <a:solidFill>
                  <a:srgbClr val="122632"/>
                </a:solidFill>
                <a:latin typeface="Arial"/>
                <a:ea typeface="Arial"/>
                <a:cs typeface="Arial"/>
              </a:rPr>
              <a:t>Restore fresh instance and consume the recorded trace</a:t>
            </a:r>
          </a:p>
        </p:txBody>
      </p:sp>
      <p:sp>
        <p:nvSpPr>
          <p:cNvPr id="7" name="flow-7">
            <a:extLst xmlns:a="http://schemas.openxmlformats.org/drawingml/2006/main">
              <a:ext uri="{FF2B5EF4-FFF2-40B4-BE49-F238E27FC236}">
                <a16:creationId xmlns:a16="http://schemas.microsoft.com/office/drawing/2014/main" id="{90D2DA33-9A72-4627-87AB-930D01175AA3}"/>
              </a:ext>
            </a:extLst>
          </p:cNvPr>
          <p:cNvSpPr>
            <a:spLocks xmlns:a="http://schemas.openxmlformats.org/drawingml/2006/main" noGrp="1"/>
          </p:cNvSpPr>
          <p:nvPr/>
        </p:nvSpPr>
        <p:spPr>
          <a:xfrm xmlns:a="http://schemas.openxmlformats.org/drawingml/2006/main">
            <a:off x="4438650" y="3686175"/>
            <a:ext cx="209550" cy="161925"/>
          </a:xfrm>
          <a:prstGeom xmlns:a="http://schemas.openxmlformats.org/drawingml/2006/main" prst="downArrow">
            <a:avLst/>
          </a:prstGeom>
          <a:solidFill xmlns:a="http://schemas.openxmlformats.org/drawingml/2006/main">
            <a:srgbClr val="146B5F"/>
          </a:solidFill>
          <a:ln xmlns:a="http://schemas.openxmlformats.org/drawingml/2006/main" w="0">
            <a:noFill/>
          </a:ln>
        </p:spPr>
      </p:sp>
      <p:sp>
        <p:nvSpPr>
          <p:cNvPr id="8" name="diagram-8">
            <a:extLst xmlns:a="http://schemas.openxmlformats.org/drawingml/2006/main">
              <a:ext uri="{FF2B5EF4-FFF2-40B4-BE49-F238E27FC236}">
                <a16:creationId xmlns:a16="http://schemas.microsoft.com/office/drawing/2014/main" id="{FF8BE59B-C634-41C9-8E17-AB1AADE2923A}"/>
              </a:ext>
            </a:extLst>
          </p:cNvPr>
          <p:cNvSpPr>
            <a:spLocks xmlns:a="http://schemas.openxmlformats.org/drawingml/2006/main" noGrp="1"/>
          </p:cNvSpPr>
          <p:nvPr/>
        </p:nvSpPr>
        <p:spPr>
          <a:xfrm xmlns:a="http://schemas.openxmlformats.org/drawingml/2006/main">
            <a:off x="609600" y="3867150"/>
            <a:ext cx="7877175" cy="533400"/>
          </a:xfrm>
          <a:prstGeom xmlns:a="http://schemas.openxmlformats.org/drawingml/2006/main" prst="rect">
            <a:avLst/>
          </a:prstGeom>
          <a:solidFill xmlns:a="http://schemas.openxmlformats.org/drawingml/2006/main">
            <a:srgbClr val="FCFCF8"/>
          </a:solidFill>
          <a:ln xmlns:a="http://schemas.openxmlformats.org/drawingml/2006/main" w="14288">
            <a:solidFill>
              <a:srgbClr val="146B5F"/>
            </a:solidFill>
          </a:ln>
        </p:spPr>
        <p:txBody>
          <a:bodyPr xmlns:a="http://schemas.openxmlformats.org/drawingml/2006/main" wrap="square" lIns="95250" tIns="95250" rIns="95250" bIns="95250" anchor="ctr"/>
          <a:lstStyle xmlns:a="http://schemas.openxmlformats.org/drawingml/2006/main">
            <a:defPPr algn="ctr">
              <a:defRPr sz="1875" b="0">
                <a:solidFill>
                  <a:srgbClr val="122632"/>
                </a:solidFill>
                <a:latin typeface="Arial"/>
                <a:ea typeface="Arial"/>
                <a:cs typeface="Arial"/>
              </a:defRPr>
            </a:defPPr>
          </a:lstStyle>
          <a:p xmlns:a="http://schemas.openxmlformats.org/drawingml/2006/main">
            <a:pPr algn="ctr">
              <a:defRPr sz="1875" b="0">
                <a:solidFill>
                  <a:srgbClr val="122632"/>
                </a:solidFill>
                <a:latin typeface="Arial"/>
                <a:ea typeface="Arial"/>
                <a:cs typeface="Arial"/>
              </a:defRPr>
            </a:pPr>
            <a:r>
              <a:rPr sz="1875" b="0">
                <a:solidFill>
                  <a:srgbClr val="122632"/>
                </a:solidFill>
                <a:latin typeface="Arial"/>
                <a:ea typeface="Arial"/>
                <a:cs typeface="Arial"/>
              </a:rPr>
              <a:t>Require complete trace, equal state and equal effects</a:t>
            </a:r>
          </a:p>
        </p:txBody>
      </p:sp>
      <p:sp>
        <p:nvSpPr>
          <p:cNvPr id="9" name="flow-9">
            <a:extLst xmlns:a="http://schemas.openxmlformats.org/drawingml/2006/main">
              <a:ext uri="{FF2B5EF4-FFF2-40B4-BE49-F238E27FC236}">
                <a16:creationId xmlns:a16="http://schemas.microsoft.com/office/drawing/2014/main" id="{F8E4F920-DDB6-4F88-A965-883DDF4CA4A4}"/>
              </a:ext>
            </a:extLst>
          </p:cNvPr>
          <p:cNvSpPr>
            <a:spLocks xmlns:a="http://schemas.openxmlformats.org/drawingml/2006/main" noGrp="1"/>
          </p:cNvSpPr>
          <p:nvPr/>
        </p:nvSpPr>
        <p:spPr>
          <a:xfrm xmlns:a="http://schemas.openxmlformats.org/drawingml/2006/main">
            <a:off x="4438650" y="4429125"/>
            <a:ext cx="209550" cy="161925"/>
          </a:xfrm>
          <a:prstGeom xmlns:a="http://schemas.openxmlformats.org/drawingml/2006/main" prst="downArrow">
            <a:avLst/>
          </a:prstGeom>
          <a:solidFill xmlns:a="http://schemas.openxmlformats.org/drawingml/2006/main">
            <a:srgbClr val="146B5F"/>
          </a:solidFill>
          <a:ln xmlns:a="http://schemas.openxmlformats.org/drawingml/2006/main" w="0">
            <a:noFill/>
          </a:ln>
        </p:spPr>
      </p:sp>
      <p:sp>
        <p:nvSpPr>
          <p:cNvPr id="10" name="diagram-10">
            <a:extLst xmlns:a="http://schemas.openxmlformats.org/drawingml/2006/main">
              <a:ext uri="{FF2B5EF4-FFF2-40B4-BE49-F238E27FC236}">
                <a16:creationId xmlns:a16="http://schemas.microsoft.com/office/drawing/2014/main" id="{4687FE7C-8920-40B0-BCF8-C83D7402358E}"/>
              </a:ext>
            </a:extLst>
          </p:cNvPr>
          <p:cNvSpPr>
            <a:spLocks xmlns:a="http://schemas.openxmlformats.org/drawingml/2006/main" noGrp="1"/>
          </p:cNvSpPr>
          <p:nvPr/>
        </p:nvSpPr>
        <p:spPr>
          <a:xfrm xmlns:a="http://schemas.openxmlformats.org/drawingml/2006/main">
            <a:off x="609600" y="4610100"/>
            <a:ext cx="7877175" cy="533400"/>
          </a:xfrm>
          <a:prstGeom xmlns:a="http://schemas.openxmlformats.org/drawingml/2006/main" prst="rect">
            <a:avLst/>
          </a:prstGeom>
          <a:solidFill xmlns:a="http://schemas.openxmlformats.org/drawingml/2006/main">
            <a:srgbClr val="FCFCF8"/>
          </a:solidFill>
          <a:ln xmlns:a="http://schemas.openxmlformats.org/drawingml/2006/main" w="14288">
            <a:solidFill>
              <a:srgbClr val="146B5F"/>
            </a:solidFill>
          </a:ln>
        </p:spPr>
        <p:txBody>
          <a:bodyPr xmlns:a="http://schemas.openxmlformats.org/drawingml/2006/main" wrap="square" lIns="95250" tIns="95250" rIns="95250" bIns="95250" anchor="ctr"/>
          <a:lstStyle xmlns:a="http://schemas.openxmlformats.org/drawingml/2006/main">
            <a:defPPr algn="ctr">
              <a:defRPr sz="1875" b="0">
                <a:solidFill>
                  <a:srgbClr val="122632"/>
                </a:solidFill>
                <a:latin typeface="Arial"/>
                <a:ea typeface="Arial"/>
                <a:cs typeface="Arial"/>
              </a:defRPr>
            </a:defPPr>
          </a:lstStyle>
          <a:p xmlns:a="http://schemas.openxmlformats.org/drawingml/2006/main">
            <a:pPr algn="ctr">
              <a:defRPr sz="1875" b="0">
                <a:solidFill>
                  <a:srgbClr val="122632"/>
                </a:solidFill>
                <a:latin typeface="Arial"/>
                <a:ea typeface="Arial"/>
                <a:cs typeface="Arial"/>
              </a:defRPr>
            </a:pPr>
            <a:r>
              <a:rPr sz="1875" b="0">
                <a:solidFill>
                  <a:srgbClr val="122632"/>
                </a:solidFill>
                <a:latin typeface="Arial"/>
                <a:ea typeface="Arial"/>
                <a:cs typeface="Arial"/>
              </a:rPr>
              <a:t>Commit recovery result before publishing the worker</a:t>
            </a:r>
          </a:p>
        </p:txBody>
      </p:sp>
      <p:sp>
        <p:nvSpPr>
          <p:cNvPr id="11" name="flow-11">
            <a:extLst xmlns:a="http://schemas.openxmlformats.org/drawingml/2006/main">
              <a:ext uri="{FF2B5EF4-FFF2-40B4-BE49-F238E27FC236}">
                <a16:creationId xmlns:a16="http://schemas.microsoft.com/office/drawing/2014/main" id="{C2108488-E56B-4F31-94B7-6CA29FF4A7BB}"/>
              </a:ext>
            </a:extLst>
          </p:cNvPr>
          <p:cNvSpPr>
            <a:spLocks xmlns:a="http://schemas.openxmlformats.org/drawingml/2006/main" noGrp="1"/>
          </p:cNvSpPr>
          <p:nvPr/>
        </p:nvSpPr>
        <p:spPr>
          <a:xfrm xmlns:a="http://schemas.openxmlformats.org/drawingml/2006/main">
            <a:off x="4438650" y="5172075"/>
            <a:ext cx="209550" cy="161925"/>
          </a:xfrm>
          <a:prstGeom xmlns:a="http://schemas.openxmlformats.org/drawingml/2006/main" prst="downArrow">
            <a:avLst/>
          </a:prstGeom>
          <a:solidFill xmlns:a="http://schemas.openxmlformats.org/drawingml/2006/main">
            <a:srgbClr val="146B5F"/>
          </a:solidFill>
          <a:ln xmlns:a="http://schemas.openxmlformats.org/drawingml/2006/main" w="0">
            <a:noFill/>
          </a:ln>
        </p:spPr>
      </p:sp>
      <p:sp>
        <p:nvSpPr>
          <p:cNvPr id="12" name="diagram-12">
            <a:extLst xmlns:a="http://schemas.openxmlformats.org/drawingml/2006/main">
              <a:ext uri="{FF2B5EF4-FFF2-40B4-BE49-F238E27FC236}">
                <a16:creationId xmlns:a16="http://schemas.microsoft.com/office/drawing/2014/main" id="{47B900C9-7C8B-45A6-99FE-EB0122DAE0AB}"/>
              </a:ext>
            </a:extLst>
          </p:cNvPr>
          <p:cNvSpPr>
            <a:spLocks xmlns:a="http://schemas.openxmlformats.org/drawingml/2006/main" noGrp="1"/>
          </p:cNvSpPr>
          <p:nvPr/>
        </p:nvSpPr>
        <p:spPr>
          <a:xfrm xmlns:a="http://schemas.openxmlformats.org/drawingml/2006/main">
            <a:off x="609600" y="5353050"/>
            <a:ext cx="7877175" cy="533400"/>
          </a:xfrm>
          <a:prstGeom xmlns:a="http://schemas.openxmlformats.org/drawingml/2006/main" prst="rect">
            <a:avLst/>
          </a:prstGeom>
          <a:solidFill xmlns:a="http://schemas.openxmlformats.org/drawingml/2006/main">
            <a:srgbClr val="B8D8C6"/>
          </a:solidFill>
          <a:ln xmlns:a="http://schemas.openxmlformats.org/drawingml/2006/main" w="14288">
            <a:solidFill>
              <a:srgbClr val="146B5F"/>
            </a:solidFill>
          </a:ln>
        </p:spPr>
        <p:txBody>
          <a:bodyPr xmlns:a="http://schemas.openxmlformats.org/drawingml/2006/main" wrap="square" lIns="95250" tIns="95250" rIns="95250" bIns="95250" anchor="ctr"/>
          <a:lstStyle xmlns:a="http://schemas.openxmlformats.org/drawingml/2006/main">
            <a:defPPr algn="ctr">
              <a:defRPr sz="1875" b="0">
                <a:solidFill>
                  <a:srgbClr val="122632"/>
                </a:solidFill>
                <a:latin typeface="Arial"/>
                <a:ea typeface="Arial"/>
                <a:cs typeface="Arial"/>
              </a:defRPr>
            </a:defPPr>
          </a:lstStyle>
          <a:p xmlns:a="http://schemas.openxmlformats.org/drawingml/2006/main">
            <a:pPr algn="ctr">
              <a:defRPr sz="1875" b="0">
                <a:solidFill>
                  <a:srgbClr val="122632"/>
                </a:solidFill>
                <a:latin typeface="Arial"/>
                <a:ea typeface="Arial"/>
                <a:cs typeface="Arial"/>
              </a:defRPr>
            </a:pPr>
            <a:r>
              <a:rPr sz="1875" b="0">
                <a:solidFill>
                  <a:srgbClr val="122632"/>
                </a:solidFill>
                <a:latin typeface="Arial"/>
                <a:ea typeface="Arial"/>
                <a:cs typeface="Arial"/>
              </a:rPr>
              <a:t>Promote recovered worker and accept a live request</a:t>
            </a:r>
          </a:p>
        </p:txBody>
      </p:sp>
      <p:sp>
        <p:nvSpPr>
          <p:cNvPr id="13" name="diagram-13">
            <a:extLst xmlns:a="http://schemas.openxmlformats.org/drawingml/2006/main">
              <a:ext uri="{FF2B5EF4-FFF2-40B4-BE49-F238E27FC236}">
                <a16:creationId xmlns:a16="http://schemas.microsoft.com/office/drawing/2014/main" id="{885858C5-943A-45BE-8EAF-FC7C0EB562F3}"/>
              </a:ext>
            </a:extLst>
          </p:cNvPr>
          <p:cNvSpPr>
            <a:spLocks xmlns:a="http://schemas.openxmlformats.org/drawingml/2006/main" noGrp="1"/>
          </p:cNvSpPr>
          <p:nvPr/>
        </p:nvSpPr>
        <p:spPr>
          <a:xfrm xmlns:a="http://schemas.openxmlformats.org/drawingml/2006/main">
            <a:off x="9163050" y="2390775"/>
            <a:ext cx="2419350" cy="2819400"/>
          </a:xfrm>
          <a:prstGeom xmlns:a="http://schemas.openxmlformats.org/drawingml/2006/main" prst="rect">
            <a:avLst/>
          </a:prstGeom>
          <a:solidFill xmlns:a="http://schemas.openxmlformats.org/drawingml/2006/main">
            <a:srgbClr val="FCFCF8"/>
          </a:solidFill>
          <a:ln xmlns:a="http://schemas.openxmlformats.org/drawingml/2006/main" w="14288">
            <a:solidFill>
              <a:srgbClr val="B35B33"/>
            </a:solidFill>
          </a:ln>
        </p:spPr>
        <p:txBody>
          <a:bodyPr xmlns:a="http://schemas.openxmlformats.org/drawingml/2006/main" wrap="square" lIns="95250" tIns="95250" rIns="95250" bIns="95250" anchor="ctr"/>
          <a:lstStyle xmlns:a="http://schemas.openxmlformats.org/drawingml/2006/main">
            <a:defPPr algn="ctr">
              <a:defRPr sz="1875" b="0">
                <a:solidFill>
                  <a:srgbClr val="122632"/>
                </a:solidFill>
                <a:latin typeface="Arial"/>
                <a:ea typeface="Arial"/>
                <a:cs typeface="Arial"/>
              </a:defRPr>
            </a:defPPr>
          </a:lstStyle>
          <a:p xmlns:a="http://schemas.openxmlformats.org/drawingml/2006/main">
            <a:pPr algn="ctr">
              <a:defRPr sz="1875" b="0">
                <a:solidFill>
                  <a:srgbClr val="122632"/>
                </a:solidFill>
                <a:latin typeface="Arial"/>
                <a:ea typeface="Arial"/>
                <a:cs typeface="Arial"/>
              </a:defRPr>
            </a:pPr>
            <a:r>
              <a:rPr sz="1875" b="0">
                <a:solidFill>
                  <a:srgbClr val="122632"/>
                </a:solidFill>
                <a:latin typeface="Arial"/>
                <a:ea typeface="Arial"/>
                <a:cs typeface="Arial"/>
              </a:rPr>
              <a:t>Reject proposal</a:t>
            </a:r>
          </a:p>
          <a:p xmlns:a="http://schemas.openxmlformats.org/drawingml/2006/main">
            <a:r>
              <a:t/>
            </a:r>
          </a:p>
          <a:p xmlns:a="http://schemas.openxmlformats.org/drawingml/2006/main">
            <a:pPr algn="ctr">
              <a:defRPr sz="1875" b="0">
                <a:solidFill>
                  <a:srgbClr val="122632"/>
                </a:solidFill>
                <a:latin typeface="Arial"/>
                <a:ea typeface="Arial"/>
                <a:cs typeface="Arial"/>
              </a:defRPr>
            </a:pPr>
            <a:r>
              <a:rPr sz="1875" b="0">
                <a:solidFill>
                  <a:srgbClr val="122632"/>
                </a:solidFill>
                <a:latin typeface="Arial"/>
                <a:ea typeface="Arial"/>
                <a:cs typeface="Arial"/>
              </a:rPr>
              <a:t>Keep the recovery</a:t>
            </a:r>
          </a:p>
          <a:p xmlns:a="http://schemas.openxmlformats.org/drawingml/2006/main">
            <a:pPr algn="ctr">
              <a:defRPr sz="1875" b="0">
                <a:solidFill>
                  <a:srgbClr val="122632"/>
                </a:solidFill>
                <a:latin typeface="Arial"/>
                <a:ea typeface="Arial"/>
                <a:cs typeface="Arial"/>
              </a:defRPr>
            </a:pPr>
            <a:r>
              <a:rPr sz="1875" b="0">
                <a:solidFill>
                  <a:srgbClr val="122632"/>
                </a:solidFill>
                <a:latin typeface="Arial"/>
                <a:ea typeface="Arial"/>
                <a:cs typeface="Arial"/>
              </a:rPr>
              <a:t>unpublished</a:t>
            </a:r>
          </a:p>
        </p:txBody>
      </p:sp>
      <p:sp>
        <p:nvSpPr>
          <p:cNvPr id="14" name="flow-14">
            <a:extLst xmlns:a="http://schemas.openxmlformats.org/drawingml/2006/main">
              <a:ext uri="{FF2B5EF4-FFF2-40B4-BE49-F238E27FC236}">
                <a16:creationId xmlns:a16="http://schemas.microsoft.com/office/drawing/2014/main" id="{FD2C36F4-A319-4D78-8587-FFF32C9D2407}"/>
              </a:ext>
            </a:extLst>
          </p:cNvPr>
          <p:cNvSpPr>
            <a:spLocks xmlns:a="http://schemas.openxmlformats.org/drawingml/2006/main" noGrp="1"/>
          </p:cNvSpPr>
          <p:nvPr/>
        </p:nvSpPr>
        <p:spPr>
          <a:xfrm xmlns:a="http://schemas.openxmlformats.org/drawingml/2006/main">
            <a:off x="8601075" y="2571750"/>
            <a:ext cx="381000" cy="190500"/>
          </a:xfrm>
          <a:prstGeom xmlns:a="http://schemas.openxmlformats.org/drawingml/2006/main" prst="rightArrow">
            <a:avLst/>
          </a:prstGeom>
          <a:solidFill xmlns:a="http://schemas.openxmlformats.org/drawingml/2006/main">
            <a:srgbClr val="B35B33"/>
          </a:solidFill>
          <a:ln xmlns:a="http://schemas.openxmlformats.org/drawingml/2006/main" w="0">
            <a:noFill/>
          </a:ln>
        </p:spPr>
      </p:sp>
      <p:sp>
        <p:nvSpPr>
          <p:cNvPr id="15" name="flow-15">
            <a:extLst xmlns:a="http://schemas.openxmlformats.org/drawingml/2006/main">
              <a:ext uri="{FF2B5EF4-FFF2-40B4-BE49-F238E27FC236}">
                <a16:creationId xmlns:a16="http://schemas.microsoft.com/office/drawing/2014/main" id="{F8FEBFB1-66ED-4AF6-81C6-54F90D8EA18E}"/>
              </a:ext>
            </a:extLst>
          </p:cNvPr>
          <p:cNvSpPr>
            <a:spLocks xmlns:a="http://schemas.openxmlformats.org/drawingml/2006/main" noGrp="1"/>
          </p:cNvSpPr>
          <p:nvPr/>
        </p:nvSpPr>
        <p:spPr>
          <a:xfrm xmlns:a="http://schemas.openxmlformats.org/drawingml/2006/main">
            <a:off x="8601075" y="4057650"/>
            <a:ext cx="381000" cy="190500"/>
          </a:xfrm>
          <a:prstGeom xmlns:a="http://schemas.openxmlformats.org/drawingml/2006/main" prst="rightArrow">
            <a:avLst/>
          </a:prstGeom>
          <a:solidFill xmlns:a="http://schemas.openxmlformats.org/drawingml/2006/main">
            <a:srgbClr val="B35B33"/>
          </a:solidFill>
          <a:ln xmlns:a="http://schemas.openxmlformats.org/drawingml/2006/main" w="0">
            <a:noFill/>
          </a:ln>
        </p:spPr>
      </p:sp>
      <p:sp>
        <p:nvSpPr>
          <p:cNvPr id="16" name="flow-16">
            <a:extLst xmlns:a="http://schemas.openxmlformats.org/drawingml/2006/main">
              <a:ext uri="{FF2B5EF4-FFF2-40B4-BE49-F238E27FC236}">
                <a16:creationId xmlns:a16="http://schemas.microsoft.com/office/drawing/2014/main" id="{1CBB9836-7B86-46FA-AACB-D4FE3256F95B}"/>
              </a:ext>
            </a:extLst>
          </p:cNvPr>
          <p:cNvSpPr>
            <a:spLocks xmlns:a="http://schemas.openxmlformats.org/drawingml/2006/main" noGrp="1"/>
          </p:cNvSpPr>
          <p:nvPr/>
        </p:nvSpPr>
        <p:spPr>
          <a:xfrm xmlns:a="http://schemas.openxmlformats.org/drawingml/2006/main">
            <a:off x="8601075" y="4800600"/>
            <a:ext cx="381000" cy="190500"/>
          </a:xfrm>
          <a:prstGeom xmlns:a="http://schemas.openxmlformats.org/drawingml/2006/main" prst="rightArrow">
            <a:avLst/>
          </a:prstGeom>
          <a:solidFill xmlns:a="http://schemas.openxmlformats.org/drawingml/2006/main">
            <a:srgbClr val="B35B33"/>
          </a:solidFill>
          <a:ln xmlns:a="http://schemas.openxmlformats.org/drawingml/2006/main" w="0">
            <a:noFill/>
          </a:ln>
        </p:spPr>
      </p:sp>
      <p:sp>
        <p:nvSpPr>
          <p:cNvPr id="17" name="text-17">
            <a:extLst xmlns:a="http://schemas.openxmlformats.org/drawingml/2006/main">
              <a:ext uri="{FF2B5EF4-FFF2-40B4-BE49-F238E27FC236}">
                <a16:creationId xmlns:a16="http://schemas.microsoft.com/office/drawing/2014/main" id="{2751C6B2-1431-494C-8011-5CB8154ADC33}"/>
              </a:ext>
            </a:extLst>
          </p:cNvPr>
          <p:cNvSpPr>
            <a:spLocks xmlns:a="http://schemas.openxmlformats.org/drawingml/2006/main" noGrp="1"/>
          </p:cNvSpPr>
          <p:nvPr/>
        </p:nvSpPr>
        <p:spPr>
          <a:xfrm xmlns:a="http://schemas.openxmlformats.org/drawingml/2006/main">
            <a:off x="8972550" y="1876425"/>
            <a:ext cx="26098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1650" b="1">
                <a:solidFill>
                  <a:srgbClr val="B35B33"/>
                </a:solidFill>
                <a:latin typeface="Arial"/>
                <a:ea typeface="Arial"/>
                <a:cs typeface="Arial"/>
              </a:defRPr>
            </a:defPPr>
          </a:lstStyle>
          <a:p xmlns:a="http://schemas.openxmlformats.org/drawingml/2006/main">
            <a:pPr>
              <a:defRPr sz="1650" b="1">
                <a:solidFill>
                  <a:srgbClr val="B35B33"/>
                </a:solidFill>
                <a:latin typeface="Arial"/>
                <a:ea typeface="Arial"/>
                <a:cs typeface="Arial"/>
              </a:defRPr>
            </a:pPr>
            <a:r>
              <a:rPr sz="1650" b="1">
                <a:solidFill>
                  <a:srgbClr val="B35B33"/>
                </a:solidFill>
                <a:latin typeface="Arial"/>
                <a:ea typeface="Arial"/>
                <a:cs typeface="Arial"/>
              </a:rPr>
              <a:t>Any failed check</a:t>
            </a:r>
          </a:p>
        </p:txBody>
      </p:sp>
      <p:sp>
        <p:nvSpPr>
          <p:cNvPr id="18" name="text-18">
            <a:extLst xmlns:a="http://schemas.openxmlformats.org/drawingml/2006/main">
              <a:ext uri="{FF2B5EF4-FFF2-40B4-BE49-F238E27FC236}">
                <a16:creationId xmlns:a16="http://schemas.microsoft.com/office/drawing/2014/main" id="{7E9AF2A9-BD3A-4337-A6B8-991132343C1B}"/>
              </a:ext>
            </a:extLst>
          </p:cNvPr>
          <p:cNvSpPr>
            <a:spLocks xmlns:a="http://schemas.openxmlformats.org/drawingml/2006/main" noGrp="1"/>
          </p:cNvSpPr>
          <p:nvPr/>
        </p:nvSpPr>
        <p:spPr>
          <a:xfrm xmlns:a="http://schemas.openxmlformats.org/drawingml/2006/main">
            <a:off x="609600" y="6486525"/>
            <a:ext cx="109728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1200" b="0">
                <a:solidFill>
                  <a:srgbClr val="58656A"/>
                </a:solidFill>
                <a:latin typeface="Arial"/>
                <a:ea typeface="Arial"/>
                <a:cs typeface="Arial"/>
              </a:defRPr>
            </a:defPPr>
          </a:lstStyle>
          <a:p xmlns:a="http://schemas.openxmlformats.org/drawingml/2006/main">
            <a:pPr>
              <a:defRPr sz="1200" b="0">
                <a:solidFill>
                  <a:srgbClr val="58656A"/>
                </a:solidFill>
                <a:latin typeface="Arial"/>
                <a:ea typeface="Arial"/>
                <a:cs typeface="Arial"/>
              </a:defRPr>
            </a:pPr>
            <a:r>
              <a:rPr sz="1200" b="0">
                <a:solidFill>
                  <a:srgbClr val="58656A"/>
                </a:solidFill>
                <a:latin typeface="Arial"/>
                <a:ea typeface="Arial"/>
                <a:cs typeface="Arial"/>
              </a:rPr>
              <a:t>12 / 24     A candidate remains unpublished until replay checks and result persistence succeed.</a:t>
            </a:r>
          </a:p>
        </p:txBody>
      </p:sp>
    </p:spTree>
    <p:extLst>
      <p:ext uri="{BB962C8B-B14F-4D97-AF65-F5344CB8AC3E}">
        <p14:creationId xmlns:p14="http://schemas.microsoft.com/office/powerpoint/2010/main" val="1972668425"/>
      </p:ext>
    </p:extLst>
  </p:cSld>
</p:sld>
</file>

<file path=ppt/slides/slide13.xml><?xml version="1.0" encoding="utf-8"?>
<p:sld xmlns:p="http://schemas.openxmlformats.org/presentationml/2006/main">
  <p:cSld>
    <p:bg>
      <p:bgPr>
        <a:solidFill xmlns:a="http://schemas.openxmlformats.org/drawingml/2006/main">
          <a:srgbClr val="F6F4EE"/>
        </a:solidFill>
      </p:bgPr>
    </p:bg>
    <p:spTree>
      <p:nvGrpSpPr>
        <p:cNvPr id="1" name=""/>
        <p:cNvGrpSpPr/>
        <p:nvPr/>
      </p:nvGrpSpPr>
      <p:grpSpPr>
        <a:xfrm xmlns:a="http://schemas.openxmlformats.org/drawingml/2006/main"/>
      </p:grpSpPr>
      <p:sp>
        <p:nvSpPr>
          <p:cNvPr id="6" name="text-1">
            <a:extLst xmlns:a="http://schemas.openxmlformats.org/drawingml/2006/main">
              <a:ext uri="{FF2B5EF4-FFF2-40B4-BE49-F238E27FC236}">
                <a16:creationId xmlns:a16="http://schemas.microsoft.com/office/drawing/2014/main" id="{4C7076A2-575E-4CB4-96AB-F1DE0813F605}"/>
              </a:ext>
            </a:extLst>
          </p:cNvPr>
          <p:cNvSpPr>
            <a:spLocks xmlns:a="http://schemas.openxmlformats.org/drawingml/2006/main" noGrp="1"/>
          </p:cNvSpPr>
          <p:nvPr/>
        </p:nvSpPr>
        <p:spPr>
          <a:xfrm xmlns:a="http://schemas.openxmlformats.org/drawingml/2006/main">
            <a:off x="609600" y="514350"/>
            <a:ext cx="109728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3300" b="1">
                <a:solidFill>
                  <a:srgbClr val="122632"/>
                </a:solidFill>
                <a:latin typeface="Arial"/>
                <a:ea typeface="Arial"/>
                <a:cs typeface="Arial"/>
              </a:defRPr>
            </a:defPPr>
          </a:lstStyle>
          <a:p xmlns:a="http://schemas.openxmlformats.org/drawingml/2006/main">
            <a:pPr>
              <a:defRPr sz="3300" b="1">
                <a:solidFill>
                  <a:srgbClr val="122632"/>
                </a:solidFill>
                <a:latin typeface="Arial"/>
                <a:ea typeface="Arial"/>
                <a:cs typeface="Arial"/>
              </a:defRPr>
            </a:pPr>
            <a:r>
              <a:rPr sz="3300" b="1">
                <a:solidFill>
                  <a:srgbClr val="122632"/>
                </a:solidFill>
                <a:latin typeface="Arial"/>
                <a:ea typeface="Arial"/>
                <a:cs typeface="Arial"/>
              </a:rPr>
              <a:t>Typed recovery proposal</a:t>
            </a:r>
          </a:p>
        </p:txBody>
      </p:sp>
      <p:sp>
        <p:nvSpPr>
          <p:cNvPr id="2" name="text-2">
            <a:extLst xmlns:a="http://schemas.openxmlformats.org/drawingml/2006/main">
              <a:ext uri="{FF2B5EF4-FFF2-40B4-BE49-F238E27FC236}">
                <a16:creationId xmlns:a16="http://schemas.microsoft.com/office/drawing/2014/main" id="{38589ABB-07A9-4D6D-BA5D-59B6018F9D0A}"/>
              </a:ext>
            </a:extLst>
          </p:cNvPr>
          <p:cNvSpPr>
            <a:spLocks xmlns:a="http://schemas.openxmlformats.org/drawingml/2006/main" noGrp="1"/>
          </p:cNvSpPr>
          <p:nvPr/>
        </p:nvSpPr>
        <p:spPr>
          <a:xfrm xmlns:a="http://schemas.openxmlformats.org/drawingml/2006/main">
            <a:off x="609600" y="1695450"/>
            <a:ext cx="7600950" cy="442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1800" b="0">
                <a:solidFill>
                  <a:srgbClr val="146B5F"/>
                </a:solidFill>
                <a:latin typeface="Consolas"/>
                <a:ea typeface="Consolas"/>
                <a:cs typeface="Consolas"/>
              </a:defRPr>
            </a:defPPr>
          </a:lstStyle>
          <a:p xmlns:a="http://schemas.openxmlformats.org/drawingml/2006/main">
            <a:pPr>
              <a:defRPr sz="1800" b="0">
                <a:solidFill>
                  <a:srgbClr val="146B5F"/>
                </a:solidFill>
                <a:latin typeface="Consolas"/>
                <a:ea typeface="Consolas"/>
                <a:cs typeface="Consolas"/>
              </a:defRPr>
            </a:pPr>
            <a:r>
              <a:rPr sz="1800" b="0">
                <a:solidFill>
                  <a:srgbClr val="146B5F"/>
                </a:solidFill>
                <a:latin typeface="Consolas"/>
                <a:ea typeface="Consolas"/>
                <a:cs typeface="Consolas"/>
              </a:rPr>
              <a:t>{</a:t>
            </a:r>
          </a:p>
          <a:p xmlns:a="http://schemas.openxmlformats.org/drawingml/2006/main">
            <a:pPr>
              <a:defRPr sz="1800" b="0">
                <a:solidFill>
                  <a:srgbClr val="146B5F"/>
                </a:solidFill>
                <a:latin typeface="Consolas"/>
                <a:ea typeface="Consolas"/>
                <a:cs typeface="Consolas"/>
              </a:defRPr>
            </a:pPr>
            <a:r>
              <a:rPr sz="1800" b="0">
                <a:solidFill>
                  <a:srgbClr val="146B5F"/>
                </a:solidFill>
                <a:latin typeface="Consolas"/>
                <a:ea typeface="Consolas"/>
                <a:cs typeface="Consolas"/>
              </a:rPr>
              <a:t>  "version": 1,</a:t>
            </a:r>
          </a:p>
          <a:p xmlns:a="http://schemas.openxmlformats.org/drawingml/2006/main">
            <a:pPr>
              <a:defRPr sz="1800" b="0">
                <a:solidFill>
                  <a:srgbClr val="146B5F"/>
                </a:solidFill>
                <a:latin typeface="Consolas"/>
                <a:ea typeface="Consolas"/>
                <a:cs typeface="Consolas"/>
              </a:defRPr>
            </a:pPr>
            <a:r>
              <a:rPr sz="1800" b="0">
                <a:solidFill>
                  <a:srgbClr val="146B5F"/>
                </a:solidFill>
                <a:latin typeface="Consolas"/>
                <a:ea typeface="Consolas"/>
                <a:cs typeface="Consolas"/>
              </a:rPr>
              <a:t>  "action": "restore-replay",</a:t>
            </a:r>
          </a:p>
          <a:p xmlns:a="http://schemas.openxmlformats.org/drawingml/2006/main">
            <a:pPr>
              <a:defRPr sz="1800" b="0">
                <a:solidFill>
                  <a:srgbClr val="146B5F"/>
                </a:solidFill>
                <a:latin typeface="Consolas"/>
                <a:ea typeface="Consolas"/>
                <a:cs typeface="Consolas"/>
              </a:defRPr>
            </a:pPr>
            <a:r>
              <a:rPr sz="1800" b="0">
                <a:solidFill>
                  <a:srgbClr val="146B5F"/>
                </a:solidFill>
                <a:latin typeface="Consolas"/>
                <a:ea typeface="Consolas"/>
                <a:cs typeface="Consolas"/>
              </a:rPr>
              <a:t>  "service": "kv-service",</a:t>
            </a:r>
          </a:p>
          <a:p xmlns:a="http://schemas.openxmlformats.org/drawingml/2006/main">
            <a:pPr>
              <a:defRPr sz="1800" b="0">
                <a:solidFill>
                  <a:srgbClr val="146B5F"/>
                </a:solidFill>
                <a:latin typeface="Consolas"/>
                <a:ea typeface="Consolas"/>
                <a:cs typeface="Consolas"/>
              </a:defRPr>
            </a:pPr>
            <a:r>
              <a:rPr sz="1800" b="0">
                <a:solidFill>
                  <a:srgbClr val="146B5F"/>
                </a:solidFill>
                <a:latin typeface="Consolas"/>
                <a:ea typeface="Consolas"/>
                <a:cs typeface="Consolas"/>
              </a:rPr>
              <a:t>  "epoch": 6,</a:t>
            </a:r>
          </a:p>
          <a:p xmlns:a="http://schemas.openxmlformats.org/drawingml/2006/main">
            <a:pPr>
              <a:defRPr sz="1800" b="0">
                <a:solidFill>
                  <a:srgbClr val="146B5F"/>
                </a:solidFill>
                <a:latin typeface="Consolas"/>
                <a:ea typeface="Consolas"/>
                <a:cs typeface="Consolas"/>
              </a:defRPr>
            </a:pPr>
            <a:r>
              <a:rPr sz="1800" b="0">
                <a:solidFill>
                  <a:srgbClr val="146B5F"/>
                </a:solidFill>
                <a:latin typeface="Consolas"/>
                <a:ea typeface="Consolas"/>
                <a:cs typeface="Consolas"/>
              </a:rPr>
              <a:t>  "checkpoint-sha256": "199be84b...",</a:t>
            </a:r>
          </a:p>
          <a:p xmlns:a="http://schemas.openxmlformats.org/drawingml/2006/main">
            <a:pPr>
              <a:defRPr sz="1800" b="0">
                <a:solidFill>
                  <a:srgbClr val="146B5F"/>
                </a:solidFill>
                <a:latin typeface="Consolas"/>
                <a:ea typeface="Consolas"/>
                <a:cs typeface="Consolas"/>
              </a:defRPr>
            </a:pPr>
            <a:r>
              <a:rPr sz="1800" b="0">
                <a:solidFill>
                  <a:srgbClr val="146B5F"/>
                </a:solidFill>
                <a:latin typeface="Consolas"/>
                <a:ea typeface="Consolas"/>
                <a:cs typeface="Consolas"/>
              </a:rPr>
              <a:t>  "max-events": 60,</a:t>
            </a:r>
          </a:p>
          <a:p xmlns:a="http://schemas.openxmlformats.org/drawingml/2006/main">
            <a:pPr>
              <a:defRPr sz="1800" b="0">
                <a:solidFill>
                  <a:srgbClr val="146B5F"/>
                </a:solidFill>
                <a:latin typeface="Consolas"/>
                <a:ea typeface="Consolas"/>
                <a:cs typeface="Consolas"/>
              </a:defRPr>
            </a:pPr>
            <a:r>
              <a:rPr sz="1800" b="0">
                <a:solidFill>
                  <a:srgbClr val="146B5F"/>
                </a:solidFill>
                <a:latin typeface="Consolas"/>
                <a:ea typeface="Consolas"/>
                <a:cs typeface="Consolas"/>
              </a:rPr>
              <a:t>  "fuel-per-request": 10000,</a:t>
            </a:r>
          </a:p>
          <a:p xmlns:a="http://schemas.openxmlformats.org/drawingml/2006/main">
            <a:pPr>
              <a:defRPr sz="1800" b="0">
                <a:solidFill>
                  <a:srgbClr val="146B5F"/>
                </a:solidFill>
                <a:latin typeface="Consolas"/>
                <a:ea typeface="Consolas"/>
                <a:cs typeface="Consolas"/>
              </a:defRPr>
            </a:pPr>
            <a:r>
              <a:rPr sz="1800" b="0">
                <a:solidFill>
                  <a:srgbClr val="146B5F"/>
                </a:solidFill>
                <a:latin typeface="Consolas"/>
                <a:ea typeface="Consolas"/>
                <a:cs typeface="Consolas"/>
              </a:rPr>
              <a:t>  "memory-pages": 1,</a:t>
            </a:r>
          </a:p>
          <a:p xmlns:a="http://schemas.openxmlformats.org/drawingml/2006/main">
            <a:pPr>
              <a:defRPr sz="1800" b="0">
                <a:solidFill>
                  <a:srgbClr val="146B5F"/>
                </a:solidFill>
                <a:latin typeface="Consolas"/>
                <a:ea typeface="Consolas"/>
                <a:cs typeface="Consolas"/>
              </a:defRPr>
            </a:pPr>
            <a:r>
              <a:rPr sz="1800" b="0">
                <a:solidFill>
                  <a:srgbClr val="146B5F"/>
                </a:solidFill>
                <a:latin typeface="Consolas"/>
                <a:ea typeface="Consolas"/>
                <a:cs typeface="Consolas"/>
              </a:rPr>
              <a:t>  "requested-rights": 3,</a:t>
            </a:r>
          </a:p>
          <a:p xmlns:a="http://schemas.openxmlformats.org/drawingml/2006/main">
            <a:pPr>
              <a:defRPr sz="1800" b="0">
                <a:solidFill>
                  <a:srgbClr val="146B5F"/>
                </a:solidFill>
                <a:latin typeface="Consolas"/>
                <a:ea typeface="Consolas"/>
                <a:cs typeface="Consolas"/>
              </a:defRPr>
            </a:pPr>
            <a:r>
              <a:rPr sz="1800" b="0">
                <a:solidFill>
                  <a:srgbClr val="146B5F"/>
                </a:solidFill>
                <a:latin typeface="Consolas"/>
                <a:ea typeface="Consolas"/>
                <a:cs typeface="Consolas"/>
              </a:rPr>
              <a:t>  "require-rollback": true</a:t>
            </a:r>
          </a:p>
          <a:p xmlns:a="http://schemas.openxmlformats.org/drawingml/2006/main">
            <a:pPr>
              <a:defRPr sz="1800" b="0">
                <a:solidFill>
                  <a:srgbClr val="146B5F"/>
                </a:solidFill>
                <a:latin typeface="Consolas"/>
                <a:ea typeface="Consolas"/>
                <a:cs typeface="Consolas"/>
              </a:defRPr>
            </a:pPr>
            <a:r>
              <a:rPr sz="1800" b="0">
                <a:solidFill>
                  <a:srgbClr val="146B5F"/>
                </a:solidFill>
                <a:latin typeface="Consolas"/>
                <a:ea typeface="Consolas"/>
                <a:cs typeface="Consolas"/>
              </a:rPr>
              <a:t>}</a:t>
            </a:r>
          </a:p>
        </p:txBody>
      </p:sp>
      <p:sp>
        <p:nvSpPr>
          <p:cNvPr id="3" name="text-3">
            <a:extLst xmlns:a="http://schemas.openxmlformats.org/drawingml/2006/main">
              <a:ext uri="{FF2B5EF4-FFF2-40B4-BE49-F238E27FC236}">
                <a16:creationId xmlns:a16="http://schemas.microsoft.com/office/drawing/2014/main" id="{CCE2BD37-279F-4FC2-9225-09858A8739AD}"/>
              </a:ext>
            </a:extLst>
          </p:cNvPr>
          <p:cNvSpPr>
            <a:spLocks xmlns:a="http://schemas.openxmlformats.org/drawingml/2006/main" noGrp="1"/>
          </p:cNvSpPr>
          <p:nvPr/>
        </p:nvSpPr>
        <p:spPr>
          <a:xfrm xmlns:a="http://schemas.openxmlformats.org/drawingml/2006/main">
            <a:off x="8553450" y="1733550"/>
            <a:ext cx="3000375"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2100" b="1">
                <a:solidFill>
                  <a:srgbClr val="122632"/>
                </a:solidFill>
                <a:latin typeface="Arial"/>
                <a:ea typeface="Arial"/>
                <a:cs typeface="Arial"/>
              </a:defRPr>
            </a:defPPr>
          </a:lstStyle>
          <a:p xmlns:a="http://schemas.openxmlformats.org/drawingml/2006/main">
            <a:pPr>
              <a:defRPr sz="2100" b="1">
                <a:solidFill>
                  <a:srgbClr val="122632"/>
                </a:solidFill>
                <a:latin typeface="Arial"/>
                <a:ea typeface="Arial"/>
                <a:cs typeface="Arial"/>
              </a:defRPr>
            </a:pPr>
            <a:r>
              <a:rPr sz="2100" b="1">
                <a:solidFill>
                  <a:srgbClr val="122632"/>
                </a:solidFill>
                <a:latin typeface="Arial"/>
                <a:ea typeface="Arial"/>
                <a:cs typeface="Arial"/>
              </a:rPr>
              <a:t>Checks before execution</a:t>
            </a:r>
          </a:p>
        </p:txBody>
      </p:sp>
      <p:sp>
        <p:nvSpPr>
          <p:cNvPr id="4" name="text-4">
            <a:extLst xmlns:a="http://schemas.openxmlformats.org/drawingml/2006/main">
              <a:ext uri="{FF2B5EF4-FFF2-40B4-BE49-F238E27FC236}">
                <a16:creationId xmlns:a16="http://schemas.microsoft.com/office/drawing/2014/main" id="{90B45558-AD24-4CD1-A863-1190891C2DEB}"/>
              </a:ext>
            </a:extLst>
          </p:cNvPr>
          <p:cNvSpPr>
            <a:spLocks xmlns:a="http://schemas.openxmlformats.org/drawingml/2006/main" noGrp="1"/>
          </p:cNvSpPr>
          <p:nvPr/>
        </p:nvSpPr>
        <p:spPr>
          <a:xfrm xmlns:a="http://schemas.openxmlformats.org/drawingml/2006/main">
            <a:off x="8553450" y="2714625"/>
            <a:ext cx="3000375" cy="3286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1875" b="0">
                <a:solidFill>
                  <a:srgbClr val="58656A"/>
                </a:solidFill>
                <a:latin typeface="Arial"/>
                <a:ea typeface="Arial"/>
                <a:cs typeface="Arial"/>
              </a:defRPr>
            </a:defPPr>
          </a:lstStyle>
          <a:p xmlns:a="http://schemas.openxmlformats.org/drawingml/2006/main">
            <a:pPr>
              <a:defRPr sz="1875" b="0">
                <a:solidFill>
                  <a:srgbClr val="58656A"/>
                </a:solidFill>
                <a:latin typeface="Arial"/>
                <a:ea typeface="Arial"/>
                <a:cs typeface="Arial"/>
              </a:defRPr>
            </a:pPr>
            <a:r>
              <a:rPr sz="1875" b="0">
                <a:solidFill>
                  <a:srgbClr val="58656A"/>
                </a:solidFill>
                <a:latin typeface="Arial"/>
                <a:ea typeface="Arial"/>
                <a:cs typeface="Arial"/>
              </a:rPr>
              <a:t>Identity and epoch</a:t>
            </a:r>
          </a:p>
          <a:p xmlns:a="http://schemas.openxmlformats.org/drawingml/2006/main">
            <a:pPr>
              <a:defRPr sz="1875" b="0">
                <a:solidFill>
                  <a:srgbClr val="58656A"/>
                </a:solidFill>
                <a:latin typeface="Arial"/>
                <a:ea typeface="Arial"/>
                <a:cs typeface="Arial"/>
              </a:defRPr>
            </a:pPr>
            <a:r>
              <a:rPr sz="1875" b="0">
                <a:solidFill>
                  <a:srgbClr val="58656A"/>
                </a:solidFill>
                <a:latin typeface="Arial"/>
                <a:ea typeface="Arial"/>
                <a:cs typeface="Arial"/>
              </a:rPr>
              <a:t>Current authority</a:t>
            </a:r>
          </a:p>
          <a:p xmlns:a="http://schemas.openxmlformats.org/drawingml/2006/main">
            <a:pPr>
              <a:defRPr sz="1875" b="0">
                <a:solidFill>
                  <a:srgbClr val="58656A"/>
                </a:solidFill>
                <a:latin typeface="Arial"/>
                <a:ea typeface="Arial"/>
                <a:cs typeface="Arial"/>
              </a:defRPr>
            </a:pPr>
            <a:r>
              <a:rPr sz="1875" b="0">
                <a:solidFill>
                  <a:srgbClr val="58656A"/>
                </a:solidFill>
                <a:latin typeface="Arial"/>
                <a:ea typeface="Arial"/>
                <a:cs typeface="Arial"/>
              </a:rPr>
              <a:t>No extra privileges</a:t>
            </a:r>
          </a:p>
          <a:p xmlns:a="http://schemas.openxmlformats.org/drawingml/2006/main">
            <a:pPr>
              <a:defRPr sz="1875" b="0">
                <a:solidFill>
                  <a:srgbClr val="58656A"/>
                </a:solidFill>
                <a:latin typeface="Arial"/>
                <a:ea typeface="Arial"/>
                <a:cs typeface="Arial"/>
              </a:defRPr>
            </a:pPr>
            <a:r>
              <a:rPr sz="1875" b="0">
                <a:solidFill>
                  <a:srgbClr val="58656A"/>
                </a:solidFill>
                <a:latin typeface="Arial"/>
                <a:ea typeface="Arial"/>
                <a:cs typeface="Arial"/>
              </a:rPr>
              <a:t>Event, fuel and memory limits</a:t>
            </a:r>
          </a:p>
          <a:p xmlns:a="http://schemas.openxmlformats.org/drawingml/2006/main">
            <a:pPr>
              <a:defRPr sz="1875" b="0">
                <a:solidFill>
                  <a:srgbClr val="58656A"/>
                </a:solidFill>
                <a:latin typeface="Arial"/>
                <a:ea typeface="Arial"/>
                <a:cs typeface="Arial"/>
              </a:defRPr>
            </a:pPr>
            <a:r>
              <a:rPr sz="1875" b="0">
                <a:solidFill>
                  <a:srgbClr val="58656A"/>
                </a:solidFill>
                <a:latin typeface="Arial"/>
                <a:ea typeface="Arial"/>
                <a:cs typeface="Arial"/>
              </a:rPr>
              <a:t>Rollback availability</a:t>
            </a:r>
          </a:p>
        </p:txBody>
      </p:sp>
      <p:sp>
        <p:nvSpPr>
          <p:cNvPr id="5" name="text-5">
            <a:extLst xmlns:a="http://schemas.openxmlformats.org/drawingml/2006/main">
              <a:ext uri="{FF2B5EF4-FFF2-40B4-BE49-F238E27FC236}">
                <a16:creationId xmlns:a16="http://schemas.microsoft.com/office/drawing/2014/main" id="{FC3215AA-FB10-416D-875D-2AB7F1BA2B62}"/>
              </a:ext>
            </a:extLst>
          </p:cNvPr>
          <p:cNvSpPr>
            <a:spLocks xmlns:a="http://schemas.openxmlformats.org/drawingml/2006/main" noGrp="1"/>
          </p:cNvSpPr>
          <p:nvPr/>
        </p:nvSpPr>
        <p:spPr>
          <a:xfrm xmlns:a="http://schemas.openxmlformats.org/drawingml/2006/main">
            <a:off x="609600" y="6486525"/>
            <a:ext cx="109728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1200" b="0">
                <a:solidFill>
                  <a:srgbClr val="58656A"/>
                </a:solidFill>
                <a:latin typeface="Arial"/>
                <a:ea typeface="Arial"/>
                <a:cs typeface="Arial"/>
              </a:defRPr>
            </a:defPPr>
          </a:lstStyle>
          <a:p xmlns:a="http://schemas.openxmlformats.org/drawingml/2006/main">
            <a:pPr>
              <a:defRPr sz="1200" b="0">
                <a:solidFill>
                  <a:srgbClr val="58656A"/>
                </a:solidFill>
                <a:latin typeface="Arial"/>
                <a:ea typeface="Arial"/>
                <a:cs typeface="Arial"/>
              </a:defRPr>
            </a:pPr>
            <a:r>
              <a:rPr sz="1200" b="0">
                <a:solidFill>
                  <a:srgbClr val="58656A"/>
                </a:solidFill>
                <a:latin typeface="Arial"/>
                <a:ea typeface="Arial"/>
                <a:cs typeface="Arial"/>
              </a:rPr>
              <a:t>13 / 24     Display example: digest shortened. Use the full plan from plan-show for execution.</a:t>
            </a:r>
          </a:p>
        </p:txBody>
      </p:sp>
    </p:spTree>
    <p:extLst>
      <p:ext uri="{BB962C8B-B14F-4D97-AF65-F5344CB8AC3E}">
        <p14:creationId xmlns:p14="http://schemas.microsoft.com/office/powerpoint/2010/main" val="2059213968"/>
      </p:ext>
    </p:extLst>
  </p:cSld>
</p:sld>
</file>

<file path=ppt/slides/slide14.xml><?xml version="1.0" encoding="utf-8"?>
<p:sld xmlns:p="http://schemas.openxmlformats.org/presentationml/2006/main">
  <p:cSld>
    <p:bg>
      <p:bgPr>
        <a:solidFill xmlns:a="http://schemas.openxmlformats.org/drawingml/2006/main">
          <a:srgbClr val="F6F4EE"/>
        </a:solidFill>
      </p:bgPr>
    </p:bg>
    <p:spTree>
      <p:nvGrpSpPr>
        <p:cNvPr id="1" name=""/>
        <p:cNvGrpSpPr/>
        <p:nvPr/>
      </p:nvGrpSpPr>
      <p:grpSpPr>
        <a:xfrm xmlns:a="http://schemas.openxmlformats.org/drawingml/2006/main"/>
      </p:grpSpPr>
      <p:sp>
        <p:nvSpPr>
          <p:cNvPr id="4" name="text-1">
            <a:extLst xmlns:a="http://schemas.openxmlformats.org/drawingml/2006/main">
              <a:ext uri="{FF2B5EF4-FFF2-40B4-BE49-F238E27FC236}">
                <a16:creationId xmlns:a16="http://schemas.microsoft.com/office/drawing/2014/main" id="{A4112188-572B-46F7-8B71-1BE489379005}"/>
              </a:ext>
            </a:extLst>
          </p:cNvPr>
          <p:cNvSpPr>
            <a:spLocks xmlns:a="http://schemas.openxmlformats.org/drawingml/2006/main" noGrp="1"/>
          </p:cNvSpPr>
          <p:nvPr/>
        </p:nvSpPr>
        <p:spPr>
          <a:xfrm xmlns:a="http://schemas.openxmlformats.org/drawingml/2006/main">
            <a:off x="609600" y="514350"/>
            <a:ext cx="109728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3300" b="1">
                <a:solidFill>
                  <a:srgbClr val="122632"/>
                </a:solidFill>
                <a:latin typeface="Arial"/>
                <a:ea typeface="Arial"/>
                <a:cs typeface="Arial"/>
              </a:defRPr>
            </a:defPPr>
          </a:lstStyle>
          <a:p xmlns:a="http://schemas.openxmlformats.org/drawingml/2006/main">
            <a:pPr>
              <a:defRPr sz="3300" b="1">
                <a:solidFill>
                  <a:srgbClr val="122632"/>
                </a:solidFill>
                <a:latin typeface="Arial"/>
                <a:ea typeface="Arial"/>
                <a:cs typeface="Arial"/>
              </a:defRPr>
            </a:pPr>
            <a:r>
              <a:rPr sz="3300" b="1">
                <a:solidFill>
                  <a:srgbClr val="122632"/>
                </a:solidFill>
                <a:latin typeface="Arial"/>
                <a:ea typeface="Arial"/>
                <a:cs typeface="Arial"/>
              </a:rPr>
              <a:t>Implemented kernel functionality</a:t>
            </a:r>
          </a:p>
        </p:txBody>
      </p:sp>
      <p:graphicFrame>
        <p:nvGraphicFramePr>
          <p:cNvPr id="2" name="">
            <a:extLst xmlns:a="http://schemas.openxmlformats.org/drawingml/2006/main">
              <a:ext uri="{FF2B5EF4-FFF2-40B4-BE49-F238E27FC236}">
                <a16:creationId xmlns:a16="http://schemas.microsoft.com/office/drawing/2014/main" id="{96313A74-09BB-4375-A1C8-8263E30D5566}"/>
              </a:ext>
            </a:extLst>
          </p:cNvPr>
          <p:cNvGraphicFramePr/>
          <p:nvPr/>
        </p:nvGraphicFramePr>
        <p:xfrm>
          <a:off xmlns:a="http://schemas.openxmlformats.org/drawingml/2006/main" x="609600" y="1685925"/>
          <a:ext xmlns:a="http://schemas.openxmlformats.org/drawingml/2006/main" cx="10972800" cy="4124325"/>
        </p:xfrm>
        <a:graphic xmlns:a="http://schemas.openxmlformats.org/drawingml/2006/main">
          <a:graphicData uri="http://schemas.openxmlformats.org/drawingml/2006/table">
            <a:tbl>
              <a:tblPr firstRow="1" bandRow="0"/>
              <a:tblGrid>
                <a:gridCol w="2714625"/>
                <a:gridCol w="5191125"/>
                <a:gridCol w="3067050"/>
              </a:tblGrid>
              <a:tr h="457200">
                <a:tc>
                  <a:txBody>
                    <a:bodyPr/>
                    <a:lstStyle/>
                    <a:p>
                      <a:r>
                        <a:rPr sz="1725" b="1">
                          <a:solidFill>
                            <a:srgbClr val="FCFCF8"/>
                          </a:solidFill>
                          <a:latin typeface="Arial"/>
                          <a:ea typeface="Arial"/>
                          <a:cs typeface="Arial"/>
                        </a:rPr>
                        <a:t>Module</a:t>
                      </a:r>
                    </a:p>
                  </a:txBody>
                  <a:tcPr marL="123825" marR="123825" marT="66675" marB="66675" anchor="ctr">
                    <a:solidFill>
                      <a:srgbClr val="122632"/>
                    </a:solidFill>
                  </a:tcPr>
                </a:tc>
                <a:tc>
                  <a:txBody>
                    <a:bodyPr/>
                    <a:lstStyle/>
                    <a:p>
                      <a:r>
                        <a:rPr sz="1725" b="1">
                          <a:solidFill>
                            <a:srgbClr val="FCFCF8"/>
                          </a:solidFill>
                          <a:latin typeface="Arial"/>
                          <a:ea typeface="Arial"/>
                          <a:cs typeface="Arial"/>
                        </a:rPr>
                        <a:t>Working behavior</a:t>
                      </a:r>
                    </a:p>
                  </a:txBody>
                  <a:tcPr marL="123825" marR="123825" marT="66675" marB="66675" anchor="ctr">
                    <a:solidFill>
                      <a:srgbClr val="122632"/>
                    </a:solidFill>
                  </a:tcPr>
                </a:tc>
                <a:tc>
                  <a:txBody>
                    <a:bodyPr/>
                    <a:lstStyle/>
                    <a:p>
                      <a:r>
                        <a:rPr sz="1725" b="1">
                          <a:solidFill>
                            <a:srgbClr val="FCFCF8"/>
                          </a:solidFill>
                          <a:latin typeface="Arial"/>
                          <a:ea typeface="Arial"/>
                          <a:cs typeface="Arial"/>
                        </a:rPr>
                        <a:t>Visible evidence</a:t>
                      </a:r>
                    </a:p>
                  </a:txBody>
                  <a:tcPr marL="123825" marR="123825" marT="66675" marB="66675" anchor="ctr">
                    <a:solidFill>
                      <a:srgbClr val="122632"/>
                    </a:solidFill>
                  </a:tcPr>
                </a:tc>
              </a:tr>
              <a:tr h="733425">
                <a:tc>
                  <a:txBody>
                    <a:bodyPr/>
                    <a:lstStyle/>
                    <a:p>
                      <a:r>
                        <a:rPr sz="1800" b="1">
                          <a:solidFill>
                            <a:srgbClr val="122632"/>
                          </a:solidFill>
                          <a:latin typeface="Arial"/>
                          <a:ea typeface="Arial"/>
                          <a:cs typeface="Arial"/>
                        </a:rPr>
                        <a:t>Boot and memory</a:t>
                      </a:r>
                    </a:p>
                  </a:txBody>
                  <a:tcPr marL="123825" marR="123825" marT="66675" marB="66675" anchor="ctr">
                    <a:solidFill>
                      <a:srgbClr val="F6F4EE"/>
                    </a:solidFill>
                  </a:tcPr>
                </a:tc>
                <a:tc>
                  <a:txBody>
                    <a:bodyPr/>
                    <a:lstStyle/>
                    <a:p>
                      <a:r>
                        <a:rPr sz="1800" b="0">
                          <a:solidFill>
                            <a:srgbClr val="122632"/>
                          </a:solidFill>
                          <a:latin typeface="Arial"/>
                          <a:ea typeface="Arial"/>
                          <a:cs typeface="Arial"/>
                        </a:rPr>
                        <a:t>Rust kernel, page tables, heaps and faults</a:t>
                      </a:r>
                    </a:p>
                  </a:txBody>
                  <a:tcPr marL="123825" marR="123825" marT="66675" marB="66675" anchor="ctr">
                    <a:solidFill>
                      <a:srgbClr val="F6F4EE"/>
                    </a:solidFill>
                  </a:tcPr>
                </a:tc>
                <a:tc>
                  <a:txBody>
                    <a:bodyPr/>
                    <a:lstStyle/>
                    <a:p>
                      <a:r>
                        <a:rPr sz="1800" b="0">
                          <a:solidFill>
                            <a:srgbClr val="122632"/>
                          </a:solidFill>
                          <a:latin typeface="Arial"/>
                          <a:ea typeface="Arial"/>
                          <a:cs typeface="Arial"/>
                        </a:rPr>
                        <a:t>Boot checks pass</a:t>
                      </a:r>
                    </a:p>
                  </a:txBody>
                  <a:tcPr marL="123825" marR="123825" marT="66675" marB="66675" anchor="ctr">
                    <a:solidFill>
                      <a:srgbClr val="F6F4EE"/>
                    </a:solidFill>
                  </a:tcPr>
                </a:tc>
              </a:tr>
              <a:tr h="733425">
                <a:tc>
                  <a:txBody>
                    <a:bodyPr/>
                    <a:lstStyle/>
                    <a:p>
                      <a:r>
                        <a:rPr sz="1800" b="1">
                          <a:solidFill>
                            <a:srgbClr val="122632"/>
                          </a:solidFill>
                          <a:latin typeface="Arial"/>
                          <a:ea typeface="Arial"/>
                          <a:cs typeface="Arial"/>
                        </a:rPr>
                        <a:t>Task scheduling</a:t>
                      </a:r>
                    </a:p>
                  </a:txBody>
                  <a:tcPr marL="123825" marR="123825" marT="66675" marB="66675" anchor="ctr">
                    <a:solidFill>
                      <a:srgbClr val="E9EDE7"/>
                    </a:solidFill>
                  </a:tcPr>
                </a:tc>
                <a:tc>
                  <a:txBody>
                    <a:bodyPr/>
                    <a:lstStyle/>
                    <a:p>
                      <a:r>
                        <a:rPr sz="1800" b="0">
                          <a:solidFill>
                            <a:srgbClr val="122632"/>
                          </a:solidFill>
                          <a:latin typeface="Arial"/>
                          <a:ea typeface="Arial"/>
                          <a:cs typeface="Arial"/>
                        </a:rPr>
                        <a:t>Four ring-3 tasks and timer preemption</a:t>
                      </a:r>
                    </a:p>
                  </a:txBody>
                  <a:tcPr marL="123825" marR="123825" marT="66675" marB="66675" anchor="ctr">
                    <a:solidFill>
                      <a:srgbClr val="E9EDE7"/>
                    </a:solidFill>
                  </a:tcPr>
                </a:tc>
                <a:tc>
                  <a:txBody>
                    <a:bodyPr/>
                    <a:lstStyle/>
                    <a:p>
                      <a:r>
                        <a:rPr sz="1800" b="0">
                          <a:solidFill>
                            <a:srgbClr val="122632"/>
                          </a:solidFill>
                          <a:latin typeface="Arial"/>
                          <a:ea typeface="Arial"/>
                          <a:cs typeface="Arial"/>
                        </a:rPr>
                        <a:t>ps; hog preemptions</a:t>
                      </a:r>
                    </a:p>
                  </a:txBody>
                  <a:tcPr marL="123825" marR="123825" marT="66675" marB="66675" anchor="ctr">
                    <a:solidFill>
                      <a:srgbClr val="E9EDE7"/>
                    </a:solidFill>
                  </a:tcPr>
                </a:tc>
              </a:tr>
              <a:tr h="733425">
                <a:tc>
                  <a:txBody>
                    <a:bodyPr/>
                    <a:lstStyle/>
                    <a:p>
                      <a:r>
                        <a:rPr sz="1800" b="1">
                          <a:solidFill>
                            <a:srgbClr val="122632"/>
                          </a:solidFill>
                          <a:latin typeface="Arial"/>
                          <a:ea typeface="Arial"/>
                          <a:cs typeface="Arial"/>
                        </a:rPr>
                        <a:t>Capability IPC</a:t>
                      </a:r>
                    </a:p>
                  </a:txBody>
                  <a:tcPr marL="123825" marR="123825" marT="66675" marB="66675" anchor="ctr">
                    <a:solidFill>
                      <a:srgbClr val="F6F4EE"/>
                    </a:solidFill>
                  </a:tcPr>
                </a:tc>
                <a:tc>
                  <a:txBody>
                    <a:bodyPr/>
                    <a:lstStyle/>
                    <a:p>
                      <a:r>
                        <a:rPr sz="1800" b="0">
                          <a:solidFill>
                            <a:srgbClr val="122632"/>
                          </a:solidFill>
                          <a:latin typeface="Arial"/>
                          <a:ea typeface="Arial"/>
                          <a:cs typeface="Arial"/>
                        </a:rPr>
                        <a:t>Typed handles, bounded queues and buffers</a:t>
                      </a:r>
                    </a:p>
                  </a:txBody>
                  <a:tcPr marL="123825" marR="123825" marT="66675" marB="66675" anchor="ctr">
                    <a:solidFill>
                      <a:srgbClr val="F6F4EE"/>
                    </a:solidFill>
                  </a:tcPr>
                </a:tc>
                <a:tc>
                  <a:txBody>
                    <a:bodyPr/>
                    <a:lstStyle/>
                    <a:p>
                      <a:r>
                        <a:rPr sz="1800" b="0">
                          <a:solidFill>
                            <a:srgbClr val="122632"/>
                          </a:solidFill>
                          <a:latin typeface="Arial"/>
                          <a:ea typeface="Arial"/>
                          <a:cs typeface="Arial"/>
                        </a:rPr>
                        <a:t>ipc-demo; cap-demo</a:t>
                      </a:r>
                    </a:p>
                  </a:txBody>
                  <a:tcPr marL="123825" marR="123825" marT="66675" marB="66675" anchor="ctr">
                    <a:solidFill>
                      <a:srgbClr val="F6F4EE"/>
                    </a:solidFill>
                  </a:tcPr>
                </a:tc>
              </a:tr>
              <a:tr h="733425">
                <a:tc>
                  <a:txBody>
                    <a:bodyPr/>
                    <a:lstStyle/>
                    <a:p>
                      <a:r>
                        <a:rPr sz="1800" b="1">
                          <a:solidFill>
                            <a:srgbClr val="122632"/>
                          </a:solidFill>
                          <a:latin typeface="Arial"/>
                          <a:ea typeface="Arial"/>
                          <a:cs typeface="Arial"/>
                        </a:rPr>
                        <a:t>Fault containment</a:t>
                      </a:r>
                    </a:p>
                  </a:txBody>
                  <a:tcPr marL="123825" marR="123825" marT="66675" marB="66675" anchor="ctr">
                    <a:solidFill>
                      <a:srgbClr val="E9EDE7"/>
                    </a:solidFill>
                  </a:tcPr>
                </a:tc>
                <a:tc>
                  <a:txBody>
                    <a:bodyPr/>
                    <a:lstStyle/>
                    <a:p>
                      <a:r>
                        <a:rPr sz="1800" b="0">
                          <a:solidFill>
                            <a:srgbClr val="122632"/>
                          </a:solidFill>
                          <a:latin typeface="Arial"/>
                          <a:ea typeface="Arial"/>
                          <a:cs typeface="Arial"/>
                        </a:rPr>
                        <a:t>Faulting worker dies; peers continue</a:t>
                      </a:r>
                    </a:p>
                  </a:txBody>
                  <a:tcPr marL="123825" marR="123825" marT="66675" marB="66675" anchor="ctr">
                    <a:solidFill>
                      <a:srgbClr val="E9EDE7"/>
                    </a:solidFill>
                  </a:tcPr>
                </a:tc>
                <a:tc>
                  <a:txBody>
                    <a:bodyPr/>
                    <a:lstStyle/>
                    <a:p>
                      <a:r>
                        <a:rPr sz="1800" b="0">
                          <a:solidFill>
                            <a:srgbClr val="122632"/>
                          </a:solidFill>
                          <a:latin typeface="Arial"/>
                          <a:ea typeface="Arial"/>
                          <a:cs typeface="Arial"/>
                        </a:rPr>
                        <a:t>Three CPU fault probes</a:t>
                      </a:r>
                    </a:p>
                  </a:txBody>
                  <a:tcPr marL="123825" marR="123825" marT="66675" marB="66675" anchor="ctr">
                    <a:solidFill>
                      <a:srgbClr val="E9EDE7"/>
                    </a:solidFill>
                  </a:tcPr>
                </a:tc>
              </a:tr>
              <a:tr h="733425">
                <a:tc>
                  <a:txBody>
                    <a:bodyPr/>
                    <a:lstStyle/>
                    <a:p>
                      <a:r>
                        <a:rPr sz="1800" b="1">
                          <a:solidFill>
                            <a:srgbClr val="122632"/>
                          </a:solidFill>
                          <a:latin typeface="Arial"/>
                          <a:ea typeface="Arial"/>
                          <a:cs typeface="Arial"/>
                        </a:rPr>
                        <a:t>Native recovery</a:t>
                      </a:r>
                    </a:p>
                  </a:txBody>
                  <a:tcPr marL="123825" marR="123825" marT="66675" marB="66675" anchor="ctr">
                    <a:solidFill>
                      <a:srgbClr val="F6F4EE"/>
                    </a:solidFill>
                  </a:tcPr>
                </a:tc>
                <a:tc>
                  <a:txBody>
                    <a:bodyPr/>
                    <a:lstStyle/>
                    <a:p>
                      <a:r>
                        <a:rPr sz="1800" b="0">
                          <a:solidFill>
                            <a:srgbClr val="122632"/>
                          </a:solidFill>
                          <a:latin typeface="Arial"/>
                          <a:ea typeface="Arial"/>
                          <a:cs typeface="Arial"/>
                        </a:rPr>
                        <a:t>COW restore, endpoint refresh and replay</a:t>
                      </a:r>
                    </a:p>
                  </a:txBody>
                  <a:tcPr marL="123825" marR="123825" marT="66675" marB="66675" anchor="ctr">
                    <a:solidFill>
                      <a:srgbClr val="F6F4EE"/>
                    </a:solidFill>
                  </a:tcPr>
                </a:tc>
                <a:tc>
                  <a:txBody>
                    <a:bodyPr/>
                    <a:lstStyle/>
                    <a:p>
                      <a:r>
                        <a:rPr sz="1800" b="0">
                          <a:solidFill>
                            <a:srgbClr val="122632"/>
                          </a:solidFill>
                          <a:latin typeface="Arial"/>
                          <a:ea typeface="Arial"/>
                          <a:cs typeface="Arial"/>
                        </a:rPr>
                        <a:t>cow-demo passes</a:t>
                      </a:r>
                    </a:p>
                  </a:txBody>
                  <a:tcPr marL="123825" marR="123825" marT="66675" marB="66675" anchor="ctr">
                    <a:solidFill>
                      <a:srgbClr val="F6F4EE"/>
                    </a:solidFill>
                  </a:tcPr>
                </a:tc>
              </a:tr>
            </a:tbl>
          </a:graphicData>
        </a:graphic>
      </p:graphicFrame>
      <p:sp>
        <p:nvSpPr>
          <p:cNvPr id="3" name="text-2">
            <a:extLst xmlns:a="http://schemas.openxmlformats.org/drawingml/2006/main">
              <a:ext uri="{FF2B5EF4-FFF2-40B4-BE49-F238E27FC236}">
                <a16:creationId xmlns:a16="http://schemas.microsoft.com/office/drawing/2014/main" id="{5A798175-6364-4B6E-B5D7-8F6D0B0FF1D8}"/>
              </a:ext>
            </a:extLst>
          </p:cNvPr>
          <p:cNvSpPr>
            <a:spLocks xmlns:a="http://schemas.openxmlformats.org/drawingml/2006/main" noGrp="1"/>
          </p:cNvSpPr>
          <p:nvPr/>
        </p:nvSpPr>
        <p:spPr>
          <a:xfrm xmlns:a="http://schemas.openxmlformats.org/drawingml/2006/main">
            <a:off x="609600" y="6486525"/>
            <a:ext cx="109728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1200" b="0">
                <a:solidFill>
                  <a:srgbClr val="58656A"/>
                </a:solidFill>
                <a:latin typeface="Arial"/>
                <a:ea typeface="Arial"/>
                <a:cs typeface="Arial"/>
              </a:defRPr>
            </a:defPPr>
          </a:lstStyle>
          <a:p xmlns:a="http://schemas.openxmlformats.org/drawingml/2006/main">
            <a:pPr>
              <a:defRPr sz="1200" b="0">
                <a:solidFill>
                  <a:srgbClr val="58656A"/>
                </a:solidFill>
                <a:latin typeface="Arial"/>
                <a:ea typeface="Arial"/>
                <a:cs typeface="Arial"/>
              </a:defRPr>
            </a:pPr>
            <a:r>
              <a:rPr sz="1200" b="0">
                <a:solidFill>
                  <a:srgbClr val="58656A"/>
                </a:solidFill>
                <a:latin typeface="Arial"/>
                <a:ea typeface="Arial"/>
                <a:cs typeface="Arial"/>
              </a:rPr>
              <a:t>14 / 24     Compiled-in tasks on one CPU; general application admission remains future work.</a:t>
            </a:r>
          </a:p>
        </p:txBody>
      </p:sp>
    </p:spTree>
    <p:extLst>
      <p:ext uri="{BB962C8B-B14F-4D97-AF65-F5344CB8AC3E}">
        <p14:creationId xmlns:p14="http://schemas.microsoft.com/office/powerpoint/2010/main" val="39430938"/>
      </p:ext>
    </p:extLst>
  </p:cSld>
</p:sld>
</file>

<file path=ppt/slides/slide15.xml><?xml version="1.0" encoding="utf-8"?>
<p:sld xmlns:p="http://schemas.openxmlformats.org/presentationml/2006/main">
  <p:cSld>
    <p:bg>
      <p:bgPr>
        <a:solidFill xmlns:a="http://schemas.openxmlformats.org/drawingml/2006/main">
          <a:srgbClr val="F6F4EE"/>
        </a:solidFill>
      </p:bgPr>
    </p:bg>
    <p:spTree>
      <p:nvGrpSpPr>
        <p:cNvPr id="1" name=""/>
        <p:cNvGrpSpPr/>
        <p:nvPr/>
      </p:nvGrpSpPr>
      <p:grpSpPr>
        <a:xfrm xmlns:a="http://schemas.openxmlformats.org/drawingml/2006/main"/>
      </p:grpSpPr>
      <p:sp>
        <p:nvSpPr>
          <p:cNvPr id="4" name="text-1">
            <a:extLst xmlns:a="http://schemas.openxmlformats.org/drawingml/2006/main">
              <a:ext uri="{FF2B5EF4-FFF2-40B4-BE49-F238E27FC236}">
                <a16:creationId xmlns:a16="http://schemas.microsoft.com/office/drawing/2014/main" id="{924FE064-9CB8-49A5-AFC0-7BF21C51CBDD}"/>
              </a:ext>
            </a:extLst>
          </p:cNvPr>
          <p:cNvSpPr>
            <a:spLocks xmlns:a="http://schemas.openxmlformats.org/drawingml/2006/main" noGrp="1"/>
          </p:cNvSpPr>
          <p:nvPr/>
        </p:nvSpPr>
        <p:spPr>
          <a:xfrm xmlns:a="http://schemas.openxmlformats.org/drawingml/2006/main">
            <a:off x="609600" y="514350"/>
            <a:ext cx="109728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3300" b="1">
                <a:solidFill>
                  <a:srgbClr val="122632"/>
                </a:solidFill>
                <a:latin typeface="Arial"/>
                <a:ea typeface="Arial"/>
                <a:cs typeface="Arial"/>
              </a:defRPr>
            </a:defPPr>
          </a:lstStyle>
          <a:p xmlns:a="http://schemas.openxmlformats.org/drawingml/2006/main">
            <a:pPr>
              <a:defRPr sz="3300" b="1">
                <a:solidFill>
                  <a:srgbClr val="122632"/>
                </a:solidFill>
                <a:latin typeface="Arial"/>
                <a:ea typeface="Arial"/>
                <a:cs typeface="Arial"/>
              </a:defRPr>
            </a:pPr>
            <a:r>
              <a:rPr sz="3300" b="1">
                <a:solidFill>
                  <a:srgbClr val="122632"/>
                </a:solidFill>
                <a:latin typeface="Arial"/>
                <a:ea typeface="Arial"/>
                <a:cs typeface="Arial"/>
              </a:rPr>
              <a:t>Implemented storage and recovery</a:t>
            </a:r>
          </a:p>
        </p:txBody>
      </p:sp>
      <p:graphicFrame>
        <p:nvGraphicFramePr>
          <p:cNvPr id="2" name="">
            <a:extLst xmlns:a="http://schemas.openxmlformats.org/drawingml/2006/main">
              <a:ext uri="{FF2B5EF4-FFF2-40B4-BE49-F238E27FC236}">
                <a16:creationId xmlns:a16="http://schemas.microsoft.com/office/drawing/2014/main" id="{6034EC03-1FB3-499A-97C1-2AFF3135C414}"/>
              </a:ext>
            </a:extLst>
          </p:cNvPr>
          <p:cNvGraphicFramePr/>
          <p:nvPr/>
        </p:nvGraphicFramePr>
        <p:xfrm>
          <a:off xmlns:a="http://schemas.openxmlformats.org/drawingml/2006/main" x="609600" y="1685925"/>
          <a:ext xmlns:a="http://schemas.openxmlformats.org/drawingml/2006/main" cx="10972800" cy="3962400"/>
        </p:xfrm>
        <a:graphic xmlns:a="http://schemas.openxmlformats.org/drawingml/2006/main">
          <a:graphicData uri="http://schemas.openxmlformats.org/drawingml/2006/table">
            <a:tbl>
              <a:tblPr firstRow="1" bandRow="0"/>
              <a:tblGrid>
                <a:gridCol w="2571750"/>
                <a:gridCol w="5095875"/>
                <a:gridCol w="3305175"/>
              </a:tblGrid>
              <a:tr h="457200">
                <a:tc>
                  <a:txBody>
                    <a:bodyPr/>
                    <a:lstStyle/>
                    <a:p>
                      <a:r>
                        <a:rPr sz="1725" b="1">
                          <a:solidFill>
                            <a:srgbClr val="FCFCF8"/>
                          </a:solidFill>
                          <a:latin typeface="Arial"/>
                          <a:ea typeface="Arial"/>
                          <a:cs typeface="Arial"/>
                        </a:rPr>
                        <a:t>Module</a:t>
                      </a:r>
                    </a:p>
                  </a:txBody>
                  <a:tcPr marL="123825" marR="123825" marT="66675" marB="66675" anchor="ctr">
                    <a:solidFill>
                      <a:srgbClr val="122632"/>
                    </a:solidFill>
                  </a:tcPr>
                </a:tc>
                <a:tc>
                  <a:txBody>
                    <a:bodyPr/>
                    <a:lstStyle/>
                    <a:p>
                      <a:r>
                        <a:rPr sz="1725" b="1">
                          <a:solidFill>
                            <a:srgbClr val="FCFCF8"/>
                          </a:solidFill>
                          <a:latin typeface="Arial"/>
                          <a:ea typeface="Arial"/>
                          <a:cs typeface="Arial"/>
                        </a:rPr>
                        <a:t>Working behavior</a:t>
                      </a:r>
                    </a:p>
                  </a:txBody>
                  <a:tcPr marL="123825" marR="123825" marT="66675" marB="66675" anchor="ctr">
                    <a:solidFill>
                      <a:srgbClr val="122632"/>
                    </a:solidFill>
                  </a:tcPr>
                </a:tc>
                <a:tc>
                  <a:txBody>
                    <a:bodyPr/>
                    <a:lstStyle/>
                    <a:p>
                      <a:r>
                        <a:rPr sz="1725" b="1">
                          <a:solidFill>
                            <a:srgbClr val="FCFCF8"/>
                          </a:solidFill>
                          <a:latin typeface="Arial"/>
                          <a:ea typeface="Arial"/>
                          <a:cs typeface="Arial"/>
                        </a:rPr>
                        <a:t>Current limit</a:t>
                      </a:r>
                    </a:p>
                  </a:txBody>
                  <a:tcPr marL="123825" marR="123825" marT="66675" marB="66675" anchor="ctr">
                    <a:solidFill>
                      <a:srgbClr val="122632"/>
                    </a:solidFill>
                  </a:tcPr>
                </a:tc>
              </a:tr>
              <a:tr h="876300">
                <a:tc>
                  <a:txBody>
                    <a:bodyPr/>
                    <a:lstStyle/>
                    <a:p>
                      <a:r>
                        <a:rPr sz="1800" b="1">
                          <a:solidFill>
                            <a:srgbClr val="122632"/>
                          </a:solidFill>
                          <a:latin typeface="Arial"/>
                          <a:ea typeface="Arial"/>
                          <a:cs typeface="Arial"/>
                        </a:rPr>
                        <a:t>ChronicleFS</a:t>
                      </a:r>
                    </a:p>
                  </a:txBody>
                  <a:tcPr marL="123825" marR="123825" marT="66675" marB="66675" anchor="ctr">
                    <a:solidFill>
                      <a:srgbClr val="F6F4EE"/>
                    </a:solidFill>
                  </a:tcPr>
                </a:tc>
                <a:tc>
                  <a:txBody>
                    <a:bodyPr/>
                    <a:lstStyle/>
                    <a:p>
                      <a:r>
                        <a:rPr sz="1800" b="0">
                          <a:solidFill>
                            <a:srgbClr val="122632"/>
                          </a:solidFill>
                          <a:latin typeface="Arial"/>
                          <a:ea typeface="Arial"/>
                          <a:cs typeface="Arial"/>
                        </a:rPr>
                        <a:t>Files, atomic roots, snapshots and reboot mount</a:t>
                      </a:r>
                    </a:p>
                  </a:txBody>
                  <a:tcPr marL="123825" marR="123825" marT="66675" marB="66675" anchor="ctr">
                    <a:solidFill>
                      <a:srgbClr val="F6F4EE"/>
                    </a:solidFill>
                  </a:tcPr>
                </a:tc>
                <a:tc>
                  <a:txBody>
                    <a:bodyPr/>
                    <a:lstStyle/>
                    <a:p>
                      <a:r>
                        <a:rPr sz="1800" b="0">
                          <a:solidFill>
                            <a:srgbClr val="122632"/>
                          </a:solidFill>
                          <a:latin typeface="Arial"/>
                          <a:ea typeface="Arial"/>
                          <a:cs typeface="Arial"/>
                        </a:rPr>
                        <a:t>Flat names; finite generations</a:t>
                      </a:r>
                    </a:p>
                  </a:txBody>
                  <a:tcPr marL="123825" marR="123825" marT="66675" marB="66675" anchor="ctr">
                    <a:solidFill>
                      <a:srgbClr val="F6F4EE"/>
                    </a:solidFill>
                  </a:tcPr>
                </a:tc>
              </a:tr>
              <a:tr h="876300">
                <a:tc>
                  <a:txBody>
                    <a:bodyPr/>
                    <a:lstStyle/>
                    <a:p>
                      <a:r>
                        <a:rPr sz="1800" b="1">
                          <a:solidFill>
                            <a:srgbClr val="122632"/>
                          </a:solidFill>
                          <a:latin typeface="Arial"/>
                          <a:ea typeface="Arial"/>
                          <a:cs typeface="Arial"/>
                        </a:rPr>
                        <a:t>Guest Wasmi</a:t>
                      </a:r>
                    </a:p>
                  </a:txBody>
                  <a:tcPr marL="123825" marR="123825" marT="66675" marB="66675" anchor="ctr">
                    <a:solidFill>
                      <a:srgbClr val="E9EDE7"/>
                    </a:solidFill>
                  </a:tcPr>
                </a:tc>
                <a:tc>
                  <a:txBody>
                    <a:bodyPr/>
                    <a:lstStyle/>
                    <a:p>
                      <a:r>
                        <a:rPr sz="1800" b="0">
                          <a:solidFill>
                            <a:srgbClr val="122632"/>
                          </a:solidFill>
                          <a:latin typeface="Arial"/>
                          <a:ea typeface="Arial"/>
                          <a:cs typeface="Arial"/>
                        </a:rPr>
                        <a:t>Fuel-limited integer workload in userspace</a:t>
                      </a:r>
                    </a:p>
                  </a:txBody>
                  <a:tcPr marL="123825" marR="123825" marT="66675" marB="66675" anchor="ctr">
                    <a:solidFill>
                      <a:srgbClr val="E9EDE7"/>
                    </a:solidFill>
                  </a:tcPr>
                </a:tc>
                <a:tc>
                  <a:txBody>
                    <a:bodyPr/>
                    <a:lstStyle/>
                    <a:p>
                      <a:r>
                        <a:rPr sz="1800" b="0">
                          <a:solidFill>
                            <a:srgbClr val="122632"/>
                          </a:solidFill>
                          <a:latin typeface="Arial"/>
                          <a:ea typeface="Arial"/>
                          <a:cs typeface="Arial"/>
                        </a:rPr>
                        <a:t>One admitted fixture</a:t>
                      </a:r>
                    </a:p>
                  </a:txBody>
                  <a:tcPr marL="123825" marR="123825" marT="66675" marB="66675" anchor="ctr">
                    <a:solidFill>
                      <a:srgbClr val="E9EDE7"/>
                    </a:solidFill>
                  </a:tcPr>
                </a:tc>
              </a:tr>
              <a:tr h="876300">
                <a:tc>
                  <a:txBody>
                    <a:bodyPr/>
                    <a:lstStyle/>
                    <a:p>
                      <a:r>
                        <a:rPr sz="1800" b="1">
                          <a:solidFill>
                            <a:srgbClr val="122632"/>
                          </a:solidFill>
                          <a:latin typeface="Arial"/>
                          <a:ea typeface="Arial"/>
                          <a:cs typeface="Arial"/>
                        </a:rPr>
                        <a:t>Durable replay</a:t>
                      </a:r>
                    </a:p>
                  </a:txBody>
                  <a:tcPr marL="123825" marR="123825" marT="66675" marB="66675" anchor="ctr">
                    <a:solidFill>
                      <a:srgbClr val="F6F4EE"/>
                    </a:solidFill>
                  </a:tcPr>
                </a:tc>
                <a:tc>
                  <a:txBody>
                    <a:bodyPr/>
                    <a:lstStyle/>
                    <a:p>
                      <a:r>
                        <a:rPr sz="1800" b="0">
                          <a:solidFill>
                            <a:srgbClr val="122632"/>
                          </a:solidFill>
                          <a:latin typeface="Arial"/>
                          <a:ea typeface="Arial"/>
                          <a:cs typeface="Arial"/>
                        </a:rPr>
                        <a:t>Saved bundle; fresh replay; resumed requests</a:t>
                      </a:r>
                    </a:p>
                  </a:txBody>
                  <a:tcPr marL="123825" marR="123825" marT="66675" marB="66675" anchor="ctr">
                    <a:solidFill>
                      <a:srgbClr val="F6F4EE"/>
                    </a:solidFill>
                  </a:tcPr>
                </a:tc>
                <a:tc>
                  <a:txBody>
                    <a:bodyPr/>
                    <a:lstStyle/>
                    <a:p>
                      <a:r>
                        <a:rPr sz="1800" b="0">
                          <a:solidFill>
                            <a:srgbClr val="122632"/>
                          </a:solidFill>
                          <a:latin typeface="Arial"/>
                          <a:ea typeface="Arial"/>
                          <a:cs typeface="Arial"/>
                        </a:rPr>
                        <a:t>In-memory effect comparison</a:t>
                      </a:r>
                    </a:p>
                  </a:txBody>
                  <a:tcPr marL="123825" marR="123825" marT="66675" marB="66675" anchor="ctr">
                    <a:solidFill>
                      <a:srgbClr val="F6F4EE"/>
                    </a:solidFill>
                  </a:tcPr>
                </a:tc>
              </a:tr>
              <a:tr h="876300">
                <a:tc>
                  <a:txBody>
                    <a:bodyPr/>
                    <a:lstStyle/>
                    <a:p>
                      <a:r>
                        <a:rPr sz="1800" b="1">
                          <a:solidFill>
                            <a:srgbClr val="122632"/>
                          </a:solidFill>
                          <a:latin typeface="Arial"/>
                          <a:ea typeface="Arial"/>
                          <a:cs typeface="Arial"/>
                        </a:rPr>
                        <a:t>Recovery policy</a:t>
                      </a:r>
                    </a:p>
                  </a:txBody>
                  <a:tcPr marL="123825" marR="123825" marT="66675" marB="66675" anchor="ctr">
                    <a:solidFill>
                      <a:srgbClr val="E9EDE7"/>
                    </a:solidFill>
                  </a:tcPr>
                </a:tc>
                <a:tc>
                  <a:txBody>
                    <a:bodyPr/>
                    <a:lstStyle/>
                    <a:p>
                      <a:r>
                        <a:rPr sz="1800" b="0">
                          <a:solidFill>
                            <a:srgbClr val="122632"/>
                          </a:solidFill>
                          <a:latin typeface="Arial"/>
                          <a:ea typeface="Arial"/>
                          <a:cs typeface="Arial"/>
                        </a:rPr>
                        <a:t>Typed action and execution-time checks</a:t>
                      </a:r>
                    </a:p>
                  </a:txBody>
                  <a:tcPr marL="123825" marR="123825" marT="66675" marB="66675" anchor="ctr">
                    <a:solidFill>
                      <a:srgbClr val="E9EDE7"/>
                    </a:solidFill>
                  </a:tcPr>
                </a:tc>
                <a:tc>
                  <a:txBody>
                    <a:bodyPr/>
                    <a:lstStyle/>
                    <a:p>
                      <a:r>
                        <a:rPr sz="1800" b="0">
                          <a:solidFill>
                            <a:srgbClr val="122632"/>
                          </a:solidFill>
                          <a:latin typeface="Arial"/>
                          <a:ea typeface="Arial"/>
                          <a:cs typeface="Arial"/>
                        </a:rPr>
                        <a:t>No formal soundness proof</a:t>
                      </a:r>
                    </a:p>
                  </a:txBody>
                  <a:tcPr marL="123825" marR="123825" marT="66675" marB="66675" anchor="ctr">
                    <a:solidFill>
                      <a:srgbClr val="E9EDE7"/>
                    </a:solidFill>
                  </a:tcPr>
                </a:tc>
              </a:tr>
            </a:tbl>
          </a:graphicData>
        </a:graphic>
      </p:graphicFrame>
      <p:sp>
        <p:nvSpPr>
          <p:cNvPr id="3" name="text-2">
            <a:extLst xmlns:a="http://schemas.openxmlformats.org/drawingml/2006/main">
              <a:ext uri="{FF2B5EF4-FFF2-40B4-BE49-F238E27FC236}">
                <a16:creationId xmlns:a16="http://schemas.microsoft.com/office/drawing/2014/main" id="{2414ADDE-F471-4F50-9F12-821B5CB33910}"/>
              </a:ext>
            </a:extLst>
          </p:cNvPr>
          <p:cNvSpPr>
            <a:spLocks xmlns:a="http://schemas.openxmlformats.org/drawingml/2006/main" noGrp="1"/>
          </p:cNvSpPr>
          <p:nvPr/>
        </p:nvSpPr>
        <p:spPr>
          <a:xfrm xmlns:a="http://schemas.openxmlformats.org/drawingml/2006/main">
            <a:off x="609600" y="6486525"/>
            <a:ext cx="109728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1200" b="0">
                <a:solidFill>
                  <a:srgbClr val="58656A"/>
                </a:solidFill>
                <a:latin typeface="Arial"/>
                <a:ea typeface="Arial"/>
                <a:cs typeface="Arial"/>
              </a:defRPr>
            </a:defPPr>
          </a:lstStyle>
          <a:p xmlns:a="http://schemas.openxmlformats.org/drawingml/2006/main">
            <a:pPr>
              <a:defRPr sz="1200" b="0">
                <a:solidFill>
                  <a:srgbClr val="58656A"/>
                </a:solidFill>
                <a:latin typeface="Arial"/>
                <a:ea typeface="Arial"/>
                <a:cs typeface="Arial"/>
              </a:defRPr>
            </a:pPr>
            <a:r>
              <a:rPr sz="1200" b="0">
                <a:solidFill>
                  <a:srgbClr val="58656A"/>
                </a:solidFill>
                <a:latin typeface="Arial"/>
                <a:ea typeface="Arial"/>
                <a:cs typeface="Arial"/>
              </a:rPr>
              <a:t>15 / 24     These modules share the trusted init address space in this prototype.</a:t>
            </a:r>
          </a:p>
        </p:txBody>
      </p:sp>
    </p:spTree>
    <p:extLst>
      <p:ext uri="{BB962C8B-B14F-4D97-AF65-F5344CB8AC3E}">
        <p14:creationId xmlns:p14="http://schemas.microsoft.com/office/powerpoint/2010/main" val="1387613779"/>
      </p:ext>
    </p:extLst>
  </p:cSld>
</p:sld>
</file>

<file path=ppt/slides/slide16.xml><?xml version="1.0" encoding="utf-8"?>
<p:sld xmlns:p="http://schemas.openxmlformats.org/presentationml/2006/main">
  <p:cSld>
    <p:bg>
      <p:bgPr>
        <a:solidFill xmlns:a="http://schemas.openxmlformats.org/drawingml/2006/main">
          <a:srgbClr val="122632"/>
        </a:solidFill>
      </p:bgPr>
    </p:bg>
    <p:spTree>
      <p:nvGrpSpPr>
        <p:cNvPr id="1" name=""/>
        <p:cNvGrpSpPr/>
        <p:nvPr/>
      </p:nvGrpSpPr>
      <p:grpSpPr>
        <a:xfrm xmlns:a="http://schemas.openxmlformats.org/drawingml/2006/main"/>
      </p:grpSpPr>
      <p:sp>
        <p:nvSpPr>
          <p:cNvPr id="10" name="text-1">
            <a:extLst xmlns:a="http://schemas.openxmlformats.org/drawingml/2006/main">
              <a:ext uri="{FF2B5EF4-FFF2-40B4-BE49-F238E27FC236}">
                <a16:creationId xmlns:a16="http://schemas.microsoft.com/office/drawing/2014/main" id="{13DF3C93-7FD5-4A0D-8EAE-57D71DC56C05}"/>
              </a:ext>
            </a:extLst>
          </p:cNvPr>
          <p:cNvSpPr>
            <a:spLocks xmlns:a="http://schemas.openxmlformats.org/drawingml/2006/main" noGrp="1"/>
          </p:cNvSpPr>
          <p:nvPr/>
        </p:nvSpPr>
        <p:spPr>
          <a:xfrm xmlns:a="http://schemas.openxmlformats.org/drawingml/2006/main">
            <a:off x="609600" y="514350"/>
            <a:ext cx="109728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3300" b="1">
                <a:solidFill>
                  <a:srgbClr val="FCFCF8"/>
                </a:solidFill>
                <a:latin typeface="Arial"/>
                <a:ea typeface="Arial"/>
                <a:cs typeface="Arial"/>
              </a:defRPr>
            </a:defPPr>
          </a:lstStyle>
          <a:p xmlns:a="http://schemas.openxmlformats.org/drawingml/2006/main">
            <a:pPr>
              <a:defRPr sz="3300" b="1">
                <a:solidFill>
                  <a:srgbClr val="FCFCF8"/>
                </a:solidFill>
                <a:latin typeface="Arial"/>
                <a:ea typeface="Arial"/>
                <a:cs typeface="Arial"/>
              </a:defRPr>
            </a:pPr>
            <a:r>
              <a:rPr sz="3300" b="1">
                <a:solidFill>
                  <a:srgbClr val="FCFCF8"/>
                </a:solidFill>
                <a:latin typeface="Arial"/>
                <a:ea typeface="Arial"/>
                <a:cs typeface="Arial"/>
              </a:rPr>
              <a:t>Executable prototype evidence</a:t>
            </a:r>
          </a:p>
        </p:txBody>
      </p:sp>
      <p:sp>
        <p:nvSpPr>
          <p:cNvPr id="2" name="text-2">
            <a:extLst xmlns:a="http://schemas.openxmlformats.org/drawingml/2006/main">
              <a:ext uri="{FF2B5EF4-FFF2-40B4-BE49-F238E27FC236}">
                <a16:creationId xmlns:a16="http://schemas.microsoft.com/office/drawing/2014/main" id="{6835EE85-58C1-4971-8575-48B24A7F0EAE}"/>
              </a:ext>
            </a:extLst>
          </p:cNvPr>
          <p:cNvSpPr>
            <a:spLocks xmlns:a="http://schemas.openxmlformats.org/drawingml/2006/main" noGrp="1"/>
          </p:cNvSpPr>
          <p:nvPr/>
        </p:nvSpPr>
        <p:spPr>
          <a:xfrm xmlns:a="http://schemas.openxmlformats.org/drawingml/2006/main">
            <a:off x="609600" y="1771650"/>
            <a:ext cx="3524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4500" b="1">
                <a:solidFill>
                  <a:srgbClr val="B8D8C6"/>
                </a:solidFill>
                <a:latin typeface="Arial"/>
                <a:ea typeface="Arial"/>
                <a:cs typeface="Arial"/>
              </a:defRPr>
            </a:defPPr>
          </a:lstStyle>
          <a:p xmlns:a="http://schemas.openxmlformats.org/drawingml/2006/main">
            <a:pPr>
              <a:defRPr sz="4500" b="1">
                <a:solidFill>
                  <a:srgbClr val="B8D8C6"/>
                </a:solidFill>
                <a:latin typeface="Arial"/>
                <a:ea typeface="Arial"/>
                <a:cs typeface="Arial"/>
              </a:defRPr>
            </a:pPr>
            <a:r>
              <a:rPr sz="4500" b="1">
                <a:solidFill>
                  <a:srgbClr val="B8D8C6"/>
                </a:solidFill>
                <a:latin typeface="Arial"/>
                <a:ea typeface="Arial"/>
                <a:cs typeface="Arial"/>
              </a:rPr>
              <a:t>6 / 6</a:t>
            </a:r>
          </a:p>
        </p:txBody>
      </p:sp>
      <p:sp>
        <p:nvSpPr>
          <p:cNvPr id="3" name="text-3">
            <a:extLst xmlns:a="http://schemas.openxmlformats.org/drawingml/2006/main">
              <a:ext uri="{FF2B5EF4-FFF2-40B4-BE49-F238E27FC236}">
                <a16:creationId xmlns:a16="http://schemas.microsoft.com/office/drawing/2014/main" id="{37E5498C-A177-4F5B-97FF-95864A9EEB56}"/>
              </a:ext>
            </a:extLst>
          </p:cNvPr>
          <p:cNvSpPr>
            <a:spLocks xmlns:a="http://schemas.openxmlformats.org/drawingml/2006/main" noGrp="1"/>
          </p:cNvSpPr>
          <p:nvPr/>
        </p:nvSpPr>
        <p:spPr>
          <a:xfrm xmlns:a="http://schemas.openxmlformats.org/drawingml/2006/main">
            <a:off x="609600" y="2724150"/>
            <a:ext cx="3524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1950" b="0">
                <a:solidFill>
                  <a:srgbClr val="FCFCF8"/>
                </a:solidFill>
                <a:latin typeface="Arial"/>
                <a:ea typeface="Arial"/>
                <a:cs typeface="Arial"/>
              </a:defRPr>
            </a:defPPr>
          </a:lstStyle>
          <a:p xmlns:a="http://schemas.openxmlformats.org/drawingml/2006/main">
            <a:pPr>
              <a:defRPr sz="1950" b="0">
                <a:solidFill>
                  <a:srgbClr val="FCFCF8"/>
                </a:solidFill>
                <a:latin typeface="Arial"/>
                <a:ea typeface="Arial"/>
                <a:cs typeface="Arial"/>
              </a:defRPr>
            </a:pPr>
            <a:r>
              <a:rPr sz="1950" b="0">
                <a:solidFill>
                  <a:srgbClr val="FCFCF8"/>
                </a:solidFill>
                <a:latin typeface="Arial"/>
                <a:ea typeface="Arial"/>
                <a:cs typeface="Arial"/>
              </a:rPr>
              <a:t>guest demo stages</a:t>
            </a:r>
          </a:p>
        </p:txBody>
      </p:sp>
      <p:sp>
        <p:nvSpPr>
          <p:cNvPr id="4" name="text-4">
            <a:extLst xmlns:a="http://schemas.openxmlformats.org/drawingml/2006/main">
              <a:ext uri="{FF2B5EF4-FFF2-40B4-BE49-F238E27FC236}">
                <a16:creationId xmlns:a16="http://schemas.microsoft.com/office/drawing/2014/main" id="{C6265655-8612-4D64-B72F-EC5F5AD9FC8F}"/>
              </a:ext>
            </a:extLst>
          </p:cNvPr>
          <p:cNvSpPr>
            <a:spLocks xmlns:a="http://schemas.openxmlformats.org/drawingml/2006/main" noGrp="1"/>
          </p:cNvSpPr>
          <p:nvPr/>
        </p:nvSpPr>
        <p:spPr>
          <a:xfrm xmlns:a="http://schemas.openxmlformats.org/drawingml/2006/main">
            <a:off x="4343400" y="1771650"/>
            <a:ext cx="3524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4500" b="1">
                <a:solidFill>
                  <a:srgbClr val="B8D8C6"/>
                </a:solidFill>
                <a:latin typeface="Arial"/>
                <a:ea typeface="Arial"/>
                <a:cs typeface="Arial"/>
              </a:defRPr>
            </a:defPPr>
          </a:lstStyle>
          <a:p xmlns:a="http://schemas.openxmlformats.org/drawingml/2006/main">
            <a:pPr>
              <a:defRPr sz="4500" b="1">
                <a:solidFill>
                  <a:srgbClr val="B8D8C6"/>
                </a:solidFill>
                <a:latin typeface="Arial"/>
                <a:ea typeface="Arial"/>
                <a:cs typeface="Arial"/>
              </a:defRPr>
            </a:pPr>
            <a:r>
              <a:rPr sz="4500" b="1">
                <a:solidFill>
                  <a:srgbClr val="B8D8C6"/>
                </a:solidFill>
                <a:latin typeface="Arial"/>
                <a:ea typeface="Arial"/>
                <a:cs typeface="Arial"/>
              </a:rPr>
              <a:t>12 / 60</a:t>
            </a:r>
          </a:p>
        </p:txBody>
      </p:sp>
      <p:sp>
        <p:nvSpPr>
          <p:cNvPr id="5" name="text-5">
            <a:extLst xmlns:a="http://schemas.openxmlformats.org/drawingml/2006/main">
              <a:ext uri="{FF2B5EF4-FFF2-40B4-BE49-F238E27FC236}">
                <a16:creationId xmlns:a16="http://schemas.microsoft.com/office/drawing/2014/main" id="{988DA5DF-BADF-46C7-8358-0B8D4761B159}"/>
              </a:ext>
            </a:extLst>
          </p:cNvPr>
          <p:cNvSpPr>
            <a:spLocks xmlns:a="http://schemas.openxmlformats.org/drawingml/2006/main" noGrp="1"/>
          </p:cNvSpPr>
          <p:nvPr/>
        </p:nvSpPr>
        <p:spPr>
          <a:xfrm xmlns:a="http://schemas.openxmlformats.org/drawingml/2006/main">
            <a:off x="4343400" y="2724150"/>
            <a:ext cx="3524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1950" b="0">
                <a:solidFill>
                  <a:srgbClr val="FCFCF8"/>
                </a:solidFill>
                <a:latin typeface="Arial"/>
                <a:ea typeface="Arial"/>
                <a:cs typeface="Arial"/>
              </a:defRPr>
            </a:defPPr>
          </a:lstStyle>
          <a:p xmlns:a="http://schemas.openxmlformats.org/drawingml/2006/main">
            <a:pPr>
              <a:defRPr sz="1950" b="0">
                <a:solidFill>
                  <a:srgbClr val="FCFCF8"/>
                </a:solidFill>
                <a:latin typeface="Arial"/>
                <a:ea typeface="Arial"/>
                <a:cs typeface="Arial"/>
              </a:defRPr>
            </a:pPr>
            <a:r>
              <a:rPr sz="1950" b="0">
                <a:solidFill>
                  <a:srgbClr val="FCFCF8"/>
                </a:solidFill>
                <a:latin typeface="Arial"/>
                <a:ea typeface="Arial"/>
                <a:cs typeface="Arial"/>
              </a:rPr>
              <a:t>requests / recorded events</a:t>
            </a:r>
          </a:p>
        </p:txBody>
      </p:sp>
      <p:sp>
        <p:nvSpPr>
          <p:cNvPr id="6" name="text-6">
            <a:extLst xmlns:a="http://schemas.openxmlformats.org/drawingml/2006/main">
              <a:ext uri="{FF2B5EF4-FFF2-40B4-BE49-F238E27FC236}">
                <a16:creationId xmlns:a16="http://schemas.microsoft.com/office/drawing/2014/main" id="{3EB17214-E407-4217-87DB-F8283D435C7A}"/>
              </a:ext>
            </a:extLst>
          </p:cNvPr>
          <p:cNvSpPr>
            <a:spLocks xmlns:a="http://schemas.openxmlformats.org/drawingml/2006/main" noGrp="1"/>
          </p:cNvSpPr>
          <p:nvPr/>
        </p:nvSpPr>
        <p:spPr>
          <a:xfrm xmlns:a="http://schemas.openxmlformats.org/drawingml/2006/main">
            <a:off x="8077200" y="1771650"/>
            <a:ext cx="3524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4500" b="1">
                <a:solidFill>
                  <a:srgbClr val="B8D8C6"/>
                </a:solidFill>
                <a:latin typeface="Arial"/>
                <a:ea typeface="Arial"/>
                <a:cs typeface="Arial"/>
              </a:defRPr>
            </a:defPPr>
          </a:lstStyle>
          <a:p xmlns:a="http://schemas.openxmlformats.org/drawingml/2006/main">
            <a:pPr>
              <a:defRPr sz="4500" b="1">
                <a:solidFill>
                  <a:srgbClr val="B8D8C6"/>
                </a:solidFill>
                <a:latin typeface="Arial"/>
                <a:ea typeface="Arial"/>
                <a:cs typeface="Arial"/>
              </a:defRPr>
            </a:pPr>
            <a:r>
              <a:rPr sz="4500" b="1">
                <a:solidFill>
                  <a:srgbClr val="B8D8C6"/>
                </a:solidFill>
                <a:latin typeface="Arial"/>
                <a:ea typeface="Arial"/>
                <a:cs typeface="Arial"/>
              </a:rPr>
              <a:t>2 boots</a:t>
            </a:r>
          </a:p>
        </p:txBody>
      </p:sp>
      <p:sp>
        <p:nvSpPr>
          <p:cNvPr id="7" name="text-7">
            <a:extLst xmlns:a="http://schemas.openxmlformats.org/drawingml/2006/main">
              <a:ext uri="{FF2B5EF4-FFF2-40B4-BE49-F238E27FC236}">
                <a16:creationId xmlns:a16="http://schemas.microsoft.com/office/drawing/2014/main" id="{C7A14F25-B397-4A51-9D71-5B84F43BE3CB}"/>
              </a:ext>
            </a:extLst>
          </p:cNvPr>
          <p:cNvSpPr>
            <a:spLocks xmlns:a="http://schemas.openxmlformats.org/drawingml/2006/main" noGrp="1"/>
          </p:cNvSpPr>
          <p:nvPr/>
        </p:nvSpPr>
        <p:spPr>
          <a:xfrm xmlns:a="http://schemas.openxmlformats.org/drawingml/2006/main">
            <a:off x="8077200" y="2724150"/>
            <a:ext cx="3524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1950" b="0">
                <a:solidFill>
                  <a:srgbClr val="FCFCF8"/>
                </a:solidFill>
                <a:latin typeface="Arial"/>
                <a:ea typeface="Arial"/>
                <a:cs typeface="Arial"/>
              </a:defRPr>
            </a:defPPr>
          </a:lstStyle>
          <a:p xmlns:a="http://schemas.openxmlformats.org/drawingml/2006/main">
            <a:pPr>
              <a:defRPr sz="1950" b="0">
                <a:solidFill>
                  <a:srgbClr val="FCFCF8"/>
                </a:solidFill>
                <a:latin typeface="Arial"/>
                <a:ea typeface="Arial"/>
                <a:cs typeface="Arial"/>
              </a:defRPr>
            </a:pPr>
            <a:r>
              <a:rPr sz="1950" b="0">
                <a:solidFill>
                  <a:srgbClr val="FCFCF8"/>
                </a:solidFill>
                <a:latin typeface="Arial"/>
                <a:ea typeface="Arial"/>
                <a:cs typeface="Arial"/>
              </a:rPr>
              <a:t>persistence and recovery</a:t>
            </a:r>
          </a:p>
        </p:txBody>
      </p:sp>
      <p:sp>
        <p:nvSpPr>
          <p:cNvPr id="8" name="text-8">
            <a:extLst xmlns:a="http://schemas.openxmlformats.org/drawingml/2006/main">
              <a:ext uri="{FF2B5EF4-FFF2-40B4-BE49-F238E27FC236}">
                <a16:creationId xmlns:a16="http://schemas.microsoft.com/office/drawing/2014/main" id="{E7ED4D36-F012-4456-ABB5-79FCD4BD621E}"/>
              </a:ext>
            </a:extLst>
          </p:cNvPr>
          <p:cNvSpPr>
            <a:spLocks xmlns:a="http://schemas.openxmlformats.org/drawingml/2006/main" noGrp="1"/>
          </p:cNvSpPr>
          <p:nvPr/>
        </p:nvSpPr>
        <p:spPr>
          <a:xfrm xmlns:a="http://schemas.openxmlformats.org/drawingml/2006/main">
            <a:off x="609600" y="3714750"/>
            <a:ext cx="10972800" cy="1952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2325" b="0">
                <a:solidFill>
                  <a:srgbClr val="FCFCF8"/>
                </a:solidFill>
                <a:latin typeface="Consolas"/>
                <a:ea typeface="Consolas"/>
                <a:cs typeface="Consolas"/>
              </a:defRPr>
            </a:defPPr>
          </a:lstStyle>
          <a:p xmlns:a="http://schemas.openxmlformats.org/drawingml/2006/main">
            <a:pPr>
              <a:defRPr sz="2325" b="0">
                <a:solidFill>
                  <a:srgbClr val="FCFCF8"/>
                </a:solidFill>
                <a:latin typeface="Consolas"/>
                <a:ea typeface="Consolas"/>
                <a:cs typeface="Consolas"/>
              </a:defRPr>
            </a:pPr>
            <a:r>
              <a:rPr sz="2325" b="0">
                <a:solidFill>
                  <a:srgbClr val="FCFCF8"/>
                </a:solidFill>
                <a:latin typeface="Consolas"/>
                <a:ea typeface="Consolas"/>
                <a:cs typeface="Consolas"/>
              </a:rPr>
              <a:t>guest-demo: passed</a:t>
            </a:r>
          </a:p>
          <a:p xmlns:a="http://schemas.openxmlformats.org/drawingml/2006/main">
            <a:pPr>
              <a:defRPr sz="2325" b="0">
                <a:solidFill>
                  <a:srgbClr val="FCFCF8"/>
                </a:solidFill>
                <a:latin typeface="Consolas"/>
                <a:ea typeface="Consolas"/>
                <a:cs typeface="Consolas"/>
              </a:defRPr>
            </a:pPr>
            <a:r>
              <a:rPr sz="2325" b="0">
                <a:solidFill>
                  <a:srgbClr val="FCFCF8"/>
                </a:solidFill>
                <a:latin typeface="Consolas"/>
                <a:ea typeface="Consolas"/>
                <a:cs typeface="Consolas"/>
              </a:rPr>
              <a:t>state-equal: true     effects-equal: true</a:t>
            </a:r>
          </a:p>
          <a:p xmlns:a="http://schemas.openxmlformats.org/drawingml/2006/main">
            <a:pPr>
              <a:defRPr sz="2325" b="0">
                <a:solidFill>
                  <a:srgbClr val="FCFCF8"/>
                </a:solidFill>
                <a:latin typeface="Consolas"/>
                <a:ea typeface="Consolas"/>
                <a:cs typeface="Consolas"/>
              </a:defRPr>
            </a:pPr>
            <a:r>
              <a:rPr sz="2325" b="0">
                <a:solidFill>
                  <a:srgbClr val="FCFCF8"/>
                </a:solidFill>
                <a:latin typeface="Consolas"/>
                <a:ea typeface="Consolas"/>
                <a:cs typeface="Consolas"/>
              </a:rPr>
              <a:t>unsafe plan: PrivilegeAmplification</a:t>
            </a:r>
          </a:p>
          <a:p xmlns:a="http://schemas.openxmlformats.org/drawingml/2006/main">
            <a:pPr>
              <a:defRPr sz="2325" b="0">
                <a:solidFill>
                  <a:srgbClr val="FCFCF8"/>
                </a:solidFill>
                <a:latin typeface="Consolas"/>
                <a:ea typeface="Consolas"/>
                <a:cs typeface="Consolas"/>
              </a:defRPr>
            </a:pPr>
            <a:r>
              <a:rPr sz="2325" b="0">
                <a:solidFill>
                  <a:srgbClr val="FCFCF8"/>
                </a:solidFill>
                <a:latin typeface="Consolas"/>
                <a:ea typeface="Consolas"/>
                <a:cs typeface="Consolas"/>
              </a:rPr>
              <a:t>recovered live request: value=180</a:t>
            </a:r>
          </a:p>
        </p:txBody>
      </p:sp>
      <p:sp>
        <p:nvSpPr>
          <p:cNvPr id="9" name="text-9">
            <a:extLst xmlns:a="http://schemas.openxmlformats.org/drawingml/2006/main">
              <a:ext uri="{FF2B5EF4-FFF2-40B4-BE49-F238E27FC236}">
                <a16:creationId xmlns:a16="http://schemas.microsoft.com/office/drawing/2014/main" id="{A8D9092C-FDA2-4113-BCF7-F236AB5AF16B}"/>
              </a:ext>
            </a:extLst>
          </p:cNvPr>
          <p:cNvSpPr>
            <a:spLocks xmlns:a="http://schemas.openxmlformats.org/drawingml/2006/main" noGrp="1"/>
          </p:cNvSpPr>
          <p:nvPr/>
        </p:nvSpPr>
        <p:spPr>
          <a:xfrm xmlns:a="http://schemas.openxmlformats.org/drawingml/2006/main">
            <a:off x="609600" y="6486525"/>
            <a:ext cx="109728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1200" b="0">
                <a:solidFill>
                  <a:srgbClr val="B8D8C6"/>
                </a:solidFill>
                <a:latin typeface="Arial"/>
                <a:ea typeface="Arial"/>
                <a:cs typeface="Arial"/>
              </a:defRPr>
            </a:defPPr>
          </a:lstStyle>
          <a:p xmlns:a="http://schemas.openxmlformats.org/drawingml/2006/main">
            <a:pPr>
              <a:defRPr sz="1200" b="0">
                <a:solidFill>
                  <a:srgbClr val="B8D8C6"/>
                </a:solidFill>
                <a:latin typeface="Arial"/>
                <a:ea typeface="Arial"/>
                <a:cs typeface="Arial"/>
              </a:defRPr>
            </a:pPr>
            <a:r>
              <a:rPr sz="1200" b="0">
                <a:solidFill>
                  <a:srgbClr val="B8D8C6"/>
                </a:solidFill>
                <a:latin typeface="Arial"/>
                <a:ea typeface="Arial"/>
                <a:cs typeface="Arial"/>
              </a:rPr>
              <a:t>16 / 24     Recorded native-Linux guest run, 9 October 2026. Source and ISO hash are in the notes.</a:t>
            </a:r>
          </a:p>
        </p:txBody>
      </p:sp>
    </p:spTree>
    <p:extLst>
      <p:ext uri="{BB962C8B-B14F-4D97-AF65-F5344CB8AC3E}">
        <p14:creationId xmlns:p14="http://schemas.microsoft.com/office/powerpoint/2010/main" val="393187774"/>
      </p:ext>
    </p:extLst>
  </p:cSld>
</p:sld>
</file>

<file path=ppt/slides/slide17.xml><?xml version="1.0" encoding="utf-8"?>
<p:sld xmlns:p="http://schemas.openxmlformats.org/presentationml/2006/main">
  <p:cSld>
    <p:bg>
      <p:bgPr>
        <a:solidFill xmlns:a="http://schemas.openxmlformats.org/drawingml/2006/main">
          <a:srgbClr val="F6F4EE"/>
        </a:solidFill>
      </p:bgPr>
    </p:bg>
    <p:spTree>
      <p:nvGrpSpPr>
        <p:cNvPr id="1" name=""/>
        <p:cNvGrpSpPr/>
        <p:nvPr/>
      </p:nvGrpSpPr>
      <p:grpSpPr>
        <a:xfrm xmlns:a="http://schemas.openxmlformats.org/drawingml/2006/main"/>
      </p:grpSpPr>
      <p:sp>
        <p:nvSpPr>
          <p:cNvPr id="8" name="text-1">
            <a:extLst xmlns:a="http://schemas.openxmlformats.org/drawingml/2006/main">
              <a:ext uri="{FF2B5EF4-FFF2-40B4-BE49-F238E27FC236}">
                <a16:creationId xmlns:a16="http://schemas.microsoft.com/office/drawing/2014/main" id="{874A733E-1BEF-4DA7-85FB-DF315A9E8570}"/>
              </a:ext>
            </a:extLst>
          </p:cNvPr>
          <p:cNvSpPr>
            <a:spLocks xmlns:a="http://schemas.openxmlformats.org/drawingml/2006/main" noGrp="1"/>
          </p:cNvSpPr>
          <p:nvPr/>
        </p:nvSpPr>
        <p:spPr>
          <a:xfrm xmlns:a="http://schemas.openxmlformats.org/drawingml/2006/main">
            <a:off x="609600" y="514350"/>
            <a:ext cx="109728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3300" b="1">
                <a:solidFill>
                  <a:srgbClr val="122632"/>
                </a:solidFill>
                <a:latin typeface="Arial"/>
                <a:ea typeface="Arial"/>
                <a:cs typeface="Arial"/>
              </a:defRPr>
            </a:defPPr>
          </a:lstStyle>
          <a:p xmlns:a="http://schemas.openxmlformats.org/drawingml/2006/main">
            <a:pPr>
              <a:defRPr sz="3300" b="1">
                <a:solidFill>
                  <a:srgbClr val="122632"/>
                </a:solidFill>
                <a:latin typeface="Arial"/>
                <a:ea typeface="Arial"/>
                <a:cs typeface="Arial"/>
              </a:defRPr>
            </a:pPr>
            <a:r>
              <a:rPr sz="3300" b="1">
                <a:solidFill>
                  <a:srgbClr val="122632"/>
                </a:solidFill>
                <a:latin typeface="Arial"/>
                <a:ea typeface="Arial"/>
                <a:cs typeface="Arial"/>
              </a:rPr>
              <a:t>Implementation progress and Review I</a:t>
            </a:r>
          </a:p>
        </p:txBody>
      </p:sp>
      <p:sp>
        <p:nvSpPr>
          <p:cNvPr id="2" name="text-2">
            <a:extLst xmlns:a="http://schemas.openxmlformats.org/drawingml/2006/main">
              <a:ext uri="{FF2B5EF4-FFF2-40B4-BE49-F238E27FC236}">
                <a16:creationId xmlns:a16="http://schemas.microsoft.com/office/drawing/2014/main" id="{EFBC6942-835C-4609-A8CA-70CE29969BB3}"/>
              </a:ext>
            </a:extLst>
          </p:cNvPr>
          <p:cNvSpPr>
            <a:spLocks xmlns:a="http://schemas.openxmlformats.org/drawingml/2006/main" noGrp="1"/>
          </p:cNvSpPr>
          <p:nvPr/>
        </p:nvSpPr>
        <p:spPr>
          <a:xfrm xmlns:a="http://schemas.openxmlformats.org/drawingml/2006/main">
            <a:off x="609600" y="1809750"/>
            <a:ext cx="3533775" cy="1228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6600" b="1">
                <a:solidFill>
                  <a:srgbClr val="146B5F"/>
                </a:solidFill>
                <a:latin typeface="Arial"/>
                <a:ea typeface="Arial"/>
                <a:cs typeface="Arial"/>
              </a:defRPr>
            </a:defPPr>
          </a:lstStyle>
          <a:p xmlns:a="http://schemas.openxmlformats.org/drawingml/2006/main">
            <a:pPr>
              <a:defRPr sz="6600" b="1">
                <a:solidFill>
                  <a:srgbClr val="146B5F"/>
                </a:solidFill>
                <a:latin typeface="Arial"/>
                <a:ea typeface="Arial"/>
                <a:cs typeface="Arial"/>
              </a:defRPr>
            </a:pPr>
            <a:r>
              <a:rPr sz="6600" b="1">
                <a:solidFill>
                  <a:srgbClr val="146B5F"/>
                </a:solidFill>
                <a:latin typeface="Arial"/>
                <a:ea typeface="Arial"/>
                <a:cs typeface="Arial"/>
              </a:rPr>
              <a:t>6 / 6</a:t>
            </a:r>
          </a:p>
        </p:txBody>
      </p:sp>
      <p:sp>
        <p:nvSpPr>
          <p:cNvPr id="3" name="text-3">
            <a:extLst xmlns:a="http://schemas.openxmlformats.org/drawingml/2006/main">
              <a:ext uri="{FF2B5EF4-FFF2-40B4-BE49-F238E27FC236}">
                <a16:creationId xmlns:a16="http://schemas.microsoft.com/office/drawing/2014/main" id="{E31E33A8-8F53-424C-BE8B-BEC80E26A3BE}"/>
              </a:ext>
            </a:extLst>
          </p:cNvPr>
          <p:cNvSpPr>
            <a:spLocks xmlns:a="http://schemas.openxmlformats.org/drawingml/2006/main" noGrp="1"/>
          </p:cNvSpPr>
          <p:nvPr/>
        </p:nvSpPr>
        <p:spPr>
          <a:xfrm xmlns:a="http://schemas.openxmlformats.org/drawingml/2006/main">
            <a:off x="609600" y="3248025"/>
            <a:ext cx="447675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2250" b="0">
                <a:solidFill>
                  <a:srgbClr val="122632"/>
                </a:solidFill>
                <a:latin typeface="Arial"/>
                <a:ea typeface="Arial"/>
                <a:cs typeface="Arial"/>
              </a:defRPr>
            </a:defPPr>
          </a:lstStyle>
          <a:p xmlns:a="http://schemas.openxmlformats.org/drawingml/2006/main">
            <a:pPr>
              <a:defRPr sz="2250" b="0">
                <a:solidFill>
                  <a:srgbClr val="122632"/>
                </a:solidFill>
                <a:latin typeface="Arial"/>
                <a:ea typeface="Arial"/>
                <a:cs typeface="Arial"/>
              </a:defRPr>
            </a:pPr>
            <a:r>
              <a:rPr sz="2250" b="0">
                <a:solidFill>
                  <a:srgbClr val="122632"/>
                </a:solidFill>
                <a:latin typeface="Arial"/>
                <a:ea typeface="Arial"/>
                <a:cs typeface="Arial"/>
              </a:rPr>
              <a:t>bounded prototype</a:t>
            </a:r>
          </a:p>
          <a:p xmlns:a="http://schemas.openxmlformats.org/drawingml/2006/main">
            <a:pPr>
              <a:defRPr sz="2250" b="0">
                <a:solidFill>
                  <a:srgbClr val="122632"/>
                </a:solidFill>
                <a:latin typeface="Arial"/>
                <a:ea typeface="Arial"/>
                <a:cs typeface="Arial"/>
              </a:defRPr>
            </a:pPr>
            <a:r>
              <a:rPr sz="2250" b="0">
                <a:solidFill>
                  <a:srgbClr val="122632"/>
                </a:solidFill>
                <a:latin typeface="Arial"/>
                <a:ea typeface="Arial"/>
                <a:cs typeface="Arial"/>
              </a:rPr>
              <a:t>acceptance gates evidenced</a:t>
            </a:r>
          </a:p>
        </p:txBody>
      </p:sp>
      <p:sp>
        <p:nvSpPr>
          <p:cNvPr id="4" name="text-4">
            <a:extLst xmlns:a="http://schemas.openxmlformats.org/drawingml/2006/main">
              <a:ext uri="{FF2B5EF4-FFF2-40B4-BE49-F238E27FC236}">
                <a16:creationId xmlns:a16="http://schemas.microsoft.com/office/drawing/2014/main" id="{4F1579B1-363E-4BAE-AC58-2434EE0D17D5}"/>
              </a:ext>
            </a:extLst>
          </p:cNvPr>
          <p:cNvSpPr>
            <a:spLocks xmlns:a="http://schemas.openxmlformats.org/drawingml/2006/main" noGrp="1"/>
          </p:cNvSpPr>
          <p:nvPr/>
        </p:nvSpPr>
        <p:spPr>
          <a:xfrm xmlns:a="http://schemas.openxmlformats.org/drawingml/2006/main">
            <a:off x="5972175" y="1809750"/>
            <a:ext cx="5600700" cy="1276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2925" b="1">
                <a:solidFill>
                  <a:srgbClr val="122632"/>
                </a:solidFill>
                <a:latin typeface="Arial"/>
                <a:ea typeface="Arial"/>
                <a:cs typeface="Arial"/>
              </a:defRPr>
            </a:defPPr>
          </a:lstStyle>
          <a:p xmlns:a="http://schemas.openxmlformats.org/drawingml/2006/main">
            <a:pPr>
              <a:defRPr sz="2925" b="1">
                <a:solidFill>
                  <a:srgbClr val="122632"/>
                </a:solidFill>
                <a:latin typeface="Arial"/>
                <a:ea typeface="Arial"/>
                <a:cs typeface="Arial"/>
              </a:defRPr>
            </a:pPr>
            <a:r>
              <a:rPr sz="2925" b="1">
                <a:solidFill>
                  <a:srgbClr val="122632"/>
                </a:solidFill>
                <a:latin typeface="Arial"/>
                <a:ea typeface="Arial"/>
                <a:cs typeface="Arial"/>
              </a:rPr>
              <a:t>Full-project completion</a:t>
            </a:r>
          </a:p>
          <a:p xmlns:a="http://schemas.openxmlformats.org/drawingml/2006/main">
            <a:pPr>
              <a:defRPr sz="2925" b="1">
                <a:solidFill>
                  <a:srgbClr val="122632"/>
                </a:solidFill>
                <a:latin typeface="Arial"/>
                <a:ea typeface="Arial"/>
                <a:cs typeface="Arial"/>
              </a:defRPr>
            </a:pPr>
            <a:r>
              <a:rPr sz="2925" b="1">
                <a:solidFill>
                  <a:srgbClr val="122632"/>
                </a:solidFill>
                <a:latin typeface="Arial"/>
                <a:ea typeface="Arial"/>
                <a:cs typeface="Arial"/>
              </a:rPr>
              <a:t>is not yet quantified.</a:t>
            </a:r>
          </a:p>
        </p:txBody>
      </p:sp>
      <p:sp>
        <p:nvSpPr>
          <p:cNvPr id="5" name="text-5">
            <a:extLst xmlns:a="http://schemas.openxmlformats.org/drawingml/2006/main">
              <a:ext uri="{FF2B5EF4-FFF2-40B4-BE49-F238E27FC236}">
                <a16:creationId xmlns:a16="http://schemas.microsoft.com/office/drawing/2014/main" id="{37862EAF-F277-4A56-A50B-8F75A686CCB1}"/>
              </a:ext>
            </a:extLst>
          </p:cNvPr>
          <p:cNvSpPr>
            <a:spLocks xmlns:a="http://schemas.openxmlformats.org/drawingml/2006/main" noGrp="1"/>
          </p:cNvSpPr>
          <p:nvPr/>
        </p:nvSpPr>
        <p:spPr>
          <a:xfrm xmlns:a="http://schemas.openxmlformats.org/drawingml/2006/main">
            <a:off x="5972175" y="3495675"/>
            <a:ext cx="5600700" cy="1790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2100" b="0">
                <a:solidFill>
                  <a:srgbClr val="58656A"/>
                </a:solidFill>
                <a:latin typeface="Arial"/>
                <a:ea typeface="Arial"/>
                <a:cs typeface="Arial"/>
              </a:defRPr>
            </a:defPPr>
          </a:lstStyle>
          <a:p xmlns:a="http://schemas.openxmlformats.org/drawingml/2006/main">
            <a:pPr>
              <a:defRPr sz="2100" b="0">
                <a:solidFill>
                  <a:srgbClr val="58656A"/>
                </a:solidFill>
                <a:latin typeface="Arial"/>
                <a:ea typeface="Arial"/>
                <a:cs typeface="Arial"/>
              </a:defRPr>
            </a:pPr>
            <a:r>
              <a:rPr sz="2100" b="0">
                <a:solidFill>
                  <a:srgbClr val="58656A"/>
                </a:solidFill>
                <a:latin typeface="Arial"/>
                <a:ea typeface="Arial"/>
                <a:cs typeface="Arial"/>
              </a:rPr>
              <a:t>Agree final criteria and weights.</a:t>
            </a:r>
          </a:p>
          <a:p xmlns:a="http://schemas.openxmlformats.org/drawingml/2006/main">
            <a:pPr>
              <a:defRPr sz="2100" b="0">
                <a:solidFill>
                  <a:srgbClr val="58656A"/>
                </a:solidFill>
                <a:latin typeface="Arial"/>
                <a:ea typeface="Arial"/>
                <a:cs typeface="Arial"/>
              </a:defRPr>
            </a:pPr>
            <a:r>
              <a:rPr sz="2100" b="0">
                <a:solidFill>
                  <a:srgbClr val="58656A"/>
                </a:solidFill>
                <a:latin typeface="Arial"/>
                <a:ea typeface="Arial"/>
                <a:cs typeface="Arial"/>
              </a:rPr>
              <a:t>Attach evidence to completed criteria.</a:t>
            </a:r>
          </a:p>
          <a:p xmlns:a="http://schemas.openxmlformats.org/drawingml/2006/main">
            <a:pPr>
              <a:defRPr sz="2100" b="0">
                <a:solidFill>
                  <a:srgbClr val="58656A"/>
                </a:solidFill>
                <a:latin typeface="Arial"/>
                <a:ea typeface="Arial"/>
                <a:cs typeface="Arial"/>
              </a:defRPr>
            </a:pPr>
            <a:r>
              <a:rPr sz="2100" b="0">
                <a:solidFill>
                  <a:srgbClr val="58656A"/>
                </a:solidFill>
                <a:latin typeface="Arial"/>
                <a:ea typeface="Arial"/>
                <a:cs typeface="Arial"/>
              </a:rPr>
              <a:t>Keep unfinished evaluation explicit.</a:t>
            </a:r>
          </a:p>
        </p:txBody>
      </p:sp>
      <p:sp>
        <p:nvSpPr>
          <p:cNvPr id="6" name="text-6">
            <a:extLst xmlns:a="http://schemas.openxmlformats.org/drawingml/2006/main">
              <a:ext uri="{FF2B5EF4-FFF2-40B4-BE49-F238E27FC236}">
                <a16:creationId xmlns:a16="http://schemas.microsoft.com/office/drawing/2014/main" id="{D783FD57-33F8-460A-8091-AEA1683742F3}"/>
              </a:ext>
            </a:extLst>
          </p:cNvPr>
          <p:cNvSpPr>
            <a:spLocks xmlns:a="http://schemas.openxmlformats.org/drawingml/2006/main" noGrp="1"/>
          </p:cNvSpPr>
          <p:nvPr/>
        </p:nvSpPr>
        <p:spPr>
          <a:xfrm xmlns:a="http://schemas.openxmlformats.org/drawingml/2006/main">
            <a:off x="609600" y="5638800"/>
            <a:ext cx="109728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2100" b="0">
                <a:solidFill>
                  <a:srgbClr val="146B5F"/>
                </a:solidFill>
                <a:latin typeface="Arial"/>
                <a:ea typeface="Arial"/>
                <a:cs typeface="Arial"/>
              </a:defRPr>
            </a:defPPr>
          </a:lstStyle>
          <a:p xmlns:a="http://schemas.openxmlformats.org/drawingml/2006/main">
            <a:pPr>
              <a:defRPr sz="2100" b="0">
                <a:solidFill>
                  <a:srgbClr val="146B5F"/>
                </a:solidFill>
                <a:latin typeface="Arial"/>
                <a:ea typeface="Arial"/>
                <a:cs typeface="Arial"/>
              </a:defRPr>
            </a:pPr>
            <a:r>
              <a:rPr sz="2100" b="0">
                <a:solidFill>
                  <a:srgbClr val="146B5F"/>
                </a:solidFill>
                <a:latin typeface="Arial"/>
                <a:ea typeface="Arial"/>
                <a:cs typeface="Arial"/>
              </a:rPr>
              <a:t>Demo coverage and implementation effort measure different things.</a:t>
            </a:r>
          </a:p>
        </p:txBody>
      </p:sp>
      <p:sp>
        <p:nvSpPr>
          <p:cNvPr id="7" name="text-7">
            <a:extLst xmlns:a="http://schemas.openxmlformats.org/drawingml/2006/main">
              <a:ext uri="{FF2B5EF4-FFF2-40B4-BE49-F238E27FC236}">
                <a16:creationId xmlns:a16="http://schemas.microsoft.com/office/drawing/2014/main" id="{030DB954-9917-45B9-99AE-D5B815D599E3}"/>
              </a:ext>
            </a:extLst>
          </p:cNvPr>
          <p:cNvSpPr>
            <a:spLocks xmlns:a="http://schemas.openxmlformats.org/drawingml/2006/main" noGrp="1"/>
          </p:cNvSpPr>
          <p:nvPr/>
        </p:nvSpPr>
        <p:spPr>
          <a:xfrm xmlns:a="http://schemas.openxmlformats.org/drawingml/2006/main">
            <a:off x="609600" y="6486525"/>
            <a:ext cx="109728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1200" b="0">
                <a:solidFill>
                  <a:srgbClr val="58656A"/>
                </a:solidFill>
                <a:latin typeface="Arial"/>
                <a:ea typeface="Arial"/>
                <a:cs typeface="Arial"/>
              </a:defRPr>
            </a:defPPr>
          </a:lstStyle>
          <a:p xmlns:a="http://schemas.openxmlformats.org/drawingml/2006/main">
            <a:pPr>
              <a:defRPr sz="1200" b="0">
                <a:solidFill>
                  <a:srgbClr val="58656A"/>
                </a:solidFill>
                <a:latin typeface="Arial"/>
                <a:ea typeface="Arial"/>
                <a:cs typeface="Arial"/>
              </a:defRPr>
            </a:pPr>
            <a:r>
              <a:rPr sz="1200" b="0">
                <a:solidFill>
                  <a:srgbClr val="58656A"/>
                </a:solidFill>
                <a:latin typeface="Arial"/>
                <a:ea typeface="Arial"/>
                <a:cs typeface="Arial"/>
              </a:rPr>
              <a:t>17 / 24     A scope decision is still needed before asserting the required 60–70% completion.</a:t>
            </a:r>
          </a:p>
        </p:txBody>
      </p:sp>
    </p:spTree>
    <p:extLst>
      <p:ext uri="{BB962C8B-B14F-4D97-AF65-F5344CB8AC3E}">
        <p14:creationId xmlns:p14="http://schemas.microsoft.com/office/powerpoint/2010/main" val="311333960"/>
      </p:ext>
    </p:extLst>
  </p:cSld>
</p:sld>
</file>

<file path=ppt/slides/slide18.xml><?xml version="1.0" encoding="utf-8"?>
<p:sld xmlns:p="http://schemas.openxmlformats.org/presentationml/2006/main">
  <p:cSld>
    <p:bg>
      <p:bgPr>
        <a:solidFill xmlns:a="http://schemas.openxmlformats.org/drawingml/2006/main">
          <a:srgbClr val="F6F4EE"/>
        </a:solidFill>
      </p:bgPr>
    </p:bg>
    <p:spTree>
      <p:nvGrpSpPr>
        <p:cNvPr id="1" name=""/>
        <p:cNvGrpSpPr/>
        <p:nvPr/>
      </p:nvGrpSpPr>
      <p:grpSpPr>
        <a:xfrm xmlns:a="http://schemas.openxmlformats.org/drawingml/2006/main"/>
      </p:grpSpPr>
      <p:sp>
        <p:nvSpPr>
          <p:cNvPr id="4" name="text-1">
            <a:extLst xmlns:a="http://schemas.openxmlformats.org/drawingml/2006/main">
              <a:ext uri="{FF2B5EF4-FFF2-40B4-BE49-F238E27FC236}">
                <a16:creationId xmlns:a16="http://schemas.microsoft.com/office/drawing/2014/main" id="{1DCE3345-CF18-442E-9C0F-A30011554985}"/>
              </a:ext>
            </a:extLst>
          </p:cNvPr>
          <p:cNvSpPr>
            <a:spLocks xmlns:a="http://schemas.openxmlformats.org/drawingml/2006/main" noGrp="1"/>
          </p:cNvSpPr>
          <p:nvPr/>
        </p:nvSpPr>
        <p:spPr>
          <a:xfrm xmlns:a="http://schemas.openxmlformats.org/drawingml/2006/main">
            <a:off x="609600" y="514350"/>
            <a:ext cx="109728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3300" b="1">
                <a:solidFill>
                  <a:srgbClr val="122632"/>
                </a:solidFill>
                <a:latin typeface="Arial"/>
                <a:ea typeface="Arial"/>
                <a:cs typeface="Arial"/>
              </a:defRPr>
            </a:defPPr>
          </a:lstStyle>
          <a:p xmlns:a="http://schemas.openxmlformats.org/drawingml/2006/main">
            <a:pPr>
              <a:defRPr sz="3300" b="1">
                <a:solidFill>
                  <a:srgbClr val="122632"/>
                </a:solidFill>
                <a:latin typeface="Arial"/>
                <a:ea typeface="Arial"/>
                <a:cs typeface="Arial"/>
              </a:defRPr>
            </a:pPr>
            <a:r>
              <a:rPr sz="3300" b="1">
                <a:solidFill>
                  <a:srgbClr val="122632"/>
                </a:solidFill>
                <a:latin typeface="Arial"/>
                <a:ea typeface="Arial"/>
                <a:cs typeface="Arial"/>
              </a:rPr>
              <a:t>Proposed module division</a:t>
            </a:r>
          </a:p>
        </p:txBody>
      </p:sp>
      <p:graphicFrame>
        <p:nvGraphicFramePr>
          <p:cNvPr id="2" name="">
            <a:extLst xmlns:a="http://schemas.openxmlformats.org/drawingml/2006/main">
              <a:ext uri="{FF2B5EF4-FFF2-40B4-BE49-F238E27FC236}">
                <a16:creationId xmlns:a16="http://schemas.microsoft.com/office/drawing/2014/main" id="{1FA24B0E-63BE-4B1E-ABCE-F7E511045244}"/>
              </a:ext>
            </a:extLst>
          </p:cNvPr>
          <p:cNvGraphicFramePr/>
          <p:nvPr/>
        </p:nvGraphicFramePr>
        <p:xfrm>
          <a:off xmlns:a="http://schemas.openxmlformats.org/drawingml/2006/main" x="609600" y="1685925"/>
          <a:ext xmlns:a="http://schemas.openxmlformats.org/drawingml/2006/main" cx="10972800" cy="3886200"/>
        </p:xfrm>
        <a:graphic xmlns:a="http://schemas.openxmlformats.org/drawingml/2006/main">
          <a:graphicData uri="http://schemas.openxmlformats.org/drawingml/2006/table">
            <a:tbl>
              <a:tblPr firstRow="1" bandRow="0"/>
              <a:tblGrid>
                <a:gridCol w="3381375"/>
                <a:gridCol w="1762125"/>
                <a:gridCol w="5829300"/>
              </a:tblGrid>
              <a:tr h="457200">
                <a:tc>
                  <a:txBody>
                    <a:bodyPr/>
                    <a:lstStyle/>
                    <a:p>
                      <a:r>
                        <a:rPr sz="1725" b="1">
                          <a:solidFill>
                            <a:srgbClr val="FCFCF8"/>
                          </a:solidFill>
                          <a:latin typeface="Arial"/>
                          <a:ea typeface="Arial"/>
                          <a:cs typeface="Arial"/>
                        </a:rPr>
                        <a:t>Workstream</a:t>
                      </a:r>
                    </a:p>
                  </a:txBody>
                  <a:tcPr marL="123825" marR="123825" marT="66675" marB="66675" anchor="ctr">
                    <a:solidFill>
                      <a:srgbClr val="122632"/>
                    </a:solidFill>
                  </a:tcPr>
                </a:tc>
                <a:tc>
                  <a:txBody>
                    <a:bodyPr/>
                    <a:lstStyle/>
                    <a:p>
                      <a:r>
                        <a:rPr sz="1725" b="1">
                          <a:solidFill>
                            <a:srgbClr val="FCFCF8"/>
                          </a:solidFill>
                          <a:latin typeface="Arial"/>
                          <a:ea typeface="Arial"/>
                          <a:cs typeface="Arial"/>
                        </a:rPr>
                        <a:t>Owner</a:t>
                      </a:r>
                    </a:p>
                  </a:txBody>
                  <a:tcPr marL="123825" marR="123825" marT="66675" marB="66675" anchor="ctr">
                    <a:solidFill>
                      <a:srgbClr val="122632"/>
                    </a:solidFill>
                  </a:tcPr>
                </a:tc>
                <a:tc>
                  <a:txBody>
                    <a:bodyPr/>
                    <a:lstStyle/>
                    <a:p>
                      <a:r>
                        <a:rPr sz="1725" b="1">
                          <a:solidFill>
                            <a:srgbClr val="FCFCF8"/>
                          </a:solidFill>
                          <a:latin typeface="Arial"/>
                          <a:ea typeface="Arial"/>
                          <a:cs typeface="Arial"/>
                        </a:rPr>
                        <a:t>Modules and review responsibility</a:t>
                      </a:r>
                    </a:p>
                  </a:txBody>
                  <a:tcPr marL="123825" marR="123825" marT="66675" marB="66675" anchor="ctr">
                    <a:solidFill>
                      <a:srgbClr val="122632"/>
                    </a:solidFill>
                  </a:tcPr>
                </a:tc>
              </a:tr>
              <a:tr h="857250">
                <a:tc>
                  <a:txBody>
                    <a:bodyPr/>
                    <a:lstStyle/>
                    <a:p>
                      <a:r>
                        <a:rPr sz="1800" b="1">
                          <a:solidFill>
                            <a:srgbClr val="122632"/>
                          </a:solidFill>
                          <a:latin typeface="Arial"/>
                          <a:ea typeface="Arial"/>
                          <a:cs typeface="Arial"/>
                        </a:rPr>
                        <a:t>Kernel and scheduling</a:t>
                      </a:r>
                    </a:p>
                  </a:txBody>
                  <a:tcPr marL="123825" marR="123825" marT="66675" marB="66675" anchor="ctr">
                    <a:solidFill>
                      <a:srgbClr val="F6F4EE"/>
                    </a:solidFill>
                  </a:tcPr>
                </a:tc>
                <a:tc>
                  <a:txBody>
                    <a:bodyPr/>
                    <a:lstStyle/>
                    <a:p>
                      <a:r>
                        <a:rPr sz="1800" b="0">
                          <a:solidFill>
                            <a:srgbClr val="122632"/>
                          </a:solidFill>
                          <a:latin typeface="Arial"/>
                          <a:ea typeface="Arial"/>
                          <a:cs typeface="Arial"/>
                        </a:rPr>
                        <a:t>Unassigned</a:t>
                      </a:r>
                    </a:p>
                  </a:txBody>
                  <a:tcPr marL="123825" marR="123825" marT="66675" marB="66675" anchor="ctr">
                    <a:solidFill>
                      <a:srgbClr val="F6F4EE"/>
                    </a:solidFill>
                  </a:tcPr>
                </a:tc>
                <a:tc>
                  <a:txBody>
                    <a:bodyPr/>
                    <a:lstStyle/>
                    <a:p>
                      <a:r>
                        <a:rPr sz="1800" b="0">
                          <a:solidFill>
                            <a:srgbClr val="122632"/>
                          </a:solidFill>
                          <a:latin typeface="Arial"/>
                          <a:ea typeface="Arial"/>
                          <a:cs typeface="Arial"/>
                        </a:rPr>
                        <a:t>Boot, memory, syscalls and preemption demonstration</a:t>
                      </a:r>
                    </a:p>
                  </a:txBody>
                  <a:tcPr marL="123825" marR="123825" marT="66675" marB="66675" anchor="ctr">
                    <a:solidFill>
                      <a:srgbClr val="F6F4EE"/>
                    </a:solidFill>
                  </a:tcPr>
                </a:tc>
              </a:tr>
              <a:tr h="857250">
                <a:tc>
                  <a:txBody>
                    <a:bodyPr/>
                    <a:lstStyle/>
                    <a:p>
                      <a:r>
                        <a:rPr sz="1800" b="1">
                          <a:solidFill>
                            <a:srgbClr val="122632"/>
                          </a:solidFill>
                          <a:latin typeface="Arial"/>
                          <a:ea typeface="Arial"/>
                          <a:cs typeface="Arial"/>
                        </a:rPr>
                        <a:t>Security and native recovery</a:t>
                      </a:r>
                    </a:p>
                  </a:txBody>
                  <a:tcPr marL="123825" marR="123825" marT="66675" marB="66675" anchor="ctr">
                    <a:solidFill>
                      <a:srgbClr val="E9EDE7"/>
                    </a:solidFill>
                  </a:tcPr>
                </a:tc>
                <a:tc>
                  <a:txBody>
                    <a:bodyPr/>
                    <a:lstStyle/>
                    <a:p>
                      <a:r>
                        <a:rPr sz="1800" b="0">
                          <a:solidFill>
                            <a:srgbClr val="122632"/>
                          </a:solidFill>
                          <a:latin typeface="Arial"/>
                          <a:ea typeface="Arial"/>
                          <a:cs typeface="Arial"/>
                        </a:rPr>
                        <a:t>Unassigned</a:t>
                      </a:r>
                    </a:p>
                  </a:txBody>
                  <a:tcPr marL="123825" marR="123825" marT="66675" marB="66675" anchor="ctr">
                    <a:solidFill>
                      <a:srgbClr val="E9EDE7"/>
                    </a:solidFill>
                  </a:tcPr>
                </a:tc>
                <a:tc>
                  <a:txBody>
                    <a:bodyPr/>
                    <a:lstStyle/>
                    <a:p>
                      <a:r>
                        <a:rPr sz="1800" b="0">
                          <a:solidFill>
                            <a:srgbClr val="122632"/>
                          </a:solidFill>
                          <a:latin typeface="Arial"/>
                          <a:ea typeface="Arial"/>
                          <a:cs typeface="Arial"/>
                        </a:rPr>
                        <a:t>Capabilities, IPC, COW and stale-handle rejection</a:t>
                      </a:r>
                    </a:p>
                  </a:txBody>
                  <a:tcPr marL="123825" marR="123825" marT="66675" marB="66675" anchor="ctr">
                    <a:solidFill>
                      <a:srgbClr val="E9EDE7"/>
                    </a:solidFill>
                  </a:tcPr>
                </a:tc>
              </a:tr>
              <a:tr h="857250">
                <a:tc>
                  <a:txBody>
                    <a:bodyPr/>
                    <a:lstStyle/>
                    <a:p>
                      <a:r>
                        <a:rPr sz="1800" b="1">
                          <a:solidFill>
                            <a:srgbClr val="122632"/>
                          </a:solidFill>
                          <a:latin typeface="Arial"/>
                          <a:ea typeface="Arial"/>
                          <a:cs typeface="Arial"/>
                        </a:rPr>
                        <a:t>Storage and Wasm</a:t>
                      </a:r>
                    </a:p>
                  </a:txBody>
                  <a:tcPr marL="123825" marR="123825" marT="66675" marB="66675" anchor="ctr">
                    <a:solidFill>
                      <a:srgbClr val="F6F4EE"/>
                    </a:solidFill>
                  </a:tcPr>
                </a:tc>
                <a:tc>
                  <a:txBody>
                    <a:bodyPr/>
                    <a:lstStyle/>
                    <a:p>
                      <a:r>
                        <a:rPr sz="1800" b="0">
                          <a:solidFill>
                            <a:srgbClr val="122632"/>
                          </a:solidFill>
                          <a:latin typeface="Arial"/>
                          <a:ea typeface="Arial"/>
                          <a:cs typeface="Arial"/>
                        </a:rPr>
                        <a:t>Unassigned</a:t>
                      </a:r>
                    </a:p>
                  </a:txBody>
                  <a:tcPr marL="123825" marR="123825" marT="66675" marB="66675" anchor="ctr">
                    <a:solidFill>
                      <a:srgbClr val="F6F4EE"/>
                    </a:solidFill>
                  </a:tcPr>
                </a:tc>
                <a:tc>
                  <a:txBody>
                    <a:bodyPr/>
                    <a:lstStyle/>
                    <a:p>
                      <a:r>
                        <a:rPr sz="1800" b="0">
                          <a:solidFill>
                            <a:srgbClr val="122632"/>
                          </a:solidFill>
                          <a:latin typeface="Arial"/>
                          <a:ea typeface="Arial"/>
                          <a:cs typeface="Arial"/>
                        </a:rPr>
                        <a:t>ChronicleFS, durable bundles and reboot recovery</a:t>
                      </a:r>
                    </a:p>
                  </a:txBody>
                  <a:tcPr marL="123825" marR="123825" marT="66675" marB="66675" anchor="ctr">
                    <a:solidFill>
                      <a:srgbClr val="F6F4EE"/>
                    </a:solidFill>
                  </a:tcPr>
                </a:tc>
              </a:tr>
              <a:tr h="857250">
                <a:tc>
                  <a:txBody>
                    <a:bodyPr/>
                    <a:lstStyle/>
                    <a:p>
                      <a:r>
                        <a:rPr sz="1800" b="1">
                          <a:solidFill>
                            <a:srgbClr val="122632"/>
                          </a:solidFill>
                          <a:latin typeface="Arial"/>
                          <a:ea typeface="Arial"/>
                          <a:cs typeface="Arial"/>
                        </a:rPr>
                        <a:t>Policy and evaluation</a:t>
                      </a:r>
                    </a:p>
                  </a:txBody>
                  <a:tcPr marL="123825" marR="123825" marT="66675" marB="66675" anchor="ctr">
                    <a:solidFill>
                      <a:srgbClr val="E9EDE7"/>
                    </a:solidFill>
                  </a:tcPr>
                </a:tc>
                <a:tc>
                  <a:txBody>
                    <a:bodyPr/>
                    <a:lstStyle/>
                    <a:p>
                      <a:r>
                        <a:rPr sz="1800" b="0">
                          <a:solidFill>
                            <a:srgbClr val="122632"/>
                          </a:solidFill>
                          <a:latin typeface="Arial"/>
                          <a:ea typeface="Arial"/>
                          <a:cs typeface="Arial"/>
                        </a:rPr>
                        <a:t>Unassigned</a:t>
                      </a:r>
                    </a:p>
                  </a:txBody>
                  <a:tcPr marL="123825" marR="123825" marT="66675" marB="66675" anchor="ctr">
                    <a:solidFill>
                      <a:srgbClr val="E9EDE7"/>
                    </a:solidFill>
                  </a:tcPr>
                </a:tc>
                <a:tc>
                  <a:txBody>
                    <a:bodyPr/>
                    <a:lstStyle/>
                    <a:p>
                      <a:r>
                        <a:rPr sz="1800" b="0">
                          <a:solidFill>
                            <a:srgbClr val="122632"/>
                          </a:solidFill>
                          <a:latin typeface="Arial"/>
                          <a:ea typeface="Arial"/>
                          <a:cs typeface="Arial"/>
                        </a:rPr>
                        <a:t>Verifier, AI adapter, fault campaigns and dashboard</a:t>
                      </a:r>
                    </a:p>
                  </a:txBody>
                  <a:tcPr marL="123825" marR="123825" marT="66675" marB="66675" anchor="ctr">
                    <a:solidFill>
                      <a:srgbClr val="E9EDE7"/>
                    </a:solidFill>
                  </a:tcPr>
                </a:tc>
              </a:tr>
            </a:tbl>
          </a:graphicData>
        </a:graphic>
      </p:graphicFrame>
      <p:sp>
        <p:nvSpPr>
          <p:cNvPr id="3" name="text-2">
            <a:extLst xmlns:a="http://schemas.openxmlformats.org/drawingml/2006/main">
              <a:ext uri="{FF2B5EF4-FFF2-40B4-BE49-F238E27FC236}">
                <a16:creationId xmlns:a16="http://schemas.microsoft.com/office/drawing/2014/main" id="{6EA36980-D87A-4F8E-9EDF-09706B4CFCC5}"/>
              </a:ext>
            </a:extLst>
          </p:cNvPr>
          <p:cNvSpPr>
            <a:spLocks xmlns:a="http://schemas.openxmlformats.org/drawingml/2006/main" noGrp="1"/>
          </p:cNvSpPr>
          <p:nvPr/>
        </p:nvSpPr>
        <p:spPr>
          <a:xfrm xmlns:a="http://schemas.openxmlformats.org/drawingml/2006/main">
            <a:off x="609600" y="6486525"/>
            <a:ext cx="109728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1200" b="0">
                <a:solidFill>
                  <a:srgbClr val="58656A"/>
                </a:solidFill>
                <a:latin typeface="Arial"/>
                <a:ea typeface="Arial"/>
                <a:cs typeface="Arial"/>
              </a:defRPr>
            </a:defPPr>
          </a:lstStyle>
          <a:p xmlns:a="http://schemas.openxmlformats.org/drawingml/2006/main">
            <a:pPr>
              <a:defRPr sz="1200" b="0">
                <a:solidFill>
                  <a:srgbClr val="58656A"/>
                </a:solidFill>
                <a:latin typeface="Arial"/>
                <a:ea typeface="Arial"/>
                <a:cs typeface="Arial"/>
              </a:defRPr>
            </a:pPr>
            <a:r>
              <a:rPr sz="1200" b="0">
                <a:solidFill>
                  <a:srgbClr val="58656A"/>
                </a:solidFill>
                <a:latin typeface="Arial"/>
                <a:ea typeface="Arial"/>
                <a:cs typeface="Arial"/>
              </a:rPr>
              <a:t>18 / 24     Suggested workstreams. Actual names, ownership and contribution records are pending.</a:t>
            </a:r>
          </a:p>
        </p:txBody>
      </p:sp>
    </p:spTree>
    <p:extLst>
      <p:ext uri="{BB962C8B-B14F-4D97-AF65-F5344CB8AC3E}">
        <p14:creationId xmlns:p14="http://schemas.microsoft.com/office/powerpoint/2010/main" val="545077322"/>
      </p:ext>
    </p:extLst>
  </p:cSld>
</p:sld>
</file>

<file path=ppt/slides/slide19.xml><?xml version="1.0" encoding="utf-8"?>
<p:sld xmlns:p="http://schemas.openxmlformats.org/presentationml/2006/main">
  <p:cSld>
    <p:bg>
      <p:bgPr>
        <a:solidFill xmlns:a="http://schemas.openxmlformats.org/drawingml/2006/main">
          <a:srgbClr val="F6F4EE"/>
        </a:solidFill>
      </p:bgPr>
    </p:bg>
    <p:spTree>
      <p:nvGrpSpPr>
        <p:cNvPr id="1" name=""/>
        <p:cNvGrpSpPr/>
        <p:nvPr/>
      </p:nvGrpSpPr>
      <p:grpSpPr>
        <a:xfrm xmlns:a="http://schemas.openxmlformats.org/drawingml/2006/main"/>
      </p:grpSpPr>
      <p:sp>
        <p:nvSpPr>
          <p:cNvPr id="6" name="text-1">
            <a:extLst xmlns:a="http://schemas.openxmlformats.org/drawingml/2006/main">
              <a:ext uri="{FF2B5EF4-FFF2-40B4-BE49-F238E27FC236}">
                <a16:creationId xmlns:a16="http://schemas.microsoft.com/office/drawing/2014/main" id="{93CA4578-E413-4FF0-A68F-2E6AB9FD52C3}"/>
              </a:ext>
            </a:extLst>
          </p:cNvPr>
          <p:cNvSpPr>
            <a:spLocks xmlns:a="http://schemas.openxmlformats.org/drawingml/2006/main" noGrp="1"/>
          </p:cNvSpPr>
          <p:nvPr/>
        </p:nvSpPr>
        <p:spPr>
          <a:xfrm xmlns:a="http://schemas.openxmlformats.org/drawingml/2006/main">
            <a:off x="609600" y="514350"/>
            <a:ext cx="109728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3300" b="1">
                <a:solidFill>
                  <a:srgbClr val="122632"/>
                </a:solidFill>
                <a:latin typeface="Arial"/>
                <a:ea typeface="Arial"/>
                <a:cs typeface="Arial"/>
              </a:defRPr>
            </a:defPPr>
          </a:lstStyle>
          <a:p xmlns:a="http://schemas.openxmlformats.org/drawingml/2006/main">
            <a:pPr>
              <a:defRPr sz="3300" b="1">
                <a:solidFill>
                  <a:srgbClr val="122632"/>
                </a:solidFill>
                <a:latin typeface="Arial"/>
                <a:ea typeface="Arial"/>
                <a:cs typeface="Arial"/>
              </a:defRPr>
            </a:pPr>
            <a:r>
              <a:rPr sz="3300" b="1">
                <a:solidFill>
                  <a:srgbClr val="122632"/>
                </a:solidFill>
                <a:latin typeface="Arial"/>
                <a:ea typeface="Arial"/>
                <a:cs typeface="Arial"/>
              </a:rPr>
              <a:t>Live demo: boot and execute the core</a:t>
            </a:r>
          </a:p>
        </p:txBody>
      </p:sp>
      <p:sp>
        <p:nvSpPr>
          <p:cNvPr id="2" name="text-2">
            <a:extLst xmlns:a="http://schemas.openxmlformats.org/drawingml/2006/main">
              <a:ext uri="{FF2B5EF4-FFF2-40B4-BE49-F238E27FC236}">
                <a16:creationId xmlns:a16="http://schemas.microsoft.com/office/drawing/2014/main" id="{21AC8A43-D2D9-43B2-AE1B-F363B2B375B3}"/>
              </a:ext>
            </a:extLst>
          </p:cNvPr>
          <p:cNvSpPr>
            <a:spLocks xmlns:a="http://schemas.openxmlformats.org/drawingml/2006/main" noGrp="1"/>
          </p:cNvSpPr>
          <p:nvPr/>
        </p:nvSpPr>
        <p:spPr>
          <a:xfrm xmlns:a="http://schemas.openxmlformats.org/drawingml/2006/main">
            <a:off x="609600" y="1695450"/>
            <a:ext cx="7600950" cy="442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1800" b="0">
                <a:solidFill>
                  <a:srgbClr val="146B5F"/>
                </a:solidFill>
                <a:latin typeface="Consolas"/>
                <a:ea typeface="Consolas"/>
                <a:cs typeface="Consolas"/>
              </a:defRPr>
            </a:defPPr>
          </a:lstStyle>
          <a:p xmlns:a="http://schemas.openxmlformats.org/drawingml/2006/main">
            <a:pPr>
              <a:defRPr sz="1800" b="0">
                <a:solidFill>
                  <a:srgbClr val="146B5F"/>
                </a:solidFill>
                <a:latin typeface="Consolas"/>
                <a:ea typeface="Consolas"/>
                <a:cs typeface="Consolas"/>
              </a:defRPr>
            </a:pPr>
            <a:r>
              <a:rPr sz="1800" b="0">
                <a:solidFill>
                  <a:srgbClr val="146B5F"/>
                </a:solidFill>
                <a:latin typeface="Consolas"/>
                <a:ea typeface="Consolas"/>
                <a:cs typeface="Consolas"/>
              </a:rPr>
              <a:t>Linux host, inside the demo bundle:</a:t>
            </a:r>
          </a:p>
          <a:p xmlns:a="http://schemas.openxmlformats.org/drawingml/2006/main">
            <a:r>
              <a:t/>
            </a:r>
          </a:p>
          <a:p xmlns:a="http://schemas.openxmlformats.org/drawingml/2006/main">
            <a:pPr>
              <a:defRPr sz="1800" b="0">
                <a:solidFill>
                  <a:srgbClr val="146B5F"/>
                </a:solidFill>
                <a:latin typeface="Consolas"/>
                <a:ea typeface="Consolas"/>
                <a:cs typeface="Consolas"/>
              </a:defRPr>
            </a:pPr>
            <a:r>
              <a:rPr sz="1800" b="0">
                <a:solidFill>
                  <a:srgbClr val="146B5F"/>
                </a:solidFill>
                <a:latin typeface="Consolas"/>
                <a:ea typeface="Consolas"/>
                <a:cs typeface="Consolas"/>
              </a:rPr>
              <a:t>python3 tools/run-image.py --self-test</a:t>
            </a:r>
          </a:p>
          <a:p xmlns:a="http://schemas.openxmlformats.org/drawingml/2006/main">
            <a:pPr>
              <a:defRPr sz="1800" b="0">
                <a:solidFill>
                  <a:srgbClr val="146B5F"/>
                </a:solidFill>
                <a:latin typeface="Consolas"/>
                <a:ea typeface="Consolas"/>
                <a:cs typeface="Consolas"/>
              </a:defRPr>
            </a:pPr>
            <a:r>
              <a:rPr sz="1800" b="0">
                <a:solidFill>
                  <a:srgbClr val="146B5F"/>
                </a:solidFill>
                <a:latin typeface="Consolas"/>
                <a:ea typeface="Consolas"/>
                <a:cs typeface="Consolas"/>
              </a:rPr>
              <a:t>python3 tools/run-image.py \</a:t>
            </a:r>
          </a:p>
          <a:p xmlns:a="http://schemas.openxmlformats.org/drawingml/2006/main">
            <a:pPr>
              <a:defRPr sz="1800" b="0">
                <a:solidFill>
                  <a:srgbClr val="146B5F"/>
                </a:solidFill>
                <a:latin typeface="Consolas"/>
                <a:ea typeface="Consolas"/>
                <a:cs typeface="Consolas"/>
              </a:defRPr>
            </a:pPr>
            <a:r>
              <a:rPr sz="1800" b="0">
                <a:solidFill>
                  <a:srgbClr val="146B5F"/>
                </a:solidFill>
                <a:latin typeface="Consolas"/>
                <a:ea typeface="Consolas"/>
                <a:cs typeface="Consolas"/>
              </a:rPr>
              <a:t>  --disk build/review-one.img</a:t>
            </a:r>
          </a:p>
          <a:p xmlns:a="http://schemas.openxmlformats.org/drawingml/2006/main">
            <a:r>
              <a:t/>
            </a:r>
          </a:p>
          <a:p xmlns:a="http://schemas.openxmlformats.org/drawingml/2006/main">
            <a:pPr>
              <a:defRPr sz="1800" b="0">
                <a:solidFill>
                  <a:srgbClr val="146B5F"/>
                </a:solidFill>
                <a:latin typeface="Consolas"/>
                <a:ea typeface="Consolas"/>
                <a:cs typeface="Consolas"/>
              </a:defRPr>
            </a:pPr>
            <a:r>
              <a:rPr sz="1800" b="0">
                <a:solidFill>
                  <a:srgbClr val="146B5F"/>
                </a:solidFill>
                <a:latin typeface="Consolas"/>
                <a:ea typeface="Consolas"/>
                <a:cs typeface="Consolas"/>
              </a:rPr>
              <a:t>MnemosyneOS guest console:</a:t>
            </a:r>
          </a:p>
          <a:p xmlns:a="http://schemas.openxmlformats.org/drawingml/2006/main">
            <a:r>
              <a:t/>
            </a:r>
          </a:p>
          <a:p xmlns:a="http://schemas.openxmlformats.org/drawingml/2006/main">
            <a:pPr>
              <a:defRPr sz="1800" b="0">
                <a:solidFill>
                  <a:srgbClr val="146B5F"/>
                </a:solidFill>
                <a:latin typeface="Consolas"/>
                <a:ea typeface="Consolas"/>
                <a:cs typeface="Consolas"/>
              </a:defRPr>
            </a:pPr>
            <a:r>
              <a:rPr sz="1800" b="0">
                <a:solidFill>
                  <a:srgbClr val="146B5F"/>
                </a:solidFill>
                <a:latin typeface="Consolas"/>
                <a:ea typeface="Consolas"/>
                <a:cs typeface="Consolas"/>
              </a:rPr>
              <a:t>about</a:t>
            </a:r>
          </a:p>
          <a:p xmlns:a="http://schemas.openxmlformats.org/drawingml/2006/main">
            <a:pPr>
              <a:defRPr sz="1800" b="0">
                <a:solidFill>
                  <a:srgbClr val="146B5F"/>
                </a:solidFill>
                <a:latin typeface="Consolas"/>
                <a:ea typeface="Consolas"/>
                <a:cs typeface="Consolas"/>
              </a:defRPr>
            </a:pPr>
            <a:r>
              <a:rPr sz="1800" b="0">
                <a:solidFill>
                  <a:srgbClr val="146B5F"/>
                </a:solidFill>
                <a:latin typeface="Consolas"/>
                <a:ea typeface="Consolas"/>
                <a:cs typeface="Consolas"/>
              </a:rPr>
              <a:t>ps</a:t>
            </a:r>
          </a:p>
          <a:p xmlns:a="http://schemas.openxmlformats.org/drawingml/2006/main">
            <a:pPr>
              <a:defRPr sz="1800" b="0">
                <a:solidFill>
                  <a:srgbClr val="146B5F"/>
                </a:solidFill>
                <a:latin typeface="Consolas"/>
                <a:ea typeface="Consolas"/>
                <a:cs typeface="Consolas"/>
              </a:defRPr>
            </a:pPr>
            <a:r>
              <a:rPr sz="1800" b="0">
                <a:solidFill>
                  <a:srgbClr val="146B5F"/>
                </a:solidFill>
                <a:latin typeface="Consolas"/>
                <a:ea typeface="Consolas"/>
                <a:cs typeface="Consolas"/>
              </a:rPr>
              <a:t>demo</a:t>
            </a:r>
          </a:p>
          <a:p xmlns:a="http://schemas.openxmlformats.org/drawingml/2006/main">
            <a:pPr>
              <a:defRPr sz="1800" b="0">
                <a:solidFill>
                  <a:srgbClr val="146B5F"/>
                </a:solidFill>
                <a:latin typeface="Consolas"/>
                <a:ea typeface="Consolas"/>
                <a:cs typeface="Consolas"/>
              </a:defRPr>
            </a:pPr>
            <a:r>
              <a:rPr sz="1800" b="0">
                <a:solidFill>
                  <a:srgbClr val="146B5F"/>
                </a:solidFill>
                <a:latin typeface="Consolas"/>
                <a:ea typeface="Consolas"/>
                <a:cs typeface="Consolas"/>
              </a:rPr>
              <a:t>ls</a:t>
            </a:r>
          </a:p>
          <a:p xmlns:a="http://schemas.openxmlformats.org/drawingml/2006/main">
            <a:pPr>
              <a:defRPr sz="1800" b="0">
                <a:solidFill>
                  <a:srgbClr val="146B5F"/>
                </a:solidFill>
                <a:latin typeface="Consolas"/>
                <a:ea typeface="Consolas"/>
                <a:cs typeface="Consolas"/>
              </a:defRPr>
            </a:pPr>
            <a:r>
              <a:rPr sz="1800" b="0">
                <a:solidFill>
                  <a:srgbClr val="146B5F"/>
                </a:solidFill>
                <a:latin typeface="Consolas"/>
                <a:ea typeface="Consolas"/>
                <a:cs typeface="Consolas"/>
              </a:rPr>
              <a:t>snapshots</a:t>
            </a:r>
          </a:p>
        </p:txBody>
      </p:sp>
      <p:sp>
        <p:nvSpPr>
          <p:cNvPr id="3" name="text-3">
            <a:extLst xmlns:a="http://schemas.openxmlformats.org/drawingml/2006/main">
              <a:ext uri="{FF2B5EF4-FFF2-40B4-BE49-F238E27FC236}">
                <a16:creationId xmlns:a16="http://schemas.microsoft.com/office/drawing/2014/main" id="{ECE30E8B-943D-485F-A042-0B53AC3E4730}"/>
              </a:ext>
            </a:extLst>
          </p:cNvPr>
          <p:cNvSpPr>
            <a:spLocks xmlns:a="http://schemas.openxmlformats.org/drawingml/2006/main" noGrp="1"/>
          </p:cNvSpPr>
          <p:nvPr/>
        </p:nvSpPr>
        <p:spPr>
          <a:xfrm xmlns:a="http://schemas.openxmlformats.org/drawingml/2006/main">
            <a:off x="8553450" y="1733550"/>
            <a:ext cx="3000375"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2100" b="1">
                <a:solidFill>
                  <a:srgbClr val="122632"/>
                </a:solidFill>
                <a:latin typeface="Arial"/>
                <a:ea typeface="Arial"/>
                <a:cs typeface="Arial"/>
              </a:defRPr>
            </a:defPPr>
          </a:lstStyle>
          <a:p xmlns:a="http://schemas.openxmlformats.org/drawingml/2006/main">
            <a:pPr>
              <a:defRPr sz="2100" b="1">
                <a:solidFill>
                  <a:srgbClr val="122632"/>
                </a:solidFill>
                <a:latin typeface="Arial"/>
                <a:ea typeface="Arial"/>
                <a:cs typeface="Arial"/>
              </a:defRPr>
            </a:pPr>
            <a:r>
              <a:rPr sz="2100" b="1">
                <a:solidFill>
                  <a:srgbClr val="122632"/>
                </a:solidFill>
                <a:latin typeface="Arial"/>
                <a:ea typeface="Arial"/>
                <a:cs typeface="Arial"/>
              </a:rPr>
              <a:t>What the professor sees</a:t>
            </a:r>
          </a:p>
        </p:txBody>
      </p:sp>
      <p:sp>
        <p:nvSpPr>
          <p:cNvPr id="4" name="text-4">
            <a:extLst xmlns:a="http://schemas.openxmlformats.org/drawingml/2006/main">
              <a:ext uri="{FF2B5EF4-FFF2-40B4-BE49-F238E27FC236}">
                <a16:creationId xmlns:a16="http://schemas.microsoft.com/office/drawing/2014/main" id="{33AAA73E-69C9-401B-8A76-5298A03CE141}"/>
              </a:ext>
            </a:extLst>
          </p:cNvPr>
          <p:cNvSpPr>
            <a:spLocks xmlns:a="http://schemas.openxmlformats.org/drawingml/2006/main" noGrp="1"/>
          </p:cNvSpPr>
          <p:nvPr/>
        </p:nvSpPr>
        <p:spPr>
          <a:xfrm xmlns:a="http://schemas.openxmlformats.org/drawingml/2006/main">
            <a:off x="8553450" y="2714625"/>
            <a:ext cx="3000375" cy="3286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1875" b="0">
                <a:solidFill>
                  <a:srgbClr val="58656A"/>
                </a:solidFill>
                <a:latin typeface="Arial"/>
                <a:ea typeface="Arial"/>
                <a:cs typeface="Arial"/>
              </a:defRPr>
            </a:defPPr>
          </a:lstStyle>
          <a:p xmlns:a="http://schemas.openxmlformats.org/drawingml/2006/main">
            <a:pPr>
              <a:defRPr sz="1875" b="0">
                <a:solidFill>
                  <a:srgbClr val="58656A"/>
                </a:solidFill>
                <a:latin typeface="Arial"/>
                <a:ea typeface="Arial"/>
                <a:cs typeface="Arial"/>
              </a:defRPr>
            </a:pPr>
            <a:r>
              <a:rPr sz="1875" b="0">
                <a:solidFill>
                  <a:srgbClr val="58656A"/>
                </a:solidFill>
                <a:latin typeface="Arial"/>
                <a:ea typeface="Arial"/>
                <a:cs typeface="Arial"/>
              </a:rPr>
              <a:t>Own kernel and console</a:t>
            </a:r>
          </a:p>
          <a:p xmlns:a="http://schemas.openxmlformats.org/drawingml/2006/main">
            <a:pPr>
              <a:defRPr sz="1875" b="0">
                <a:solidFill>
                  <a:srgbClr val="58656A"/>
                </a:solidFill>
                <a:latin typeface="Arial"/>
                <a:ea typeface="Arial"/>
                <a:cs typeface="Arial"/>
              </a:defRPr>
            </a:pPr>
            <a:r>
              <a:rPr sz="1875" b="0">
                <a:solidFill>
                  <a:srgbClr val="58656A"/>
                </a:solidFill>
                <a:latin typeface="Arial"/>
                <a:ea typeface="Arial"/>
                <a:cs typeface="Arial"/>
              </a:rPr>
              <a:t>Protected user tasks</a:t>
            </a:r>
          </a:p>
          <a:p xmlns:a="http://schemas.openxmlformats.org/drawingml/2006/main">
            <a:pPr>
              <a:defRPr sz="1875" b="0">
                <a:solidFill>
                  <a:srgbClr val="58656A"/>
                </a:solidFill>
                <a:latin typeface="Arial"/>
                <a:ea typeface="Arial"/>
                <a:cs typeface="Arial"/>
              </a:defRPr>
            </a:pPr>
            <a:r>
              <a:rPr sz="1875" b="0">
                <a:solidFill>
                  <a:srgbClr val="58656A"/>
                </a:solidFill>
                <a:latin typeface="Arial"/>
                <a:ea typeface="Arial"/>
                <a:cs typeface="Arial"/>
              </a:rPr>
              <a:t>Preemption and IPC</a:t>
            </a:r>
          </a:p>
          <a:p xmlns:a="http://schemas.openxmlformats.org/drawingml/2006/main">
            <a:pPr>
              <a:defRPr sz="1875" b="0">
                <a:solidFill>
                  <a:srgbClr val="58656A"/>
                </a:solidFill>
                <a:latin typeface="Arial"/>
                <a:ea typeface="Arial"/>
                <a:cs typeface="Arial"/>
              </a:defRPr>
            </a:pPr>
            <a:r>
              <a:rPr sz="1875" b="0">
                <a:solidFill>
                  <a:srgbClr val="58656A"/>
                </a:solidFill>
                <a:latin typeface="Arial"/>
                <a:ea typeface="Arial"/>
                <a:cs typeface="Arial"/>
              </a:rPr>
              <a:t>Contained faults</a:t>
            </a:r>
          </a:p>
          <a:p xmlns:a="http://schemas.openxmlformats.org/drawingml/2006/main">
            <a:pPr>
              <a:defRPr sz="1875" b="0">
                <a:solidFill>
                  <a:srgbClr val="58656A"/>
                </a:solidFill>
                <a:latin typeface="Arial"/>
                <a:ea typeface="Arial"/>
                <a:cs typeface="Arial"/>
              </a:defRPr>
            </a:pPr>
            <a:r>
              <a:rPr sz="1875" b="0">
                <a:solidFill>
                  <a:srgbClr val="58656A"/>
                </a:solidFill>
                <a:latin typeface="Arial"/>
                <a:ea typeface="Arial"/>
                <a:cs typeface="Arial"/>
              </a:rPr>
              <a:t>Filesystem snapshots</a:t>
            </a:r>
          </a:p>
          <a:p xmlns:a="http://schemas.openxmlformats.org/drawingml/2006/main">
            <a:pPr>
              <a:defRPr sz="1875" b="0">
                <a:solidFill>
                  <a:srgbClr val="58656A"/>
                </a:solidFill>
                <a:latin typeface="Arial"/>
                <a:ea typeface="Arial"/>
                <a:cs typeface="Arial"/>
              </a:defRPr>
            </a:pPr>
            <a:r>
              <a:rPr sz="1875" b="0">
                <a:solidFill>
                  <a:srgbClr val="58656A"/>
                </a:solidFill>
                <a:latin typeface="Arial"/>
                <a:ea typeface="Arial"/>
                <a:cs typeface="Arial"/>
              </a:rPr>
              <a:t>Checked service recovery</a:t>
            </a:r>
          </a:p>
        </p:txBody>
      </p:sp>
      <p:sp>
        <p:nvSpPr>
          <p:cNvPr id="5" name="text-5">
            <a:extLst xmlns:a="http://schemas.openxmlformats.org/drawingml/2006/main">
              <a:ext uri="{FF2B5EF4-FFF2-40B4-BE49-F238E27FC236}">
                <a16:creationId xmlns:a16="http://schemas.microsoft.com/office/drawing/2014/main" id="{6499D4D6-E6D5-4AC0-8E18-D8FAB8666700}"/>
              </a:ext>
            </a:extLst>
          </p:cNvPr>
          <p:cNvSpPr>
            <a:spLocks xmlns:a="http://schemas.openxmlformats.org/drawingml/2006/main" noGrp="1"/>
          </p:cNvSpPr>
          <p:nvPr/>
        </p:nvSpPr>
        <p:spPr>
          <a:xfrm xmlns:a="http://schemas.openxmlformats.org/drawingml/2006/main">
            <a:off x="609600" y="6486525"/>
            <a:ext cx="109728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1200" b="0">
                <a:solidFill>
                  <a:srgbClr val="58656A"/>
                </a:solidFill>
                <a:latin typeface="Arial"/>
                <a:ea typeface="Arial"/>
                <a:cs typeface="Arial"/>
              </a:defRPr>
            </a:defPPr>
          </a:lstStyle>
          <a:p xmlns:a="http://schemas.openxmlformats.org/drawingml/2006/main">
            <a:pPr>
              <a:defRPr sz="1200" b="0">
                <a:solidFill>
                  <a:srgbClr val="58656A"/>
                </a:solidFill>
                <a:latin typeface="Arial"/>
                <a:ea typeface="Arial"/>
                <a:cs typeface="Arial"/>
              </a:defRPr>
            </a:pPr>
            <a:r>
              <a:rPr sz="1200" b="0">
                <a:solidFill>
                  <a:srgbClr val="58656A"/>
                </a:solidFill>
                <a:latin typeface="Arial"/>
                <a:ea typeface="Arial"/>
                <a:cs typeface="Arial"/>
              </a:rPr>
              <a:t>19 / 24     Use an existing non-Azure Linux VM. QEMU runs one CPU and 256 MiB without a guest NIC.</a:t>
            </a:r>
          </a:p>
        </p:txBody>
      </p:sp>
    </p:spTree>
    <p:extLst>
      <p:ext uri="{BB962C8B-B14F-4D97-AF65-F5344CB8AC3E}">
        <p14:creationId xmlns:p14="http://schemas.microsoft.com/office/powerpoint/2010/main" val="1973799309"/>
      </p:ext>
    </p:extLst>
  </p:cSld>
</p:sld>
</file>

<file path=ppt/slides/slide20.xml><?xml version="1.0" encoding="utf-8"?>
<p:sld xmlns:p="http://schemas.openxmlformats.org/presentationml/2006/main">
  <p:cSld>
    <p:bg>
      <p:bgPr>
        <a:solidFill xmlns:a="http://schemas.openxmlformats.org/drawingml/2006/main">
          <a:srgbClr val="F6F4EE"/>
        </a:solidFill>
      </p:bgPr>
    </p:bg>
    <p:spTree>
      <p:nvGrpSpPr>
        <p:cNvPr id="1" name=""/>
        <p:cNvGrpSpPr/>
        <p:nvPr/>
      </p:nvGrpSpPr>
      <p:grpSpPr>
        <a:xfrm xmlns:a="http://schemas.openxmlformats.org/drawingml/2006/main"/>
      </p:grpSpPr>
      <p:sp>
        <p:nvSpPr>
          <p:cNvPr id="6" name="text-1">
            <a:extLst xmlns:a="http://schemas.openxmlformats.org/drawingml/2006/main">
              <a:ext uri="{FF2B5EF4-FFF2-40B4-BE49-F238E27FC236}">
                <a16:creationId xmlns:a16="http://schemas.microsoft.com/office/drawing/2014/main" id="{7C200F98-A452-44D2-BCE3-7A455D84909F}"/>
              </a:ext>
            </a:extLst>
          </p:cNvPr>
          <p:cNvSpPr>
            <a:spLocks xmlns:a="http://schemas.openxmlformats.org/drawingml/2006/main" noGrp="1"/>
          </p:cNvSpPr>
          <p:nvPr/>
        </p:nvSpPr>
        <p:spPr>
          <a:xfrm xmlns:a="http://schemas.openxmlformats.org/drawingml/2006/main">
            <a:off x="609600" y="514350"/>
            <a:ext cx="109728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3300" b="1">
                <a:solidFill>
                  <a:srgbClr val="122632"/>
                </a:solidFill>
                <a:latin typeface="Arial"/>
                <a:ea typeface="Arial"/>
                <a:cs typeface="Arial"/>
              </a:defRPr>
            </a:defPPr>
          </a:lstStyle>
          <a:p xmlns:a="http://schemas.openxmlformats.org/drawingml/2006/main">
            <a:pPr>
              <a:defRPr sz="3300" b="1">
                <a:solidFill>
                  <a:srgbClr val="122632"/>
                </a:solidFill>
                <a:latin typeface="Arial"/>
                <a:ea typeface="Arial"/>
                <a:cs typeface="Arial"/>
              </a:defRPr>
            </a:pPr>
            <a:r>
              <a:rPr sz="3300" b="1">
                <a:solidFill>
                  <a:srgbClr val="122632"/>
                </a:solidFill>
                <a:latin typeface="Arial"/>
                <a:ea typeface="Arial"/>
                <a:cs typeface="Arial"/>
              </a:rPr>
              <a:t>Live demo: persistence and recovery</a:t>
            </a:r>
          </a:p>
        </p:txBody>
      </p:sp>
      <p:sp>
        <p:nvSpPr>
          <p:cNvPr id="2" name="text-2">
            <a:extLst xmlns:a="http://schemas.openxmlformats.org/drawingml/2006/main">
              <a:ext uri="{FF2B5EF4-FFF2-40B4-BE49-F238E27FC236}">
                <a16:creationId xmlns:a16="http://schemas.microsoft.com/office/drawing/2014/main" id="{31AB5416-B23B-43F9-886C-5AD4F8C8A1DF}"/>
              </a:ext>
            </a:extLst>
          </p:cNvPr>
          <p:cNvSpPr>
            <a:spLocks xmlns:a="http://schemas.openxmlformats.org/drawingml/2006/main" noGrp="1"/>
          </p:cNvSpPr>
          <p:nvPr/>
        </p:nvSpPr>
        <p:spPr>
          <a:xfrm xmlns:a="http://schemas.openxmlformats.org/drawingml/2006/main">
            <a:off x="609600" y="1695450"/>
            <a:ext cx="7600950" cy="442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1800" b="0">
                <a:solidFill>
                  <a:srgbClr val="146B5F"/>
                </a:solidFill>
                <a:latin typeface="Consolas"/>
                <a:ea typeface="Consolas"/>
                <a:cs typeface="Consolas"/>
              </a:defRPr>
            </a:defPPr>
          </a:lstStyle>
          <a:p xmlns:a="http://schemas.openxmlformats.org/drawingml/2006/main">
            <a:pPr>
              <a:defRPr sz="1800" b="0">
                <a:solidFill>
                  <a:srgbClr val="146B5F"/>
                </a:solidFill>
                <a:latin typeface="Consolas"/>
                <a:ea typeface="Consolas"/>
                <a:cs typeface="Consolas"/>
              </a:defRPr>
            </a:pPr>
            <a:r>
              <a:rPr sz="1800" b="0">
                <a:solidFill>
                  <a:srgbClr val="146B5F"/>
                </a:solidFill>
                <a:latin typeface="Consolas"/>
                <a:ea typeface="Consolas"/>
                <a:cs typeface="Consolas"/>
              </a:rPr>
              <a:t>Guest, after demo:</a:t>
            </a:r>
          </a:p>
          <a:p xmlns:a="http://schemas.openxmlformats.org/drawingml/2006/main">
            <a:pPr>
              <a:defRPr sz="1800" b="0">
                <a:solidFill>
                  <a:srgbClr val="146B5F"/>
                </a:solidFill>
                <a:latin typeface="Consolas"/>
                <a:ea typeface="Consolas"/>
                <a:cs typeface="Consolas"/>
              </a:defRPr>
            </a:pPr>
            <a:r>
              <a:rPr sz="1800" b="0">
                <a:solidFill>
                  <a:srgbClr val="146B5F"/>
                </a:solidFill>
                <a:latin typeface="Consolas"/>
                <a:ea typeface="Consolas"/>
                <a:cs typeface="Consolas"/>
              </a:rPr>
              <a:t>write professor-note.txt survives-reboot</a:t>
            </a:r>
          </a:p>
          <a:p xmlns:a="http://schemas.openxmlformats.org/drawingml/2006/main">
            <a:pPr>
              <a:defRPr sz="1800" b="0">
                <a:solidFill>
                  <a:srgbClr val="146B5F"/>
                </a:solidFill>
                <a:latin typeface="Consolas"/>
                <a:ea typeface="Consolas"/>
                <a:cs typeface="Consolas"/>
              </a:defRPr>
            </a:pPr>
            <a:r>
              <a:rPr sz="1800" b="0">
                <a:solidFill>
                  <a:srgbClr val="146B5F"/>
                </a:solidFill>
                <a:latin typeface="Consolas"/>
                <a:ea typeface="Consolas"/>
                <a:cs typeface="Consolas"/>
              </a:rPr>
              <a:t>cat professor-note.txt</a:t>
            </a:r>
          </a:p>
          <a:p xmlns:a="http://schemas.openxmlformats.org/drawingml/2006/main">
            <a:pPr>
              <a:defRPr sz="1800" b="0">
                <a:solidFill>
                  <a:srgbClr val="146B5F"/>
                </a:solidFill>
                <a:latin typeface="Consolas"/>
                <a:ea typeface="Consolas"/>
                <a:cs typeface="Consolas"/>
              </a:defRPr>
            </a:pPr>
            <a:r>
              <a:rPr sz="1800" b="0">
                <a:solidFill>
                  <a:srgbClr val="146B5F"/>
                </a:solidFill>
                <a:latin typeface="Consolas"/>
                <a:ea typeface="Consolas"/>
                <a:cs typeface="Consolas"/>
              </a:rPr>
              <a:t>shutdown</a:t>
            </a:r>
          </a:p>
          <a:p xmlns:a="http://schemas.openxmlformats.org/drawingml/2006/main">
            <a:r>
              <a:t/>
            </a:r>
          </a:p>
          <a:p xmlns:a="http://schemas.openxmlformats.org/drawingml/2006/main">
            <a:pPr>
              <a:defRPr sz="1800" b="0">
                <a:solidFill>
                  <a:srgbClr val="146B5F"/>
                </a:solidFill>
                <a:latin typeface="Consolas"/>
                <a:ea typeface="Consolas"/>
                <a:cs typeface="Consolas"/>
              </a:defRPr>
            </a:pPr>
            <a:r>
              <a:rPr sz="1800" b="0">
                <a:solidFill>
                  <a:srgbClr val="146B5F"/>
                </a:solidFill>
                <a:latin typeface="Consolas"/>
                <a:ea typeface="Consolas"/>
                <a:cs typeface="Consolas"/>
              </a:rPr>
              <a:t>Host, boot the same disk:</a:t>
            </a:r>
          </a:p>
          <a:p xmlns:a="http://schemas.openxmlformats.org/drawingml/2006/main">
            <a:pPr>
              <a:defRPr sz="1800" b="0">
                <a:solidFill>
                  <a:srgbClr val="146B5F"/>
                </a:solidFill>
                <a:latin typeface="Consolas"/>
                <a:ea typeface="Consolas"/>
                <a:cs typeface="Consolas"/>
              </a:defRPr>
            </a:pPr>
            <a:r>
              <a:rPr sz="1800" b="0">
                <a:solidFill>
                  <a:srgbClr val="146B5F"/>
                </a:solidFill>
                <a:latin typeface="Consolas"/>
                <a:ea typeface="Consolas"/>
                <a:cs typeface="Consolas"/>
              </a:rPr>
              <a:t>python3 tools/run-image.py \</a:t>
            </a:r>
          </a:p>
          <a:p xmlns:a="http://schemas.openxmlformats.org/drawingml/2006/main">
            <a:pPr>
              <a:defRPr sz="1800" b="0">
                <a:solidFill>
                  <a:srgbClr val="146B5F"/>
                </a:solidFill>
                <a:latin typeface="Consolas"/>
                <a:ea typeface="Consolas"/>
                <a:cs typeface="Consolas"/>
              </a:defRPr>
            </a:pPr>
            <a:r>
              <a:rPr sz="1800" b="0">
                <a:solidFill>
                  <a:srgbClr val="146B5F"/>
                </a:solidFill>
                <a:latin typeface="Consolas"/>
                <a:ea typeface="Consolas"/>
                <a:cs typeface="Consolas"/>
              </a:rPr>
              <a:t>  --disk build/review-one.img</a:t>
            </a:r>
          </a:p>
          <a:p xmlns:a="http://schemas.openxmlformats.org/drawingml/2006/main">
            <a:r>
              <a:t/>
            </a:r>
          </a:p>
          <a:p xmlns:a="http://schemas.openxmlformats.org/drawingml/2006/main">
            <a:pPr>
              <a:defRPr sz="1800" b="0">
                <a:solidFill>
                  <a:srgbClr val="146B5F"/>
                </a:solidFill>
                <a:latin typeface="Consolas"/>
                <a:ea typeface="Consolas"/>
                <a:cs typeface="Consolas"/>
              </a:defRPr>
            </a:pPr>
            <a:r>
              <a:rPr sz="1800" b="0">
                <a:solidFill>
                  <a:srgbClr val="146B5F"/>
                </a:solidFill>
                <a:latin typeface="Consolas"/>
                <a:ea typeface="Consolas"/>
                <a:cs typeface="Consolas"/>
              </a:rPr>
              <a:t>Guest:</a:t>
            </a:r>
          </a:p>
          <a:p xmlns:a="http://schemas.openxmlformats.org/drawingml/2006/main">
            <a:pPr>
              <a:defRPr sz="1800" b="0">
                <a:solidFill>
                  <a:srgbClr val="146B5F"/>
                </a:solidFill>
                <a:latin typeface="Consolas"/>
                <a:ea typeface="Consolas"/>
                <a:cs typeface="Consolas"/>
              </a:defRPr>
            </a:pPr>
            <a:r>
              <a:rPr sz="1800" b="0">
                <a:solidFill>
                  <a:srgbClr val="146B5F"/>
                </a:solidFill>
                <a:latin typeface="Consolas"/>
                <a:ea typeface="Consolas"/>
                <a:cs typeface="Consolas"/>
              </a:rPr>
              <a:t>cat professor-note.txt</a:t>
            </a:r>
          </a:p>
          <a:p xmlns:a="http://schemas.openxmlformats.org/drawingml/2006/main">
            <a:pPr>
              <a:defRPr sz="1800" b="0">
                <a:solidFill>
                  <a:srgbClr val="146B5F"/>
                </a:solidFill>
                <a:latin typeface="Consolas"/>
                <a:ea typeface="Consolas"/>
                <a:cs typeface="Consolas"/>
              </a:defRPr>
            </a:pPr>
            <a:r>
              <a:rPr sz="1800" b="0">
                <a:solidFill>
                  <a:srgbClr val="146B5F"/>
                </a:solidFill>
                <a:latin typeface="Consolas"/>
                <a:ea typeface="Consolas"/>
                <a:cs typeface="Consolas"/>
              </a:rPr>
              <a:t>recover</a:t>
            </a:r>
          </a:p>
          <a:p xmlns:a="http://schemas.openxmlformats.org/drawingml/2006/main">
            <a:pPr>
              <a:defRPr sz="1800" b="0">
                <a:solidFill>
                  <a:srgbClr val="146B5F"/>
                </a:solidFill>
                <a:latin typeface="Consolas"/>
                <a:ea typeface="Consolas"/>
                <a:cs typeface="Consolas"/>
              </a:defRPr>
            </a:pPr>
            <a:r>
              <a:rPr sz="1800" b="0">
                <a:solidFill>
                  <a:srgbClr val="146B5F"/>
                </a:solidFill>
                <a:latin typeface="Consolas"/>
                <a:ea typeface="Consolas"/>
                <a:cs typeface="Consolas"/>
              </a:rPr>
              <a:t>kv-add 1 2</a:t>
            </a:r>
          </a:p>
        </p:txBody>
      </p:sp>
      <p:sp>
        <p:nvSpPr>
          <p:cNvPr id="3" name="text-3">
            <a:extLst xmlns:a="http://schemas.openxmlformats.org/drawingml/2006/main">
              <a:ext uri="{FF2B5EF4-FFF2-40B4-BE49-F238E27FC236}">
                <a16:creationId xmlns:a16="http://schemas.microsoft.com/office/drawing/2014/main" id="{D994E218-420A-4828-A897-3C7A267B9B88}"/>
              </a:ext>
            </a:extLst>
          </p:cNvPr>
          <p:cNvSpPr>
            <a:spLocks xmlns:a="http://schemas.openxmlformats.org/drawingml/2006/main" noGrp="1"/>
          </p:cNvSpPr>
          <p:nvPr/>
        </p:nvSpPr>
        <p:spPr>
          <a:xfrm xmlns:a="http://schemas.openxmlformats.org/drawingml/2006/main">
            <a:off x="8553450" y="1733550"/>
            <a:ext cx="3000375"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2100" b="1">
                <a:solidFill>
                  <a:srgbClr val="122632"/>
                </a:solidFill>
                <a:latin typeface="Arial"/>
                <a:ea typeface="Arial"/>
                <a:cs typeface="Arial"/>
              </a:defRPr>
            </a:defPPr>
          </a:lstStyle>
          <a:p xmlns:a="http://schemas.openxmlformats.org/drawingml/2006/main">
            <a:pPr>
              <a:defRPr sz="2100" b="1">
                <a:solidFill>
                  <a:srgbClr val="122632"/>
                </a:solidFill>
                <a:latin typeface="Arial"/>
                <a:ea typeface="Arial"/>
                <a:cs typeface="Arial"/>
              </a:defRPr>
            </a:pPr>
            <a:r>
              <a:rPr sz="2100" b="1">
                <a:solidFill>
                  <a:srgbClr val="122632"/>
                </a:solidFill>
                <a:latin typeface="Arial"/>
                <a:ea typeface="Arial"/>
                <a:cs typeface="Arial"/>
              </a:rPr>
              <a:t>Expected outcome</a:t>
            </a:r>
          </a:p>
        </p:txBody>
      </p:sp>
      <p:sp>
        <p:nvSpPr>
          <p:cNvPr id="4" name="text-4">
            <a:extLst xmlns:a="http://schemas.openxmlformats.org/drawingml/2006/main">
              <a:ext uri="{FF2B5EF4-FFF2-40B4-BE49-F238E27FC236}">
                <a16:creationId xmlns:a16="http://schemas.microsoft.com/office/drawing/2014/main" id="{E9E4016C-D73E-4839-8B71-E9EEC254A0C1}"/>
              </a:ext>
            </a:extLst>
          </p:cNvPr>
          <p:cNvSpPr>
            <a:spLocks xmlns:a="http://schemas.openxmlformats.org/drawingml/2006/main" noGrp="1"/>
          </p:cNvSpPr>
          <p:nvPr/>
        </p:nvSpPr>
        <p:spPr>
          <a:xfrm xmlns:a="http://schemas.openxmlformats.org/drawingml/2006/main">
            <a:off x="8553450" y="2714625"/>
            <a:ext cx="3000375" cy="3286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1875" b="0">
                <a:solidFill>
                  <a:srgbClr val="58656A"/>
                </a:solidFill>
                <a:latin typeface="Arial"/>
                <a:ea typeface="Arial"/>
                <a:cs typeface="Arial"/>
              </a:defRPr>
            </a:defPPr>
          </a:lstStyle>
          <a:p xmlns:a="http://schemas.openxmlformats.org/drawingml/2006/main">
            <a:pPr>
              <a:defRPr sz="1875" b="0">
                <a:solidFill>
                  <a:srgbClr val="58656A"/>
                </a:solidFill>
                <a:latin typeface="Arial"/>
                <a:ea typeface="Arial"/>
                <a:cs typeface="Arial"/>
              </a:defRPr>
            </a:pPr>
            <a:r>
              <a:rPr sz="1875" b="0">
                <a:solidFill>
                  <a:srgbClr val="58656A"/>
                </a:solidFill>
                <a:latin typeface="Arial"/>
                <a:ea typeface="Arial"/>
                <a:cs typeface="Arial"/>
              </a:rPr>
              <a:t>The file still contains</a:t>
            </a:r>
          </a:p>
          <a:p xmlns:a="http://schemas.openxmlformats.org/drawingml/2006/main">
            <a:pPr>
              <a:defRPr sz="1875" b="0">
                <a:solidFill>
                  <a:srgbClr val="58656A"/>
                </a:solidFill>
                <a:latin typeface="Arial"/>
                <a:ea typeface="Arial"/>
                <a:cs typeface="Arial"/>
              </a:defRPr>
            </a:pPr>
            <a:r>
              <a:rPr sz="1875" b="0">
                <a:solidFill>
                  <a:srgbClr val="58656A"/>
                </a:solidFill>
                <a:latin typeface="Arial"/>
                <a:ea typeface="Arial"/>
                <a:cs typeface="Arial"/>
              </a:rPr>
              <a:t>survives-reboot</a:t>
            </a:r>
          </a:p>
          <a:p xmlns:a="http://schemas.openxmlformats.org/drawingml/2006/main">
            <a:r>
              <a:t/>
            </a:r>
          </a:p>
          <a:p xmlns:a="http://schemas.openxmlformats.org/drawingml/2006/main">
            <a:pPr>
              <a:defRPr sz="1875" b="0">
                <a:solidFill>
                  <a:srgbClr val="58656A"/>
                </a:solidFill>
                <a:latin typeface="Arial"/>
                <a:ea typeface="Arial"/>
                <a:cs typeface="Arial"/>
              </a:defRPr>
            </a:pPr>
            <a:r>
              <a:rPr sz="1875" b="0">
                <a:solidFill>
                  <a:srgbClr val="58656A"/>
                </a:solidFill>
                <a:latin typeface="Arial"/>
                <a:ea typeface="Arial"/>
                <a:cs typeface="Arial"/>
              </a:rPr>
              <a:t>Replay checks pass.</a:t>
            </a:r>
          </a:p>
          <a:p xmlns:a="http://schemas.openxmlformats.org/drawingml/2006/main">
            <a:r>
              <a:t/>
            </a:r>
          </a:p>
          <a:p xmlns:a="http://schemas.openxmlformats.org/drawingml/2006/main">
            <a:pPr>
              <a:defRPr sz="1875" b="0">
                <a:solidFill>
                  <a:srgbClr val="58656A"/>
                </a:solidFill>
                <a:latin typeface="Arial"/>
                <a:ea typeface="Arial"/>
                <a:cs typeface="Arial"/>
              </a:defRPr>
            </a:pPr>
            <a:r>
              <a:rPr sz="1875" b="0">
                <a:solidFill>
                  <a:srgbClr val="58656A"/>
                </a:solidFill>
                <a:latin typeface="Arial"/>
                <a:ea typeface="Arial"/>
                <a:cs typeface="Arial"/>
              </a:rPr>
              <a:t>The fixed KV fixture accepts</a:t>
            </a:r>
          </a:p>
          <a:p xmlns:a="http://schemas.openxmlformats.org/drawingml/2006/main">
            <a:pPr>
              <a:defRPr sz="1875" b="0">
                <a:solidFill>
                  <a:srgbClr val="58656A"/>
                </a:solidFill>
                <a:latin typeface="Arial"/>
                <a:ea typeface="Arial"/>
                <a:cs typeface="Arial"/>
              </a:defRPr>
            </a:pPr>
            <a:r>
              <a:rPr sz="1875" b="0">
                <a:solidFill>
                  <a:srgbClr val="58656A"/>
                </a:solidFill>
                <a:latin typeface="Arial"/>
                <a:ea typeface="Arial"/>
                <a:cs typeface="Arial"/>
              </a:rPr>
              <a:t>a new request and returns 180.</a:t>
            </a:r>
          </a:p>
        </p:txBody>
      </p:sp>
      <p:sp>
        <p:nvSpPr>
          <p:cNvPr id="5" name="text-5">
            <a:extLst xmlns:a="http://schemas.openxmlformats.org/drawingml/2006/main">
              <a:ext uri="{FF2B5EF4-FFF2-40B4-BE49-F238E27FC236}">
                <a16:creationId xmlns:a16="http://schemas.microsoft.com/office/drawing/2014/main" id="{465C23A2-A1FA-4E36-8B6F-1F57D308836E}"/>
              </a:ext>
            </a:extLst>
          </p:cNvPr>
          <p:cNvSpPr>
            <a:spLocks xmlns:a="http://schemas.openxmlformats.org/drawingml/2006/main" noGrp="1"/>
          </p:cNvSpPr>
          <p:nvPr/>
        </p:nvSpPr>
        <p:spPr>
          <a:xfrm xmlns:a="http://schemas.openxmlformats.org/drawingml/2006/main">
            <a:off x="609600" y="6486525"/>
            <a:ext cx="109728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1200" b="0">
                <a:solidFill>
                  <a:srgbClr val="58656A"/>
                </a:solidFill>
                <a:latin typeface="Arial"/>
                <a:ea typeface="Arial"/>
                <a:cs typeface="Arial"/>
              </a:defRPr>
            </a:defPPr>
          </a:lstStyle>
          <a:p xmlns:a="http://schemas.openxmlformats.org/drawingml/2006/main">
            <a:pPr>
              <a:defRPr sz="1200" b="0">
                <a:solidFill>
                  <a:srgbClr val="58656A"/>
                </a:solidFill>
                <a:latin typeface="Arial"/>
                <a:ea typeface="Arial"/>
                <a:cs typeface="Arial"/>
              </a:defRPr>
            </a:pPr>
            <a:r>
              <a:rPr sz="1200" b="0">
                <a:solidFill>
                  <a:srgbClr val="58656A"/>
                </a:solidFill>
                <a:latin typeface="Arial"/>
                <a:ea typeface="Arial"/>
                <a:cs typeface="Arial"/>
              </a:rPr>
              <a:t>20 / 24     The saved bundle is durable. Later live KV changes are volatile in this demonstration.</a:t>
            </a:r>
          </a:p>
        </p:txBody>
      </p:sp>
    </p:spTree>
    <p:extLst>
      <p:ext uri="{BB962C8B-B14F-4D97-AF65-F5344CB8AC3E}">
        <p14:creationId xmlns:p14="http://schemas.microsoft.com/office/powerpoint/2010/main" val="531082388"/>
      </p:ext>
    </p:extLst>
  </p:cSld>
</p:sld>
</file>

<file path=ppt/slides/slide21.xml><?xml version="1.0" encoding="utf-8"?>
<p:sld xmlns:p="http://schemas.openxmlformats.org/presentationml/2006/main">
  <p:cSld>
    <p:bg>
      <p:bgPr>
        <a:solidFill xmlns:a="http://schemas.openxmlformats.org/drawingml/2006/main">
          <a:srgbClr val="F6F4EE"/>
        </a:solidFill>
      </p:bgPr>
    </p:bg>
    <p:spTree>
      <p:nvGrpSpPr>
        <p:cNvPr id="1" name=""/>
        <p:cNvGrpSpPr/>
        <p:nvPr/>
      </p:nvGrpSpPr>
      <p:grpSpPr>
        <a:xfrm xmlns:a="http://schemas.openxmlformats.org/drawingml/2006/main"/>
      </p:grpSpPr>
      <p:sp>
        <p:nvSpPr>
          <p:cNvPr id="11" name="text-1">
            <a:extLst xmlns:a="http://schemas.openxmlformats.org/drawingml/2006/main">
              <a:ext uri="{FF2B5EF4-FFF2-40B4-BE49-F238E27FC236}">
                <a16:creationId xmlns:a16="http://schemas.microsoft.com/office/drawing/2014/main" id="{9379CB50-0FAA-4D7C-B31C-63E5181FB037}"/>
              </a:ext>
            </a:extLst>
          </p:cNvPr>
          <p:cNvSpPr>
            <a:spLocks xmlns:a="http://schemas.openxmlformats.org/drawingml/2006/main" noGrp="1"/>
          </p:cNvSpPr>
          <p:nvPr/>
        </p:nvSpPr>
        <p:spPr>
          <a:xfrm xmlns:a="http://schemas.openxmlformats.org/drawingml/2006/main">
            <a:off x="609600" y="514350"/>
            <a:ext cx="109728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3300" b="1">
                <a:solidFill>
                  <a:srgbClr val="122632"/>
                </a:solidFill>
                <a:latin typeface="Arial"/>
                <a:ea typeface="Arial"/>
                <a:cs typeface="Arial"/>
              </a:defRPr>
            </a:defPPr>
          </a:lstStyle>
          <a:p xmlns:a="http://schemas.openxmlformats.org/drawingml/2006/main">
            <a:pPr>
              <a:defRPr sz="3300" b="1">
                <a:solidFill>
                  <a:srgbClr val="122632"/>
                </a:solidFill>
                <a:latin typeface="Arial"/>
                <a:ea typeface="Arial"/>
                <a:cs typeface="Arial"/>
              </a:defRPr>
            </a:pPr>
            <a:r>
              <a:rPr sz="3300" b="1">
                <a:solidFill>
                  <a:srgbClr val="122632"/>
                </a:solidFill>
                <a:latin typeface="Arial"/>
                <a:ea typeface="Arial"/>
                <a:cs typeface="Arial"/>
              </a:rPr>
              <a:t>Remaining implementation and evaluation</a:t>
            </a:r>
          </a:p>
        </p:txBody>
      </p:sp>
      <p:sp>
        <p:nvSpPr>
          <p:cNvPr id="2" name="text-2">
            <a:extLst xmlns:a="http://schemas.openxmlformats.org/drawingml/2006/main">
              <a:ext uri="{FF2B5EF4-FFF2-40B4-BE49-F238E27FC236}">
                <a16:creationId xmlns:a16="http://schemas.microsoft.com/office/drawing/2014/main" id="{995FF8F6-258D-404B-85DD-B74612BB8DFE}"/>
              </a:ext>
            </a:extLst>
          </p:cNvPr>
          <p:cNvSpPr>
            <a:spLocks xmlns:a="http://schemas.openxmlformats.org/drawingml/2006/main" noGrp="1"/>
          </p:cNvSpPr>
          <p:nvPr/>
        </p:nvSpPr>
        <p:spPr>
          <a:xfrm xmlns:a="http://schemas.openxmlformats.org/drawingml/2006/main">
            <a:off x="609600" y="1819275"/>
            <a:ext cx="26670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2100" b="1">
                <a:solidFill>
                  <a:srgbClr val="146B5F"/>
                </a:solidFill>
                <a:latin typeface="Arial"/>
                <a:ea typeface="Arial"/>
                <a:cs typeface="Arial"/>
              </a:defRPr>
            </a:defPPr>
          </a:lstStyle>
          <a:p xmlns:a="http://schemas.openxmlformats.org/drawingml/2006/main">
            <a:pPr>
              <a:defRPr sz="2100" b="1">
                <a:solidFill>
                  <a:srgbClr val="146B5F"/>
                </a:solidFill>
                <a:latin typeface="Arial"/>
                <a:ea typeface="Arial"/>
                <a:cs typeface="Arial"/>
              </a:defRPr>
            </a:pPr>
            <a:r>
              <a:rPr sz="2100" b="1">
                <a:solidFill>
                  <a:srgbClr val="146B5F"/>
                </a:solidFill>
                <a:latin typeface="Arial"/>
                <a:ea typeface="Arial"/>
                <a:cs typeface="Arial"/>
              </a:rPr>
              <a:t>Service boundaries</a:t>
            </a:r>
          </a:p>
        </p:txBody>
      </p:sp>
      <p:sp>
        <p:nvSpPr>
          <p:cNvPr id="3" name="text-3">
            <a:extLst xmlns:a="http://schemas.openxmlformats.org/drawingml/2006/main">
              <a:ext uri="{FF2B5EF4-FFF2-40B4-BE49-F238E27FC236}">
                <a16:creationId xmlns:a16="http://schemas.microsoft.com/office/drawing/2014/main" id="{1EDDB36C-39AC-4DD3-AC1F-75DFAA4B0924}"/>
              </a:ext>
            </a:extLst>
          </p:cNvPr>
          <p:cNvSpPr>
            <a:spLocks xmlns:a="http://schemas.openxmlformats.org/drawingml/2006/main" noGrp="1"/>
          </p:cNvSpPr>
          <p:nvPr/>
        </p:nvSpPr>
        <p:spPr>
          <a:xfrm xmlns:a="http://schemas.openxmlformats.org/drawingml/2006/main">
            <a:off x="3524250" y="1819275"/>
            <a:ext cx="78867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2100" b="0">
                <a:solidFill>
                  <a:srgbClr val="122632"/>
                </a:solidFill>
                <a:latin typeface="Arial"/>
                <a:ea typeface="Arial"/>
                <a:cs typeface="Arial"/>
              </a:defRPr>
            </a:defPPr>
          </a:lstStyle>
          <a:p xmlns:a="http://schemas.openxmlformats.org/drawingml/2006/main">
            <a:pPr>
              <a:defRPr sz="2100" b="0">
                <a:solidFill>
                  <a:srgbClr val="122632"/>
                </a:solidFill>
                <a:latin typeface="Arial"/>
                <a:ea typeface="Arial"/>
                <a:cs typeface="Arial"/>
              </a:defRPr>
            </a:pPr>
            <a:r>
              <a:rPr sz="2100" b="0">
                <a:solidFill>
                  <a:srgbClr val="122632"/>
                </a:solidFill>
                <a:latin typeface="Arial"/>
                <a:ea typeface="Arial"/>
                <a:cs typeface="Arial"/>
              </a:rPr>
              <a:t>Separate storage/runtime management from init and broaden task lifecycle coverage.</a:t>
            </a:r>
          </a:p>
        </p:txBody>
      </p:sp>
      <p:sp>
        <p:nvSpPr>
          <p:cNvPr id="4" name="text-4">
            <a:extLst xmlns:a="http://schemas.openxmlformats.org/drawingml/2006/main">
              <a:ext uri="{FF2B5EF4-FFF2-40B4-BE49-F238E27FC236}">
                <a16:creationId xmlns:a16="http://schemas.microsoft.com/office/drawing/2014/main" id="{B6969F57-8D41-40A7-89A4-9A1B9322B35C}"/>
              </a:ext>
            </a:extLst>
          </p:cNvPr>
          <p:cNvSpPr>
            <a:spLocks xmlns:a="http://schemas.openxmlformats.org/drawingml/2006/main" noGrp="1"/>
          </p:cNvSpPr>
          <p:nvPr/>
        </p:nvSpPr>
        <p:spPr>
          <a:xfrm xmlns:a="http://schemas.openxmlformats.org/drawingml/2006/main">
            <a:off x="609600" y="2847975"/>
            <a:ext cx="26670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2100" b="1">
                <a:solidFill>
                  <a:srgbClr val="146B5F"/>
                </a:solidFill>
                <a:latin typeface="Arial"/>
                <a:ea typeface="Arial"/>
                <a:cs typeface="Arial"/>
              </a:defRPr>
            </a:defPPr>
          </a:lstStyle>
          <a:p xmlns:a="http://schemas.openxmlformats.org/drawingml/2006/main">
            <a:pPr>
              <a:defRPr sz="2100" b="1">
                <a:solidFill>
                  <a:srgbClr val="146B5F"/>
                </a:solidFill>
                <a:latin typeface="Arial"/>
                <a:ea typeface="Arial"/>
                <a:cs typeface="Arial"/>
              </a:defRPr>
            </a:pPr>
            <a:r>
              <a:rPr sz="2100" b="1">
                <a:solidFill>
                  <a:srgbClr val="146B5F"/>
                </a:solidFill>
                <a:latin typeface="Arial"/>
                <a:ea typeface="Arial"/>
                <a:cs typeface="Arial"/>
              </a:rPr>
              <a:t>Recovery coverage</a:t>
            </a:r>
          </a:p>
        </p:txBody>
      </p:sp>
      <p:sp>
        <p:nvSpPr>
          <p:cNvPr id="5" name="text-5">
            <a:extLst xmlns:a="http://schemas.openxmlformats.org/drawingml/2006/main">
              <a:ext uri="{FF2B5EF4-FFF2-40B4-BE49-F238E27FC236}">
                <a16:creationId xmlns:a16="http://schemas.microsoft.com/office/drawing/2014/main" id="{52F21E6A-9B9A-4093-8887-8B588EB4A909}"/>
              </a:ext>
            </a:extLst>
          </p:cNvPr>
          <p:cNvSpPr>
            <a:spLocks xmlns:a="http://schemas.openxmlformats.org/drawingml/2006/main" noGrp="1"/>
          </p:cNvSpPr>
          <p:nvPr/>
        </p:nvSpPr>
        <p:spPr>
          <a:xfrm xmlns:a="http://schemas.openxmlformats.org/drawingml/2006/main">
            <a:off x="3524250" y="2847975"/>
            <a:ext cx="78867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2100" b="0">
                <a:solidFill>
                  <a:srgbClr val="122632"/>
                </a:solidFill>
                <a:latin typeface="Arial"/>
                <a:ea typeface="Arial"/>
                <a:cs typeface="Arial"/>
              </a:defRPr>
            </a:defPPr>
          </a:lstStyle>
          <a:p xmlns:a="http://schemas.openxmlformats.org/drawingml/2006/main">
            <a:pPr>
              <a:defRPr sz="2100" b="0">
                <a:solidFill>
                  <a:srgbClr val="122632"/>
                </a:solidFill>
                <a:latin typeface="Arial"/>
                <a:ea typeface="Arial"/>
                <a:cs typeface="Arial"/>
              </a:defRPr>
            </a:pPr>
            <a:r>
              <a:rPr sz="2100" b="0">
                <a:solidFill>
                  <a:srgbClr val="122632"/>
                </a:solidFill>
                <a:latin typeface="Arial"/>
                <a:ea typeface="Arial"/>
                <a:cs typeface="Arial"/>
              </a:rPr>
              <a:t>Admit additional workloads and exercise more state, trace and storage failures.</a:t>
            </a:r>
          </a:p>
        </p:txBody>
      </p:sp>
      <p:sp>
        <p:nvSpPr>
          <p:cNvPr id="6" name="text-6">
            <a:extLst xmlns:a="http://schemas.openxmlformats.org/drawingml/2006/main">
              <a:ext uri="{FF2B5EF4-FFF2-40B4-BE49-F238E27FC236}">
                <a16:creationId xmlns:a16="http://schemas.microsoft.com/office/drawing/2014/main" id="{545F90F4-A8C9-404A-A3A2-1792B4C36186}"/>
              </a:ext>
            </a:extLst>
          </p:cNvPr>
          <p:cNvSpPr>
            <a:spLocks xmlns:a="http://schemas.openxmlformats.org/drawingml/2006/main" noGrp="1"/>
          </p:cNvSpPr>
          <p:nvPr/>
        </p:nvSpPr>
        <p:spPr>
          <a:xfrm xmlns:a="http://schemas.openxmlformats.org/drawingml/2006/main">
            <a:off x="609600" y="3876675"/>
            <a:ext cx="26670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2100" b="1">
                <a:solidFill>
                  <a:srgbClr val="146B5F"/>
                </a:solidFill>
                <a:latin typeface="Arial"/>
                <a:ea typeface="Arial"/>
                <a:cs typeface="Arial"/>
              </a:defRPr>
            </a:defPPr>
          </a:lstStyle>
          <a:p xmlns:a="http://schemas.openxmlformats.org/drawingml/2006/main">
            <a:pPr>
              <a:defRPr sz="2100" b="1">
                <a:solidFill>
                  <a:srgbClr val="146B5F"/>
                </a:solidFill>
                <a:latin typeface="Arial"/>
                <a:ea typeface="Arial"/>
                <a:cs typeface="Arial"/>
              </a:defRPr>
            </a:pPr>
            <a:r>
              <a:rPr sz="2100" b="1">
                <a:solidFill>
                  <a:srgbClr val="146B5F"/>
                </a:solidFill>
                <a:latin typeface="Arial"/>
                <a:ea typeface="Arial"/>
                <a:cs typeface="Arial"/>
              </a:rPr>
              <a:t>Measured evaluation</a:t>
            </a:r>
          </a:p>
        </p:txBody>
      </p:sp>
      <p:sp>
        <p:nvSpPr>
          <p:cNvPr id="7" name="text-7">
            <a:extLst xmlns:a="http://schemas.openxmlformats.org/drawingml/2006/main">
              <a:ext uri="{FF2B5EF4-FFF2-40B4-BE49-F238E27FC236}">
                <a16:creationId xmlns:a16="http://schemas.microsoft.com/office/drawing/2014/main" id="{A7524954-BA84-416B-8C0A-7D2C028E5485}"/>
              </a:ext>
            </a:extLst>
          </p:cNvPr>
          <p:cNvSpPr>
            <a:spLocks xmlns:a="http://schemas.openxmlformats.org/drawingml/2006/main" noGrp="1"/>
          </p:cNvSpPr>
          <p:nvPr/>
        </p:nvSpPr>
        <p:spPr>
          <a:xfrm xmlns:a="http://schemas.openxmlformats.org/drawingml/2006/main">
            <a:off x="3524250" y="3876675"/>
            <a:ext cx="78867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2100" b="0">
                <a:solidFill>
                  <a:srgbClr val="122632"/>
                </a:solidFill>
                <a:latin typeface="Arial"/>
                <a:ea typeface="Arial"/>
                <a:cs typeface="Arial"/>
              </a:defRPr>
            </a:defPPr>
          </a:lstStyle>
          <a:p xmlns:a="http://schemas.openxmlformats.org/drawingml/2006/main">
            <a:pPr>
              <a:defRPr sz="2100" b="0">
                <a:solidFill>
                  <a:srgbClr val="122632"/>
                </a:solidFill>
                <a:latin typeface="Arial"/>
                <a:ea typeface="Arial"/>
                <a:cs typeface="Arial"/>
              </a:defRPr>
            </a:pPr>
            <a:r>
              <a:rPr sz="2100" b="0">
                <a:solidFill>
                  <a:srgbClr val="122632"/>
                </a:solidFill>
                <a:latin typeface="Arial"/>
                <a:ea typeface="Arial"/>
                <a:cs typeface="Arial"/>
              </a:rPr>
              <a:t>Collect repeated IPC, capability, Wasm, checkpoint and recovery measurements.</a:t>
            </a:r>
          </a:p>
        </p:txBody>
      </p:sp>
      <p:sp>
        <p:nvSpPr>
          <p:cNvPr id="8" name="text-8">
            <a:extLst xmlns:a="http://schemas.openxmlformats.org/drawingml/2006/main">
              <a:ext uri="{FF2B5EF4-FFF2-40B4-BE49-F238E27FC236}">
                <a16:creationId xmlns:a16="http://schemas.microsoft.com/office/drawing/2014/main" id="{65A42150-B6C2-4D1B-BF7C-957199956867}"/>
              </a:ext>
            </a:extLst>
          </p:cNvPr>
          <p:cNvSpPr>
            <a:spLocks xmlns:a="http://schemas.openxmlformats.org/drawingml/2006/main" noGrp="1"/>
          </p:cNvSpPr>
          <p:nvPr/>
        </p:nvSpPr>
        <p:spPr>
          <a:xfrm xmlns:a="http://schemas.openxmlformats.org/drawingml/2006/main">
            <a:off x="609600" y="4905375"/>
            <a:ext cx="26670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2100" b="1">
                <a:solidFill>
                  <a:srgbClr val="146B5F"/>
                </a:solidFill>
                <a:latin typeface="Arial"/>
                <a:ea typeface="Arial"/>
                <a:cs typeface="Arial"/>
              </a:defRPr>
            </a:defPPr>
          </a:lstStyle>
          <a:p xmlns:a="http://schemas.openxmlformats.org/drawingml/2006/main">
            <a:pPr>
              <a:defRPr sz="2100" b="1">
                <a:solidFill>
                  <a:srgbClr val="146B5F"/>
                </a:solidFill>
                <a:latin typeface="Arial"/>
                <a:ea typeface="Arial"/>
                <a:cs typeface="Arial"/>
              </a:defRPr>
            </a:pPr>
            <a:r>
              <a:rPr sz="2100" b="1">
                <a:solidFill>
                  <a:srgbClr val="146B5F"/>
                </a:solidFill>
                <a:latin typeface="Arial"/>
                <a:ea typeface="Arial"/>
                <a:cs typeface="Arial"/>
              </a:rPr>
              <a:t>Control plane</a:t>
            </a:r>
          </a:p>
        </p:txBody>
      </p:sp>
      <p:sp>
        <p:nvSpPr>
          <p:cNvPr id="9" name="text-9">
            <a:extLst xmlns:a="http://schemas.openxmlformats.org/drawingml/2006/main">
              <a:ext uri="{FF2B5EF4-FFF2-40B4-BE49-F238E27FC236}">
                <a16:creationId xmlns:a16="http://schemas.microsoft.com/office/drawing/2014/main" id="{1DF8A5FF-ACA0-4BAD-9C77-50C09A2BE795}"/>
              </a:ext>
            </a:extLst>
          </p:cNvPr>
          <p:cNvSpPr>
            <a:spLocks xmlns:a="http://schemas.openxmlformats.org/drawingml/2006/main" noGrp="1"/>
          </p:cNvSpPr>
          <p:nvPr/>
        </p:nvSpPr>
        <p:spPr>
          <a:xfrm xmlns:a="http://schemas.openxmlformats.org/drawingml/2006/main">
            <a:off x="3524250" y="4905375"/>
            <a:ext cx="78867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2100" b="0">
                <a:solidFill>
                  <a:srgbClr val="122632"/>
                </a:solidFill>
                <a:latin typeface="Arial"/>
                <a:ea typeface="Arial"/>
                <a:cs typeface="Arial"/>
              </a:defRPr>
            </a:defPPr>
          </a:lstStyle>
          <a:p xmlns:a="http://schemas.openxmlformats.org/drawingml/2006/main">
            <a:pPr>
              <a:defRPr sz="2100" b="0">
                <a:solidFill>
                  <a:srgbClr val="122632"/>
                </a:solidFill>
                <a:latin typeface="Arial"/>
                <a:ea typeface="Arial"/>
                <a:cs typeface="Arial"/>
              </a:defRPr>
            </a:pPr>
            <a:r>
              <a:rPr sz="2100" b="0">
                <a:solidFill>
                  <a:srgbClr val="122632"/>
                </a:solidFill>
                <a:latin typeface="Arial"/>
                <a:ea typeface="Arial"/>
                <a:cs typeface="Arial"/>
              </a:rPr>
              <a:t>Connect current guest evidence to the dashboard and compare model proposals with a deterministic baseline.</a:t>
            </a:r>
          </a:p>
        </p:txBody>
      </p:sp>
      <p:sp>
        <p:nvSpPr>
          <p:cNvPr id="10" name="text-10">
            <a:extLst xmlns:a="http://schemas.openxmlformats.org/drawingml/2006/main">
              <a:ext uri="{FF2B5EF4-FFF2-40B4-BE49-F238E27FC236}">
                <a16:creationId xmlns:a16="http://schemas.microsoft.com/office/drawing/2014/main" id="{1D1DEC2F-827D-48DF-A1DB-74BF0541C45C}"/>
              </a:ext>
            </a:extLst>
          </p:cNvPr>
          <p:cNvSpPr>
            <a:spLocks xmlns:a="http://schemas.openxmlformats.org/drawingml/2006/main" noGrp="1"/>
          </p:cNvSpPr>
          <p:nvPr/>
        </p:nvSpPr>
        <p:spPr>
          <a:xfrm xmlns:a="http://schemas.openxmlformats.org/drawingml/2006/main">
            <a:off x="609600" y="6486525"/>
            <a:ext cx="109728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1200" b="0">
                <a:solidFill>
                  <a:srgbClr val="58656A"/>
                </a:solidFill>
                <a:latin typeface="Arial"/>
                <a:ea typeface="Arial"/>
                <a:cs typeface="Arial"/>
              </a:defRPr>
            </a:defPPr>
          </a:lstStyle>
          <a:p xmlns:a="http://schemas.openxmlformats.org/drawingml/2006/main">
            <a:pPr>
              <a:defRPr sz="1200" b="0">
                <a:solidFill>
                  <a:srgbClr val="58656A"/>
                </a:solidFill>
                <a:latin typeface="Arial"/>
                <a:ea typeface="Arial"/>
                <a:cs typeface="Arial"/>
              </a:defRPr>
            </a:pPr>
            <a:r>
              <a:rPr sz="1200" b="0">
                <a:solidFill>
                  <a:srgbClr val="58656A"/>
                </a:solidFill>
                <a:latin typeface="Arial"/>
                <a:ea typeface="Arial"/>
                <a:cs typeface="Arial"/>
              </a:rPr>
              <a:t>21 / 24     The current 10-ms QEMU timer cannot support fine-grained performance conclusions.</a:t>
            </a:r>
          </a:p>
        </p:txBody>
      </p:sp>
    </p:spTree>
    <p:extLst>
      <p:ext uri="{BB962C8B-B14F-4D97-AF65-F5344CB8AC3E}">
        <p14:creationId xmlns:p14="http://schemas.microsoft.com/office/powerpoint/2010/main" val="292973046"/>
      </p:ext>
    </p:extLst>
  </p:cSld>
</p:sld>
</file>

<file path=ppt/slides/slide22.xml><?xml version="1.0" encoding="utf-8"?>
<p:sld xmlns:p="http://schemas.openxmlformats.org/presentationml/2006/main">
  <p:cSld>
    <p:bg>
      <p:bgPr>
        <a:solidFill xmlns:a="http://schemas.openxmlformats.org/drawingml/2006/main">
          <a:srgbClr val="F6F4EE"/>
        </a:solidFill>
      </p:bgPr>
    </p:bg>
    <p:spTree>
      <p:nvGrpSpPr>
        <p:cNvPr id="1" name=""/>
        <p:cNvGrpSpPr/>
        <p:nvPr/>
      </p:nvGrpSpPr>
      <p:grpSpPr>
        <a:xfrm xmlns:a="http://schemas.openxmlformats.org/drawingml/2006/main"/>
      </p:grpSpPr>
      <p:sp>
        <p:nvSpPr>
          <p:cNvPr id="6" name="text-1">
            <a:extLst xmlns:a="http://schemas.openxmlformats.org/drawingml/2006/main">
              <a:ext uri="{FF2B5EF4-FFF2-40B4-BE49-F238E27FC236}">
                <a16:creationId xmlns:a16="http://schemas.microsoft.com/office/drawing/2014/main" id="{BEE6A661-70F4-4D87-BBD0-5BAD08977460}"/>
              </a:ext>
            </a:extLst>
          </p:cNvPr>
          <p:cNvSpPr>
            <a:spLocks xmlns:a="http://schemas.openxmlformats.org/drawingml/2006/main" noGrp="1"/>
          </p:cNvSpPr>
          <p:nvPr/>
        </p:nvSpPr>
        <p:spPr>
          <a:xfrm xmlns:a="http://schemas.openxmlformats.org/drawingml/2006/main">
            <a:off x="609600" y="514350"/>
            <a:ext cx="109728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3300" b="1">
                <a:solidFill>
                  <a:srgbClr val="122632"/>
                </a:solidFill>
                <a:latin typeface="Arial"/>
                <a:ea typeface="Arial"/>
                <a:cs typeface="Arial"/>
              </a:defRPr>
            </a:defPPr>
          </a:lstStyle>
          <a:p xmlns:a="http://schemas.openxmlformats.org/drawingml/2006/main">
            <a:pPr>
              <a:defRPr sz="3300" b="1">
                <a:solidFill>
                  <a:srgbClr val="122632"/>
                </a:solidFill>
                <a:latin typeface="Arial"/>
                <a:ea typeface="Arial"/>
                <a:cs typeface="Arial"/>
              </a:defRPr>
            </a:pPr>
            <a:r>
              <a:rPr sz="3300" b="1">
                <a:solidFill>
                  <a:srgbClr val="122632"/>
                </a:solidFill>
                <a:latin typeface="Arial"/>
                <a:ea typeface="Arial"/>
                <a:cs typeface="Arial"/>
              </a:rPr>
              <a:t>Research contribution to evaluate</a:t>
            </a:r>
          </a:p>
        </p:txBody>
      </p:sp>
      <p:sp>
        <p:nvSpPr>
          <p:cNvPr id="2" name="text-2">
            <a:extLst xmlns:a="http://schemas.openxmlformats.org/drawingml/2006/main">
              <a:ext uri="{FF2B5EF4-FFF2-40B4-BE49-F238E27FC236}">
                <a16:creationId xmlns:a16="http://schemas.microsoft.com/office/drawing/2014/main" id="{C76A4B2D-D55A-43CB-97C1-12BF5100D1F8}"/>
              </a:ext>
            </a:extLst>
          </p:cNvPr>
          <p:cNvSpPr>
            <a:spLocks xmlns:a="http://schemas.openxmlformats.org/drawingml/2006/main" noGrp="1"/>
          </p:cNvSpPr>
          <p:nvPr/>
        </p:nvSpPr>
        <p:spPr>
          <a:xfrm xmlns:a="http://schemas.openxmlformats.org/drawingml/2006/main">
            <a:off x="609600" y="1790700"/>
            <a:ext cx="10972800" cy="1962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3225" b="1">
                <a:solidFill>
                  <a:srgbClr val="146B5F"/>
                </a:solidFill>
                <a:latin typeface="Arial"/>
                <a:ea typeface="Arial"/>
                <a:cs typeface="Arial"/>
              </a:defRPr>
            </a:defPPr>
          </a:lstStyle>
          <a:p xmlns:a="http://schemas.openxmlformats.org/drawingml/2006/main">
            <a:pPr>
              <a:defRPr sz="3225" b="1">
                <a:solidFill>
                  <a:srgbClr val="146B5F"/>
                </a:solidFill>
                <a:latin typeface="Arial"/>
                <a:ea typeface="Arial"/>
                <a:cs typeface="Arial"/>
              </a:defRPr>
            </a:pPr>
            <a:r>
              <a:rPr sz="3225" b="1">
                <a:solidFill>
                  <a:srgbClr val="146B5F"/>
                </a:solidFill>
                <a:latin typeface="Arial"/>
                <a:ea typeface="Arial"/>
                <a:cs typeface="Arial"/>
              </a:rPr>
              <a:t>Predictable recovery under</a:t>
            </a:r>
          </a:p>
          <a:p xmlns:a="http://schemas.openxmlformats.org/drawingml/2006/main">
            <a:pPr>
              <a:defRPr sz="3225" b="1">
                <a:solidFill>
                  <a:srgbClr val="146B5F"/>
                </a:solidFill>
                <a:latin typeface="Arial"/>
                <a:ea typeface="Arial"/>
                <a:cs typeface="Arial"/>
              </a:defRPr>
            </a:pPr>
            <a:r>
              <a:rPr sz="3225" b="1">
                <a:solidFill>
                  <a:srgbClr val="146B5F"/>
                </a:solidFill>
                <a:latin typeface="Arial"/>
                <a:ea typeface="Arial"/>
                <a:cs typeface="Arial"/>
              </a:rPr>
              <a:t>current authority and bounded execution.</a:t>
            </a:r>
          </a:p>
        </p:txBody>
      </p:sp>
      <p:sp>
        <p:nvSpPr>
          <p:cNvPr id="3" name="text-3">
            <a:extLst xmlns:a="http://schemas.openxmlformats.org/drawingml/2006/main">
              <a:ext uri="{FF2B5EF4-FFF2-40B4-BE49-F238E27FC236}">
                <a16:creationId xmlns:a16="http://schemas.microsoft.com/office/drawing/2014/main" id="{93F34BF8-FAA9-4128-8404-B53EE290B194}"/>
              </a:ext>
            </a:extLst>
          </p:cNvPr>
          <p:cNvSpPr>
            <a:spLocks xmlns:a="http://schemas.openxmlformats.org/drawingml/2006/main" noGrp="1"/>
          </p:cNvSpPr>
          <p:nvPr/>
        </p:nvSpPr>
        <p:spPr>
          <a:xfrm xmlns:a="http://schemas.openxmlformats.org/drawingml/2006/main">
            <a:off x="609600" y="4010025"/>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2175" b="0">
                <a:solidFill>
                  <a:srgbClr val="122632"/>
                </a:solidFill>
                <a:latin typeface="Arial"/>
                <a:ea typeface="Arial"/>
                <a:cs typeface="Arial"/>
              </a:defRPr>
            </a:defPPr>
          </a:lstStyle>
          <a:p xmlns:a="http://schemas.openxmlformats.org/drawingml/2006/main">
            <a:pPr>
              <a:defRPr sz="2175" b="0">
                <a:solidFill>
                  <a:srgbClr val="122632"/>
                </a:solidFill>
                <a:latin typeface="Arial"/>
                <a:ea typeface="Arial"/>
                <a:cs typeface="Arial"/>
              </a:defRPr>
            </a:pPr>
            <a:r>
              <a:rPr sz="2175" b="0">
                <a:solidFill>
                  <a:srgbClr val="122632"/>
                </a:solidFill>
                <a:latin typeface="Arial"/>
                <a:ea typeface="Arial"/>
                <a:cs typeface="Arial"/>
              </a:rPr>
              <a:t>The integrated prototype is executable.</a:t>
            </a:r>
          </a:p>
          <a:p xmlns:a="http://schemas.openxmlformats.org/drawingml/2006/main">
            <a:pPr>
              <a:defRPr sz="2175" b="0">
                <a:solidFill>
                  <a:srgbClr val="122632"/>
                </a:solidFill>
                <a:latin typeface="Arial"/>
                <a:ea typeface="Arial"/>
                <a:cs typeface="Arial"/>
              </a:defRPr>
            </a:pPr>
            <a:r>
              <a:rPr sz="2175" b="0">
                <a:solidFill>
                  <a:srgbClr val="122632"/>
                </a:solidFill>
                <a:latin typeface="Arial"/>
                <a:ea typeface="Arial"/>
                <a:cs typeface="Arial"/>
              </a:rPr>
              <a:t>The next evidence must quantify correctness coverage and recovery cost.</a:t>
            </a:r>
          </a:p>
        </p:txBody>
      </p:sp>
      <p:sp>
        <p:nvSpPr>
          <p:cNvPr id="4" name="text-4">
            <a:extLst xmlns:a="http://schemas.openxmlformats.org/drawingml/2006/main">
              <a:ext uri="{FF2B5EF4-FFF2-40B4-BE49-F238E27FC236}">
                <a16:creationId xmlns:a16="http://schemas.microsoft.com/office/drawing/2014/main" id="{52F3FDF2-8234-4455-A5D7-56006C2F7254}"/>
              </a:ext>
            </a:extLst>
          </p:cNvPr>
          <p:cNvSpPr>
            <a:spLocks xmlns:a="http://schemas.openxmlformats.org/drawingml/2006/main" noGrp="1"/>
          </p:cNvSpPr>
          <p:nvPr/>
        </p:nvSpPr>
        <p:spPr>
          <a:xfrm xmlns:a="http://schemas.openxmlformats.org/drawingml/2006/main">
            <a:off x="609600" y="537210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1875" b="0">
                <a:solidFill>
                  <a:srgbClr val="58656A"/>
                </a:solidFill>
                <a:latin typeface="Arial"/>
                <a:ea typeface="Arial"/>
                <a:cs typeface="Arial"/>
              </a:defRPr>
            </a:defPPr>
          </a:lstStyle>
          <a:p xmlns:a="http://schemas.openxmlformats.org/drawingml/2006/main">
            <a:pPr>
              <a:defRPr sz="1875" b="0">
                <a:solidFill>
                  <a:srgbClr val="58656A"/>
                </a:solidFill>
                <a:latin typeface="Arial"/>
                <a:ea typeface="Arial"/>
                <a:cs typeface="Arial"/>
              </a:defRPr>
            </a:pPr>
            <a:r>
              <a:rPr sz="1875" b="0">
                <a:solidFill>
                  <a:srgbClr val="58656A"/>
                </a:solidFill>
                <a:latin typeface="Arial"/>
                <a:ea typeface="Arial"/>
                <a:cs typeface="Arial"/>
              </a:rPr>
              <a:t>Review decisions: confirm the final scope, assign team ownership and agree the completion criteria.</a:t>
            </a:r>
          </a:p>
        </p:txBody>
      </p:sp>
      <p:sp>
        <p:nvSpPr>
          <p:cNvPr id="5" name="text-5">
            <a:extLst xmlns:a="http://schemas.openxmlformats.org/drawingml/2006/main">
              <a:ext uri="{FF2B5EF4-FFF2-40B4-BE49-F238E27FC236}">
                <a16:creationId xmlns:a16="http://schemas.microsoft.com/office/drawing/2014/main" id="{F0F78A36-EB56-431D-8A95-89B6ED70A221}"/>
              </a:ext>
            </a:extLst>
          </p:cNvPr>
          <p:cNvSpPr>
            <a:spLocks xmlns:a="http://schemas.openxmlformats.org/drawingml/2006/main" noGrp="1"/>
          </p:cNvSpPr>
          <p:nvPr/>
        </p:nvSpPr>
        <p:spPr>
          <a:xfrm xmlns:a="http://schemas.openxmlformats.org/drawingml/2006/main">
            <a:off x="609600" y="6486525"/>
            <a:ext cx="109728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1200" b="0">
                <a:solidFill>
                  <a:srgbClr val="58656A"/>
                </a:solidFill>
                <a:latin typeface="Arial"/>
                <a:ea typeface="Arial"/>
                <a:cs typeface="Arial"/>
              </a:defRPr>
            </a:defPPr>
          </a:lstStyle>
          <a:p xmlns:a="http://schemas.openxmlformats.org/drawingml/2006/main">
            <a:pPr>
              <a:defRPr sz="1200" b="0">
                <a:solidFill>
                  <a:srgbClr val="58656A"/>
                </a:solidFill>
                <a:latin typeface="Arial"/>
                <a:ea typeface="Arial"/>
                <a:cs typeface="Arial"/>
              </a:defRPr>
            </a:pPr>
            <a:r>
              <a:rPr sz="1200" b="0">
                <a:solidFill>
                  <a:srgbClr val="58656A"/>
                </a:solidFill>
                <a:latin typeface="Arial"/>
                <a:ea typeface="Arial"/>
                <a:cs typeface="Arial"/>
              </a:rPr>
              <a:t>22 / 24     </a:t>
            </a:r>
          </a:p>
        </p:txBody>
      </p:sp>
    </p:spTree>
    <p:extLst>
      <p:ext uri="{BB962C8B-B14F-4D97-AF65-F5344CB8AC3E}">
        <p14:creationId xmlns:p14="http://schemas.microsoft.com/office/powerpoint/2010/main" val="1721819856"/>
      </p:ext>
    </p:extLst>
  </p:cSld>
</p:sld>
</file>

<file path=ppt/slides/slide23.xml><?xml version="1.0" encoding="utf-8"?>
<p:sld xmlns:p="http://schemas.openxmlformats.org/presentationml/2006/main">
  <p:cSld>
    <p:bg>
      <p:bgPr>
        <a:solidFill xmlns:a="http://schemas.openxmlformats.org/drawingml/2006/main">
          <a:srgbClr val="F6F4EE"/>
        </a:solidFill>
      </p:bgPr>
    </p:bg>
    <p:spTree>
      <p:nvGrpSpPr>
        <p:cNvPr id="1" name=""/>
        <p:cNvGrpSpPr/>
        <p:nvPr/>
      </p:nvGrpSpPr>
      <p:grpSpPr>
        <a:xfrm xmlns:a="http://schemas.openxmlformats.org/drawingml/2006/main"/>
      </p:grpSpPr>
      <p:sp>
        <p:nvSpPr>
          <p:cNvPr id="11" name="text-1">
            <a:extLst xmlns:a="http://schemas.openxmlformats.org/drawingml/2006/main">
              <a:ext uri="{FF2B5EF4-FFF2-40B4-BE49-F238E27FC236}">
                <a16:creationId xmlns:a16="http://schemas.microsoft.com/office/drawing/2014/main" id="{42855DA8-5958-48CC-9A4F-454BF59EA1BD}"/>
              </a:ext>
            </a:extLst>
          </p:cNvPr>
          <p:cNvSpPr>
            <a:spLocks xmlns:a="http://schemas.openxmlformats.org/drawingml/2006/main" noGrp="1"/>
          </p:cNvSpPr>
          <p:nvPr/>
        </p:nvSpPr>
        <p:spPr>
          <a:xfrm xmlns:a="http://schemas.openxmlformats.org/drawingml/2006/main">
            <a:off x="609600" y="514350"/>
            <a:ext cx="109728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3300" b="1">
                <a:solidFill>
                  <a:srgbClr val="122632"/>
                </a:solidFill>
                <a:latin typeface="Arial"/>
                <a:ea typeface="Arial"/>
                <a:cs typeface="Arial"/>
              </a:defRPr>
            </a:defPPr>
          </a:lstStyle>
          <a:p xmlns:a="http://schemas.openxmlformats.org/drawingml/2006/main">
            <a:pPr>
              <a:defRPr sz="3300" b="1">
                <a:solidFill>
                  <a:srgbClr val="122632"/>
                </a:solidFill>
                <a:latin typeface="Arial"/>
                <a:ea typeface="Arial"/>
                <a:cs typeface="Arial"/>
              </a:defRPr>
            </a:pPr>
            <a:r>
              <a:rPr sz="3300" b="1">
                <a:solidFill>
                  <a:srgbClr val="122632"/>
                </a:solidFill>
                <a:latin typeface="Arial"/>
                <a:ea typeface="Arial"/>
                <a:cs typeface="Arial"/>
              </a:rPr>
              <a:t>Review questions</a:t>
            </a:r>
          </a:p>
        </p:txBody>
      </p:sp>
      <p:sp>
        <p:nvSpPr>
          <p:cNvPr id="2" name="text-2">
            <a:extLst xmlns:a="http://schemas.openxmlformats.org/drawingml/2006/main">
              <a:ext uri="{FF2B5EF4-FFF2-40B4-BE49-F238E27FC236}">
                <a16:creationId xmlns:a16="http://schemas.microsoft.com/office/drawing/2014/main" id="{1F01D422-15D2-4230-A9C7-694EB96FD5EC}"/>
              </a:ext>
            </a:extLst>
          </p:cNvPr>
          <p:cNvSpPr>
            <a:spLocks xmlns:a="http://schemas.openxmlformats.org/drawingml/2006/main" noGrp="1"/>
          </p:cNvSpPr>
          <p:nvPr/>
        </p:nvSpPr>
        <p:spPr>
          <a:xfrm xmlns:a="http://schemas.openxmlformats.org/drawingml/2006/main">
            <a:off x="609600" y="1819275"/>
            <a:ext cx="26670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2100" b="1">
                <a:solidFill>
                  <a:srgbClr val="146B5F"/>
                </a:solidFill>
                <a:latin typeface="Arial"/>
                <a:ea typeface="Arial"/>
                <a:cs typeface="Arial"/>
              </a:defRPr>
            </a:defPPr>
          </a:lstStyle>
          <a:p xmlns:a="http://schemas.openxmlformats.org/drawingml/2006/main">
            <a:pPr>
              <a:defRPr sz="2100" b="1">
                <a:solidFill>
                  <a:srgbClr val="146B5F"/>
                </a:solidFill>
                <a:latin typeface="Arial"/>
                <a:ea typeface="Arial"/>
                <a:cs typeface="Arial"/>
              </a:defRPr>
            </a:pPr>
            <a:r>
              <a:rPr sz="2100" b="1">
                <a:solidFill>
                  <a:srgbClr val="146B5F"/>
                </a:solidFill>
                <a:latin typeface="Arial"/>
                <a:ea typeface="Arial"/>
                <a:cs typeface="Arial"/>
              </a:rPr>
              <a:t>Why a custom kernel?</a:t>
            </a:r>
          </a:p>
        </p:txBody>
      </p:sp>
      <p:sp>
        <p:nvSpPr>
          <p:cNvPr id="3" name="text-3">
            <a:extLst xmlns:a="http://schemas.openxmlformats.org/drawingml/2006/main">
              <a:ext uri="{FF2B5EF4-FFF2-40B4-BE49-F238E27FC236}">
                <a16:creationId xmlns:a16="http://schemas.microsoft.com/office/drawing/2014/main" id="{DC5630F1-1C38-4D63-9113-A2FDABBDD081}"/>
              </a:ext>
            </a:extLst>
          </p:cNvPr>
          <p:cNvSpPr>
            <a:spLocks xmlns:a="http://schemas.openxmlformats.org/drawingml/2006/main" noGrp="1"/>
          </p:cNvSpPr>
          <p:nvPr/>
        </p:nvSpPr>
        <p:spPr>
          <a:xfrm xmlns:a="http://schemas.openxmlformats.org/drawingml/2006/main">
            <a:off x="3524250" y="1819275"/>
            <a:ext cx="78867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2100" b="0">
                <a:solidFill>
                  <a:srgbClr val="122632"/>
                </a:solidFill>
                <a:latin typeface="Arial"/>
                <a:ea typeface="Arial"/>
                <a:cs typeface="Arial"/>
              </a:defRPr>
            </a:defPPr>
          </a:lstStyle>
          <a:p xmlns:a="http://schemas.openxmlformats.org/drawingml/2006/main">
            <a:pPr>
              <a:defRPr sz="2100" b="0">
                <a:solidFill>
                  <a:srgbClr val="122632"/>
                </a:solidFill>
                <a:latin typeface="Arial"/>
                <a:ea typeface="Arial"/>
                <a:cs typeface="Arial"/>
              </a:defRPr>
            </a:pPr>
            <a:r>
              <a:rPr sz="2100" b="0">
                <a:solidFill>
                  <a:srgbClr val="122632"/>
                </a:solidFill>
                <a:latin typeface="Arial"/>
                <a:ea typeface="Arial"/>
                <a:cs typeface="Arial"/>
              </a:rPr>
              <a:t>Kernel construction is part of the project, and it exposes the authority and recovery mechanisms.</a:t>
            </a:r>
          </a:p>
        </p:txBody>
      </p:sp>
      <p:sp>
        <p:nvSpPr>
          <p:cNvPr id="4" name="text-4">
            <a:extLst xmlns:a="http://schemas.openxmlformats.org/drawingml/2006/main">
              <a:ext uri="{FF2B5EF4-FFF2-40B4-BE49-F238E27FC236}">
                <a16:creationId xmlns:a16="http://schemas.microsoft.com/office/drawing/2014/main" id="{C19E8B58-A7DF-4DBB-9178-C41BE8D2A9FA}"/>
              </a:ext>
            </a:extLst>
          </p:cNvPr>
          <p:cNvSpPr>
            <a:spLocks xmlns:a="http://schemas.openxmlformats.org/drawingml/2006/main" noGrp="1"/>
          </p:cNvSpPr>
          <p:nvPr/>
        </p:nvSpPr>
        <p:spPr>
          <a:xfrm xmlns:a="http://schemas.openxmlformats.org/drawingml/2006/main">
            <a:off x="609600" y="2847975"/>
            <a:ext cx="26670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2100" b="1">
                <a:solidFill>
                  <a:srgbClr val="146B5F"/>
                </a:solidFill>
                <a:latin typeface="Arial"/>
                <a:ea typeface="Arial"/>
                <a:cs typeface="Arial"/>
              </a:defRPr>
            </a:defPPr>
          </a:lstStyle>
          <a:p xmlns:a="http://schemas.openxmlformats.org/drawingml/2006/main">
            <a:pPr>
              <a:defRPr sz="2100" b="1">
                <a:solidFill>
                  <a:srgbClr val="146B5F"/>
                </a:solidFill>
                <a:latin typeface="Arial"/>
                <a:ea typeface="Arial"/>
                <a:cs typeface="Arial"/>
              </a:defRPr>
            </a:pPr>
            <a:r>
              <a:rPr sz="2100" b="1">
                <a:solidFill>
                  <a:srgbClr val="146B5F"/>
                </a:solidFill>
                <a:latin typeface="Arial"/>
                <a:ea typeface="Arial"/>
                <a:cs typeface="Arial"/>
              </a:rPr>
              <a:t>Why a browser UI?</a:t>
            </a:r>
          </a:p>
        </p:txBody>
      </p:sp>
      <p:sp>
        <p:nvSpPr>
          <p:cNvPr id="5" name="text-5">
            <a:extLst xmlns:a="http://schemas.openxmlformats.org/drawingml/2006/main">
              <a:ext uri="{FF2B5EF4-FFF2-40B4-BE49-F238E27FC236}">
                <a16:creationId xmlns:a16="http://schemas.microsoft.com/office/drawing/2014/main" id="{F902AA7A-74FF-419E-BE63-B48ADC6ED55A}"/>
              </a:ext>
            </a:extLst>
          </p:cNvPr>
          <p:cNvSpPr>
            <a:spLocks xmlns:a="http://schemas.openxmlformats.org/drawingml/2006/main" noGrp="1"/>
          </p:cNvSpPr>
          <p:nvPr/>
        </p:nvSpPr>
        <p:spPr>
          <a:xfrm xmlns:a="http://schemas.openxmlformats.org/drawingml/2006/main">
            <a:off x="3524250" y="2847975"/>
            <a:ext cx="78867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2100" b="0">
                <a:solidFill>
                  <a:srgbClr val="122632"/>
                </a:solidFill>
                <a:latin typeface="Arial"/>
                <a:ea typeface="Arial"/>
                <a:cs typeface="Arial"/>
              </a:defRPr>
            </a:defPPr>
          </a:lstStyle>
          <a:p xmlns:a="http://schemas.openxmlformats.org/drawingml/2006/main">
            <a:pPr>
              <a:defRPr sz="2100" b="0">
                <a:solidFill>
                  <a:srgbClr val="122632"/>
                </a:solidFill>
                <a:latin typeface="Arial"/>
                <a:ea typeface="Arial"/>
                <a:cs typeface="Arial"/>
              </a:defRPr>
            </a:pPr>
            <a:r>
              <a:rPr sz="2100" b="0">
                <a:solidFill>
                  <a:srgbClr val="122632"/>
                </a:solidFill>
                <a:latin typeface="Arial"/>
                <a:ea typeface="Arial"/>
                <a:cs typeface="Arial"/>
              </a:rPr>
              <a:t>It is optional host experiment tooling. The guest OS has its own serial console.</a:t>
            </a:r>
          </a:p>
        </p:txBody>
      </p:sp>
      <p:sp>
        <p:nvSpPr>
          <p:cNvPr id="6" name="text-6">
            <a:extLst xmlns:a="http://schemas.openxmlformats.org/drawingml/2006/main">
              <a:ext uri="{FF2B5EF4-FFF2-40B4-BE49-F238E27FC236}">
                <a16:creationId xmlns:a16="http://schemas.microsoft.com/office/drawing/2014/main" id="{F23060FE-FE2A-4C1C-8BD9-6120490E5ABC}"/>
              </a:ext>
            </a:extLst>
          </p:cNvPr>
          <p:cNvSpPr>
            <a:spLocks xmlns:a="http://schemas.openxmlformats.org/drawingml/2006/main" noGrp="1"/>
          </p:cNvSpPr>
          <p:nvPr/>
        </p:nvSpPr>
        <p:spPr>
          <a:xfrm xmlns:a="http://schemas.openxmlformats.org/drawingml/2006/main">
            <a:off x="609600" y="3876675"/>
            <a:ext cx="26670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2100" b="1">
                <a:solidFill>
                  <a:srgbClr val="146B5F"/>
                </a:solidFill>
                <a:latin typeface="Arial"/>
                <a:ea typeface="Arial"/>
                <a:cs typeface="Arial"/>
              </a:defRPr>
            </a:defPPr>
          </a:lstStyle>
          <a:p xmlns:a="http://schemas.openxmlformats.org/drawingml/2006/main">
            <a:pPr>
              <a:defRPr sz="2100" b="1">
                <a:solidFill>
                  <a:srgbClr val="146B5F"/>
                </a:solidFill>
                <a:latin typeface="Arial"/>
                <a:ea typeface="Arial"/>
                <a:cs typeface="Arial"/>
              </a:defRPr>
            </a:pPr>
            <a:r>
              <a:rPr sz="2100" b="1">
                <a:solidFill>
                  <a:srgbClr val="146B5F"/>
                </a:solidFill>
                <a:latin typeface="Arial"/>
                <a:ea typeface="Arial"/>
                <a:cs typeface="Arial"/>
              </a:rPr>
              <a:t>Does AI run the OS?</a:t>
            </a:r>
          </a:p>
        </p:txBody>
      </p:sp>
      <p:sp>
        <p:nvSpPr>
          <p:cNvPr id="7" name="text-7">
            <a:extLst xmlns:a="http://schemas.openxmlformats.org/drawingml/2006/main">
              <a:ext uri="{FF2B5EF4-FFF2-40B4-BE49-F238E27FC236}">
                <a16:creationId xmlns:a16="http://schemas.microsoft.com/office/drawing/2014/main" id="{E4A1572F-D185-472A-B6FB-87A010FA86AA}"/>
              </a:ext>
            </a:extLst>
          </p:cNvPr>
          <p:cNvSpPr>
            <a:spLocks xmlns:a="http://schemas.openxmlformats.org/drawingml/2006/main" noGrp="1"/>
          </p:cNvSpPr>
          <p:nvPr/>
        </p:nvSpPr>
        <p:spPr>
          <a:xfrm xmlns:a="http://schemas.openxmlformats.org/drawingml/2006/main">
            <a:off x="3524250" y="3876675"/>
            <a:ext cx="78867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2100" b="0">
                <a:solidFill>
                  <a:srgbClr val="122632"/>
                </a:solidFill>
                <a:latin typeface="Arial"/>
                <a:ea typeface="Arial"/>
                <a:cs typeface="Arial"/>
              </a:defRPr>
            </a:defPPr>
          </a:lstStyle>
          <a:p xmlns:a="http://schemas.openxmlformats.org/drawingml/2006/main">
            <a:pPr>
              <a:defRPr sz="2100" b="0">
                <a:solidFill>
                  <a:srgbClr val="122632"/>
                </a:solidFill>
                <a:latin typeface="Arial"/>
                <a:ea typeface="Arial"/>
                <a:cs typeface="Arial"/>
              </a:defRPr>
            </a:pPr>
            <a:r>
              <a:rPr sz="2100" b="0">
                <a:solidFill>
                  <a:srgbClr val="122632"/>
                </a:solidFill>
                <a:latin typeface="Arial"/>
                <a:ea typeface="Arial"/>
                <a:cs typeface="Arial"/>
              </a:rPr>
              <a:t>No. A model may propose a typed plan; trusted code checks and executes an allowed action.</a:t>
            </a:r>
          </a:p>
        </p:txBody>
      </p:sp>
      <p:sp>
        <p:nvSpPr>
          <p:cNvPr id="8" name="text-8">
            <a:extLst xmlns:a="http://schemas.openxmlformats.org/drawingml/2006/main">
              <a:ext uri="{FF2B5EF4-FFF2-40B4-BE49-F238E27FC236}">
                <a16:creationId xmlns:a16="http://schemas.microsoft.com/office/drawing/2014/main" id="{06F2E112-9517-4527-BEDB-32A5040714D4}"/>
              </a:ext>
            </a:extLst>
          </p:cNvPr>
          <p:cNvSpPr>
            <a:spLocks xmlns:a="http://schemas.openxmlformats.org/drawingml/2006/main" noGrp="1"/>
          </p:cNvSpPr>
          <p:nvPr/>
        </p:nvSpPr>
        <p:spPr>
          <a:xfrm xmlns:a="http://schemas.openxmlformats.org/drawingml/2006/main">
            <a:off x="609600" y="4905375"/>
            <a:ext cx="26670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2100" b="1">
                <a:solidFill>
                  <a:srgbClr val="146B5F"/>
                </a:solidFill>
                <a:latin typeface="Arial"/>
                <a:ea typeface="Arial"/>
                <a:cs typeface="Arial"/>
              </a:defRPr>
            </a:defPPr>
          </a:lstStyle>
          <a:p xmlns:a="http://schemas.openxmlformats.org/drawingml/2006/main">
            <a:pPr>
              <a:defRPr sz="2100" b="1">
                <a:solidFill>
                  <a:srgbClr val="146B5F"/>
                </a:solidFill>
                <a:latin typeface="Arial"/>
                <a:ea typeface="Arial"/>
                <a:cs typeface="Arial"/>
              </a:defRPr>
            </a:pPr>
            <a:r>
              <a:rPr sz="2100" b="1">
                <a:solidFill>
                  <a:srgbClr val="146B5F"/>
                </a:solidFill>
                <a:latin typeface="Arial"/>
                <a:ea typeface="Arial"/>
                <a:cs typeface="Arial"/>
              </a:rPr>
              <a:t>Is it formally verified?</a:t>
            </a:r>
          </a:p>
        </p:txBody>
      </p:sp>
      <p:sp>
        <p:nvSpPr>
          <p:cNvPr id="9" name="text-9">
            <a:extLst xmlns:a="http://schemas.openxmlformats.org/drawingml/2006/main">
              <a:ext uri="{FF2B5EF4-FFF2-40B4-BE49-F238E27FC236}">
                <a16:creationId xmlns:a16="http://schemas.microsoft.com/office/drawing/2014/main" id="{A1E2B78F-527F-44C5-A3A5-BDE4C5EF4130}"/>
              </a:ext>
            </a:extLst>
          </p:cNvPr>
          <p:cNvSpPr>
            <a:spLocks xmlns:a="http://schemas.openxmlformats.org/drawingml/2006/main" noGrp="1"/>
          </p:cNvSpPr>
          <p:nvPr/>
        </p:nvSpPr>
        <p:spPr>
          <a:xfrm xmlns:a="http://schemas.openxmlformats.org/drawingml/2006/main">
            <a:off x="3524250" y="4905375"/>
            <a:ext cx="78867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2100" b="0">
                <a:solidFill>
                  <a:srgbClr val="122632"/>
                </a:solidFill>
                <a:latin typeface="Arial"/>
                <a:ea typeface="Arial"/>
                <a:cs typeface="Arial"/>
              </a:defRPr>
            </a:defPPr>
          </a:lstStyle>
          <a:p xmlns:a="http://schemas.openxmlformats.org/drawingml/2006/main">
            <a:pPr>
              <a:defRPr sz="2100" b="0">
                <a:solidFill>
                  <a:srgbClr val="122632"/>
                </a:solidFill>
                <a:latin typeface="Arial"/>
                <a:ea typeface="Arial"/>
                <a:cs typeface="Arial"/>
              </a:defRPr>
            </a:pPr>
            <a:r>
              <a:rPr sz="2100" b="0">
                <a:solidFill>
                  <a:srgbClr val="122632"/>
                </a:solidFill>
                <a:latin typeface="Arial"/>
                <a:ea typeface="Arial"/>
                <a:cs typeface="Arial"/>
              </a:rPr>
              <a:t>No. Runtime policy checks and failure tests support the restricted prototype claims.</a:t>
            </a:r>
          </a:p>
        </p:txBody>
      </p:sp>
      <p:sp>
        <p:nvSpPr>
          <p:cNvPr id="10" name="text-10">
            <a:extLst xmlns:a="http://schemas.openxmlformats.org/drawingml/2006/main">
              <a:ext uri="{FF2B5EF4-FFF2-40B4-BE49-F238E27FC236}">
                <a16:creationId xmlns:a16="http://schemas.microsoft.com/office/drawing/2014/main" id="{58DCBD09-B0F8-410E-A352-C2B21448685E}"/>
              </a:ext>
            </a:extLst>
          </p:cNvPr>
          <p:cNvSpPr>
            <a:spLocks xmlns:a="http://schemas.openxmlformats.org/drawingml/2006/main" noGrp="1"/>
          </p:cNvSpPr>
          <p:nvPr/>
        </p:nvSpPr>
        <p:spPr>
          <a:xfrm xmlns:a="http://schemas.openxmlformats.org/drawingml/2006/main">
            <a:off x="609600" y="6486525"/>
            <a:ext cx="109728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1200" b="0">
                <a:solidFill>
                  <a:srgbClr val="58656A"/>
                </a:solidFill>
                <a:latin typeface="Arial"/>
                <a:ea typeface="Arial"/>
                <a:cs typeface="Arial"/>
              </a:defRPr>
            </a:defPPr>
          </a:lstStyle>
          <a:p xmlns:a="http://schemas.openxmlformats.org/drawingml/2006/main">
            <a:pPr>
              <a:defRPr sz="1200" b="0">
                <a:solidFill>
                  <a:srgbClr val="58656A"/>
                </a:solidFill>
                <a:latin typeface="Arial"/>
                <a:ea typeface="Arial"/>
                <a:cs typeface="Arial"/>
              </a:defRPr>
            </a:pPr>
            <a:r>
              <a:rPr sz="1200" b="0">
                <a:solidFill>
                  <a:srgbClr val="58656A"/>
                </a:solidFill>
                <a:latin typeface="Arial"/>
                <a:ea typeface="Arial"/>
                <a:cs typeface="Arial"/>
              </a:rPr>
              <a:t>23 / 24     Current limits include no SMP, guest networking, desktop, arbitrary loader or external exactly-once delivery.</a:t>
            </a:r>
          </a:p>
        </p:txBody>
      </p:sp>
    </p:spTree>
    <p:extLst>
      <p:ext uri="{BB962C8B-B14F-4D97-AF65-F5344CB8AC3E}">
        <p14:creationId xmlns:p14="http://schemas.microsoft.com/office/powerpoint/2010/main" val="904937603"/>
      </p:ext>
    </p:extLst>
  </p:cSld>
</p:sld>
</file>

<file path=ppt/slides/slide24.xml><?xml version="1.0" encoding="utf-8"?>
<p:sld xmlns:p="http://schemas.openxmlformats.org/presentationml/2006/main">
  <p:cSld>
    <p:bg>
      <p:bgPr>
        <a:solidFill xmlns:a="http://schemas.openxmlformats.org/drawingml/2006/main">
          <a:srgbClr val="F6F4EE"/>
        </a:solidFill>
      </p:bgPr>
    </p:bg>
    <p:spTree>
      <p:nvGrpSpPr>
        <p:cNvPr id="1" name=""/>
        <p:cNvGrpSpPr/>
        <p:nvPr/>
      </p:nvGrpSpPr>
      <p:grpSpPr>
        <a:xfrm xmlns:a="http://schemas.openxmlformats.org/drawingml/2006/main"/>
      </p:grpSpPr>
      <p:sp>
        <p:nvSpPr>
          <p:cNvPr id="15" name="text-1">
            <a:extLst xmlns:a="http://schemas.openxmlformats.org/drawingml/2006/main">
              <a:ext uri="{FF2B5EF4-FFF2-40B4-BE49-F238E27FC236}">
                <a16:creationId xmlns:a16="http://schemas.microsoft.com/office/drawing/2014/main" id="{C52A23AC-CD50-42A9-A01D-D4924E0E531E}"/>
              </a:ext>
            </a:extLst>
          </p:cNvPr>
          <p:cNvSpPr>
            <a:spLocks xmlns:a="http://schemas.openxmlformats.org/drawingml/2006/main" noGrp="1"/>
          </p:cNvSpPr>
          <p:nvPr/>
        </p:nvSpPr>
        <p:spPr>
          <a:xfrm xmlns:a="http://schemas.openxmlformats.org/drawingml/2006/main">
            <a:off x="609600" y="514350"/>
            <a:ext cx="109728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3300" b="1">
                <a:solidFill>
                  <a:srgbClr val="122632"/>
                </a:solidFill>
                <a:latin typeface="Arial"/>
                <a:ea typeface="Arial"/>
                <a:cs typeface="Arial"/>
              </a:defRPr>
            </a:defPPr>
          </a:lstStyle>
          <a:p xmlns:a="http://schemas.openxmlformats.org/drawingml/2006/main">
            <a:pPr>
              <a:defRPr sz="3300" b="1">
                <a:solidFill>
                  <a:srgbClr val="122632"/>
                </a:solidFill>
                <a:latin typeface="Arial"/>
                <a:ea typeface="Arial"/>
                <a:cs typeface="Arial"/>
              </a:defRPr>
            </a:pPr>
            <a:r>
              <a:rPr sz="3300" b="1">
                <a:solidFill>
                  <a:srgbClr val="122632"/>
                </a:solidFill>
                <a:latin typeface="Arial"/>
                <a:ea typeface="Arial"/>
                <a:cs typeface="Arial"/>
              </a:rPr>
              <a:t>References and reproducibility</a:t>
            </a:r>
          </a:p>
        </p:txBody>
      </p:sp>
      <p:sp>
        <p:nvSpPr>
          <p:cNvPr id="2" name="text-2">
            <a:extLst xmlns:a="http://schemas.openxmlformats.org/drawingml/2006/main">
              <a:ext uri="{FF2B5EF4-FFF2-40B4-BE49-F238E27FC236}">
                <a16:creationId xmlns:a16="http://schemas.microsoft.com/office/drawing/2014/main" id="{1BA31D09-FFC7-461D-8EFB-73B7FC81C5DC}"/>
              </a:ext>
            </a:extLst>
          </p:cNvPr>
          <p:cNvSpPr>
            <a:spLocks xmlns:a="http://schemas.openxmlformats.org/drawingml/2006/main" noGrp="1"/>
          </p:cNvSpPr>
          <p:nvPr/>
        </p:nvSpPr>
        <p:spPr>
          <a:xfrm xmlns:a="http://schemas.openxmlformats.org/drawingml/2006/main">
            <a:off x="609600" y="1695450"/>
            <a:ext cx="36195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2100" b="1">
                <a:solidFill>
                  <a:srgbClr val="146B5F"/>
                </a:solidFill>
                <a:latin typeface="Arial"/>
                <a:ea typeface="Arial"/>
                <a:cs typeface="Arial"/>
              </a:defRPr>
            </a:defPPr>
          </a:lstStyle>
          <a:p xmlns:a="http://schemas.openxmlformats.org/drawingml/2006/main">
            <a:pPr>
              <a:defRPr sz="2100" b="1">
                <a:solidFill>
                  <a:srgbClr val="146B5F"/>
                </a:solidFill>
                <a:latin typeface="Arial"/>
                <a:ea typeface="Arial"/>
                <a:cs typeface="Arial"/>
              </a:defRPr>
            </a:pPr>
            <a:r>
              <a:rPr sz="2100" b="1">
                <a:solidFill>
                  <a:srgbClr val="146B5F"/>
                </a:solidFill>
                <a:latin typeface="Arial"/>
                <a:ea typeface="Arial"/>
                <a:cs typeface="Arial"/>
              </a:rPr>
              <a:t>seL4</a:t>
            </a:r>
          </a:p>
        </p:txBody>
      </p:sp>
      <p:sp>
        <p:nvSpPr>
          <p:cNvPr id="3" name="text-3">
            <a:extLst xmlns:a="http://schemas.openxmlformats.org/drawingml/2006/main">
              <a:ext uri="{FF2B5EF4-FFF2-40B4-BE49-F238E27FC236}">
                <a16:creationId xmlns:a16="http://schemas.microsoft.com/office/drawing/2014/main" id="{CA1991FE-F544-4F8C-985D-0F984C56C5D7}"/>
              </a:ext>
            </a:extLst>
          </p:cNvPr>
          <p:cNvSpPr>
            <a:spLocks xmlns:a="http://schemas.openxmlformats.org/drawingml/2006/main" noGrp="1"/>
          </p:cNvSpPr>
          <p:nvPr/>
        </p:nvSpPr>
        <p:spPr>
          <a:xfrm xmlns:a="http://schemas.openxmlformats.org/drawingml/2006/main">
            <a:off x="4286250" y="1695450"/>
            <a:ext cx="72390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2025" b="0">
                <a:solidFill>
                  <a:srgbClr val="122632"/>
                </a:solidFill>
                <a:latin typeface="Arial"/>
                <a:ea typeface="Arial"/>
                <a:cs typeface="Arial"/>
              </a:defRPr>
            </a:defPPr>
          </a:lstStyle>
          <a:p xmlns:a="http://schemas.openxmlformats.org/drawingml/2006/main">
            <a:pPr>
              <a:defRPr sz="2025" b="0">
                <a:solidFill>
                  <a:srgbClr val="122632"/>
                </a:solidFill>
                <a:latin typeface="Arial"/>
                <a:ea typeface="Arial"/>
                <a:cs typeface="Arial"/>
              </a:defRPr>
            </a:pPr>
            <a:r>
              <a:rPr sz="2025" b="0">
                <a:solidFill>
                  <a:srgbClr val="122632"/>
                </a:solidFill>
                <a:latin typeface="Arial"/>
                <a:ea typeface="Arial"/>
                <a:cs typeface="Arial"/>
              </a:rPr>
              <a:t>Klein et al., SOSP 2009</a:t>
            </a:r>
          </a:p>
        </p:txBody>
      </p:sp>
      <p:sp>
        <p:nvSpPr>
          <p:cNvPr id="4" name="text-4">
            <a:extLst xmlns:a="http://schemas.openxmlformats.org/drawingml/2006/main">
              <a:ext uri="{FF2B5EF4-FFF2-40B4-BE49-F238E27FC236}">
                <a16:creationId xmlns:a16="http://schemas.microsoft.com/office/drawing/2014/main" id="{3417AE74-8EEE-47EC-96A8-DD1E1C8EB248}"/>
              </a:ext>
            </a:extLst>
          </p:cNvPr>
          <p:cNvSpPr>
            <a:spLocks xmlns:a="http://schemas.openxmlformats.org/drawingml/2006/main" noGrp="1"/>
          </p:cNvSpPr>
          <p:nvPr/>
        </p:nvSpPr>
        <p:spPr>
          <a:xfrm xmlns:a="http://schemas.openxmlformats.org/drawingml/2006/main">
            <a:off x="609600" y="2400300"/>
            <a:ext cx="36195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2100" b="1">
                <a:solidFill>
                  <a:srgbClr val="146B5F"/>
                </a:solidFill>
                <a:latin typeface="Arial"/>
                <a:ea typeface="Arial"/>
                <a:cs typeface="Arial"/>
              </a:defRPr>
            </a:defPPr>
          </a:lstStyle>
          <a:p xmlns:a="http://schemas.openxmlformats.org/drawingml/2006/main">
            <a:pPr>
              <a:defRPr sz="2100" b="1">
                <a:solidFill>
                  <a:srgbClr val="146B5F"/>
                </a:solidFill>
                <a:latin typeface="Arial"/>
                <a:ea typeface="Arial"/>
                <a:cs typeface="Arial"/>
              </a:defRPr>
            </a:pPr>
            <a:r>
              <a:rPr sz="2100" b="1">
                <a:solidFill>
                  <a:srgbClr val="146B5F"/>
                </a:solidFill>
                <a:latin typeface="Arial"/>
                <a:ea typeface="Arial"/>
                <a:cs typeface="Arial"/>
              </a:rPr>
              <a:t>Theseus</a:t>
            </a:r>
          </a:p>
        </p:txBody>
      </p:sp>
      <p:sp>
        <p:nvSpPr>
          <p:cNvPr id="5" name="text-5">
            <a:extLst xmlns:a="http://schemas.openxmlformats.org/drawingml/2006/main">
              <a:ext uri="{FF2B5EF4-FFF2-40B4-BE49-F238E27FC236}">
                <a16:creationId xmlns:a16="http://schemas.microsoft.com/office/drawing/2014/main" id="{0AF754AB-686D-4DFD-91CC-0832F2944967}"/>
              </a:ext>
            </a:extLst>
          </p:cNvPr>
          <p:cNvSpPr>
            <a:spLocks xmlns:a="http://schemas.openxmlformats.org/drawingml/2006/main" noGrp="1"/>
          </p:cNvSpPr>
          <p:nvPr/>
        </p:nvSpPr>
        <p:spPr>
          <a:xfrm xmlns:a="http://schemas.openxmlformats.org/drawingml/2006/main">
            <a:off x="4286250" y="2400300"/>
            <a:ext cx="72390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2025" b="0">
                <a:solidFill>
                  <a:srgbClr val="122632"/>
                </a:solidFill>
                <a:latin typeface="Arial"/>
                <a:ea typeface="Arial"/>
                <a:cs typeface="Arial"/>
              </a:defRPr>
            </a:defPPr>
          </a:lstStyle>
          <a:p xmlns:a="http://schemas.openxmlformats.org/drawingml/2006/main">
            <a:pPr>
              <a:defRPr sz="2025" b="0">
                <a:solidFill>
                  <a:srgbClr val="122632"/>
                </a:solidFill>
                <a:latin typeface="Arial"/>
                <a:ea typeface="Arial"/>
                <a:cs typeface="Arial"/>
              </a:defRPr>
            </a:pPr>
            <a:r>
              <a:rPr sz="2025" b="0">
                <a:solidFill>
                  <a:srgbClr val="122632"/>
                </a:solidFill>
                <a:latin typeface="Arial"/>
                <a:ea typeface="Arial"/>
                <a:cs typeface="Arial"/>
              </a:rPr>
              <a:t>Boos et al., OSDI 2020</a:t>
            </a:r>
          </a:p>
        </p:txBody>
      </p:sp>
      <p:sp>
        <p:nvSpPr>
          <p:cNvPr id="6" name="text-6">
            <a:extLst xmlns:a="http://schemas.openxmlformats.org/drawingml/2006/main">
              <a:ext uri="{FF2B5EF4-FFF2-40B4-BE49-F238E27FC236}">
                <a16:creationId xmlns:a16="http://schemas.microsoft.com/office/drawing/2014/main" id="{A5AAE0C6-3BBF-447B-924F-27458B0419E1}"/>
              </a:ext>
            </a:extLst>
          </p:cNvPr>
          <p:cNvSpPr>
            <a:spLocks xmlns:a="http://schemas.openxmlformats.org/drawingml/2006/main" noGrp="1"/>
          </p:cNvSpPr>
          <p:nvPr/>
        </p:nvSpPr>
        <p:spPr>
          <a:xfrm xmlns:a="http://schemas.openxmlformats.org/drawingml/2006/main">
            <a:off x="609600" y="3105150"/>
            <a:ext cx="36195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2100" b="1">
                <a:solidFill>
                  <a:srgbClr val="146B5F"/>
                </a:solidFill>
                <a:latin typeface="Arial"/>
                <a:ea typeface="Arial"/>
                <a:cs typeface="Arial"/>
              </a:defRPr>
            </a:defPPr>
          </a:lstStyle>
          <a:p xmlns:a="http://schemas.openxmlformats.org/drawingml/2006/main">
            <a:pPr>
              <a:defRPr sz="2100" b="1">
                <a:solidFill>
                  <a:srgbClr val="146B5F"/>
                </a:solidFill>
                <a:latin typeface="Arial"/>
                <a:ea typeface="Arial"/>
                <a:cs typeface="Arial"/>
              </a:defRPr>
            </a:pPr>
            <a:r>
              <a:rPr sz="2100" b="1">
                <a:solidFill>
                  <a:srgbClr val="146B5F"/>
                </a:solidFill>
                <a:latin typeface="Arial"/>
                <a:ea typeface="Arial"/>
                <a:cs typeface="Arial"/>
              </a:rPr>
              <a:t>RIFL</a:t>
            </a:r>
          </a:p>
        </p:txBody>
      </p:sp>
      <p:sp>
        <p:nvSpPr>
          <p:cNvPr id="7" name="text-7">
            <a:extLst xmlns:a="http://schemas.openxmlformats.org/drawingml/2006/main">
              <a:ext uri="{FF2B5EF4-FFF2-40B4-BE49-F238E27FC236}">
                <a16:creationId xmlns:a16="http://schemas.microsoft.com/office/drawing/2014/main" id="{6F65498C-31E8-4F26-905F-8B3EA41E8D96}"/>
              </a:ext>
            </a:extLst>
          </p:cNvPr>
          <p:cNvSpPr>
            <a:spLocks xmlns:a="http://schemas.openxmlformats.org/drawingml/2006/main" noGrp="1"/>
          </p:cNvSpPr>
          <p:nvPr/>
        </p:nvSpPr>
        <p:spPr>
          <a:xfrm xmlns:a="http://schemas.openxmlformats.org/drawingml/2006/main">
            <a:off x="4286250" y="3105150"/>
            <a:ext cx="72390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2025" b="0">
                <a:solidFill>
                  <a:srgbClr val="122632"/>
                </a:solidFill>
                <a:latin typeface="Arial"/>
                <a:ea typeface="Arial"/>
                <a:cs typeface="Arial"/>
              </a:defRPr>
            </a:defPPr>
          </a:lstStyle>
          <a:p xmlns:a="http://schemas.openxmlformats.org/drawingml/2006/main">
            <a:pPr>
              <a:defRPr sz="2025" b="0">
                <a:solidFill>
                  <a:srgbClr val="122632"/>
                </a:solidFill>
                <a:latin typeface="Arial"/>
                <a:ea typeface="Arial"/>
                <a:cs typeface="Arial"/>
              </a:defRPr>
            </a:pPr>
            <a:r>
              <a:rPr sz="2025" b="0">
                <a:solidFill>
                  <a:srgbClr val="122632"/>
                </a:solidFill>
                <a:latin typeface="Arial"/>
                <a:ea typeface="Arial"/>
                <a:cs typeface="Arial"/>
              </a:rPr>
              <a:t>Lee et al., SOSP 2015</a:t>
            </a:r>
          </a:p>
        </p:txBody>
      </p:sp>
      <p:sp>
        <p:nvSpPr>
          <p:cNvPr id="8" name="text-8">
            <a:extLst xmlns:a="http://schemas.openxmlformats.org/drawingml/2006/main">
              <a:ext uri="{FF2B5EF4-FFF2-40B4-BE49-F238E27FC236}">
                <a16:creationId xmlns:a16="http://schemas.microsoft.com/office/drawing/2014/main" id="{0CA61C4A-B7CE-4AEC-BFF9-A0609FA9930B}"/>
              </a:ext>
            </a:extLst>
          </p:cNvPr>
          <p:cNvSpPr>
            <a:spLocks xmlns:a="http://schemas.openxmlformats.org/drawingml/2006/main" noGrp="1"/>
          </p:cNvSpPr>
          <p:nvPr/>
        </p:nvSpPr>
        <p:spPr>
          <a:xfrm xmlns:a="http://schemas.openxmlformats.org/drawingml/2006/main">
            <a:off x="609600" y="3810000"/>
            <a:ext cx="36195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2100" b="1">
                <a:solidFill>
                  <a:srgbClr val="146B5F"/>
                </a:solidFill>
                <a:latin typeface="Arial"/>
                <a:ea typeface="Arial"/>
                <a:cs typeface="Arial"/>
              </a:defRPr>
            </a:defPPr>
          </a:lstStyle>
          <a:p xmlns:a="http://schemas.openxmlformats.org/drawingml/2006/main">
            <a:pPr>
              <a:defRPr sz="2100" b="1">
                <a:solidFill>
                  <a:srgbClr val="146B5F"/>
                </a:solidFill>
                <a:latin typeface="Arial"/>
                <a:ea typeface="Arial"/>
                <a:cs typeface="Arial"/>
              </a:defRPr>
            </a:pPr>
            <a:r>
              <a:rPr sz="2100" b="1">
                <a:solidFill>
                  <a:srgbClr val="146B5F"/>
                </a:solidFill>
                <a:latin typeface="Arial"/>
                <a:ea typeface="Arial"/>
                <a:cs typeface="Arial"/>
              </a:rPr>
              <a:t>CrashMonkey / B3</a:t>
            </a:r>
          </a:p>
        </p:txBody>
      </p:sp>
      <p:sp>
        <p:nvSpPr>
          <p:cNvPr id="9" name="text-9">
            <a:extLst xmlns:a="http://schemas.openxmlformats.org/drawingml/2006/main">
              <a:ext uri="{FF2B5EF4-FFF2-40B4-BE49-F238E27FC236}">
                <a16:creationId xmlns:a16="http://schemas.microsoft.com/office/drawing/2014/main" id="{1C36E80A-5A50-4E06-86C6-E4FDFF25DD75}"/>
              </a:ext>
            </a:extLst>
          </p:cNvPr>
          <p:cNvSpPr>
            <a:spLocks xmlns:a="http://schemas.openxmlformats.org/drawingml/2006/main" noGrp="1"/>
          </p:cNvSpPr>
          <p:nvPr/>
        </p:nvSpPr>
        <p:spPr>
          <a:xfrm xmlns:a="http://schemas.openxmlformats.org/drawingml/2006/main">
            <a:off x="4286250" y="3810000"/>
            <a:ext cx="72390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2025" b="0">
                <a:solidFill>
                  <a:srgbClr val="122632"/>
                </a:solidFill>
                <a:latin typeface="Arial"/>
                <a:ea typeface="Arial"/>
                <a:cs typeface="Arial"/>
              </a:defRPr>
            </a:defPPr>
          </a:lstStyle>
          <a:p xmlns:a="http://schemas.openxmlformats.org/drawingml/2006/main">
            <a:pPr>
              <a:defRPr sz="2025" b="0">
                <a:solidFill>
                  <a:srgbClr val="122632"/>
                </a:solidFill>
                <a:latin typeface="Arial"/>
                <a:ea typeface="Arial"/>
                <a:cs typeface="Arial"/>
              </a:defRPr>
            </a:pPr>
            <a:r>
              <a:rPr sz="2025" b="0">
                <a:solidFill>
                  <a:srgbClr val="122632"/>
                </a:solidFill>
                <a:latin typeface="Arial"/>
                <a:ea typeface="Arial"/>
                <a:cs typeface="Arial"/>
              </a:rPr>
              <a:t>Mohan et al., OSDI 2018</a:t>
            </a:r>
          </a:p>
        </p:txBody>
      </p:sp>
      <p:sp>
        <p:nvSpPr>
          <p:cNvPr id="10" name="text-10">
            <a:extLst xmlns:a="http://schemas.openxmlformats.org/drawingml/2006/main">
              <a:ext uri="{FF2B5EF4-FFF2-40B4-BE49-F238E27FC236}">
                <a16:creationId xmlns:a16="http://schemas.microsoft.com/office/drawing/2014/main" id="{CF655529-0D07-404D-9330-86DDDD0C4B9D}"/>
              </a:ext>
            </a:extLst>
          </p:cNvPr>
          <p:cNvSpPr>
            <a:spLocks xmlns:a="http://schemas.openxmlformats.org/drawingml/2006/main" noGrp="1"/>
          </p:cNvSpPr>
          <p:nvPr/>
        </p:nvSpPr>
        <p:spPr>
          <a:xfrm xmlns:a="http://schemas.openxmlformats.org/drawingml/2006/main">
            <a:off x="609600" y="4514850"/>
            <a:ext cx="36195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2100" b="1">
                <a:solidFill>
                  <a:srgbClr val="146B5F"/>
                </a:solidFill>
                <a:latin typeface="Arial"/>
                <a:ea typeface="Arial"/>
                <a:cs typeface="Arial"/>
              </a:defRPr>
            </a:defPPr>
          </a:lstStyle>
          <a:p xmlns:a="http://schemas.openxmlformats.org/drawingml/2006/main">
            <a:pPr>
              <a:defRPr sz="2100" b="1">
                <a:solidFill>
                  <a:srgbClr val="146B5F"/>
                </a:solidFill>
                <a:latin typeface="Arial"/>
                <a:ea typeface="Arial"/>
                <a:cs typeface="Arial"/>
              </a:defRPr>
            </a:pPr>
            <a:r>
              <a:rPr sz="2100" b="1">
                <a:solidFill>
                  <a:srgbClr val="146B5F"/>
                </a:solidFill>
                <a:latin typeface="Arial"/>
                <a:ea typeface="Arial"/>
                <a:cs typeface="Arial"/>
              </a:rPr>
              <a:t>LLM-Modulo</a:t>
            </a:r>
          </a:p>
        </p:txBody>
      </p:sp>
      <p:sp>
        <p:nvSpPr>
          <p:cNvPr id="11" name="text-11">
            <a:extLst xmlns:a="http://schemas.openxmlformats.org/drawingml/2006/main">
              <a:ext uri="{FF2B5EF4-FFF2-40B4-BE49-F238E27FC236}">
                <a16:creationId xmlns:a16="http://schemas.microsoft.com/office/drawing/2014/main" id="{80C862BC-D0C6-41A6-9574-ABAAEA8721C7}"/>
              </a:ext>
            </a:extLst>
          </p:cNvPr>
          <p:cNvSpPr>
            <a:spLocks xmlns:a="http://schemas.openxmlformats.org/drawingml/2006/main" noGrp="1"/>
          </p:cNvSpPr>
          <p:nvPr/>
        </p:nvSpPr>
        <p:spPr>
          <a:xfrm xmlns:a="http://schemas.openxmlformats.org/drawingml/2006/main">
            <a:off x="4286250" y="4514850"/>
            <a:ext cx="72390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2025" b="0">
                <a:solidFill>
                  <a:srgbClr val="122632"/>
                </a:solidFill>
                <a:latin typeface="Arial"/>
                <a:ea typeface="Arial"/>
                <a:cs typeface="Arial"/>
              </a:defRPr>
            </a:defPPr>
          </a:lstStyle>
          <a:p xmlns:a="http://schemas.openxmlformats.org/drawingml/2006/main">
            <a:pPr>
              <a:defRPr sz="2025" b="0">
                <a:solidFill>
                  <a:srgbClr val="122632"/>
                </a:solidFill>
                <a:latin typeface="Arial"/>
                <a:ea typeface="Arial"/>
                <a:cs typeface="Arial"/>
              </a:defRPr>
            </a:pPr>
            <a:r>
              <a:rPr sz="2025" b="0">
                <a:solidFill>
                  <a:srgbClr val="122632"/>
                </a:solidFill>
                <a:latin typeface="Arial"/>
                <a:ea typeface="Arial"/>
                <a:cs typeface="Arial"/>
              </a:rPr>
              <a:t>Gundawar et al., arXiv 2024</a:t>
            </a:r>
          </a:p>
        </p:txBody>
      </p:sp>
      <p:sp>
        <p:nvSpPr>
          <p:cNvPr id="12" name="text-12">
            <a:extLst xmlns:a="http://schemas.openxmlformats.org/drawingml/2006/main">
              <a:ext uri="{FF2B5EF4-FFF2-40B4-BE49-F238E27FC236}">
                <a16:creationId xmlns:a16="http://schemas.microsoft.com/office/drawing/2014/main" id="{AEFD65F8-2B22-4590-B11E-6C59A75C4A15}"/>
              </a:ext>
            </a:extLst>
          </p:cNvPr>
          <p:cNvSpPr>
            <a:spLocks xmlns:a="http://schemas.openxmlformats.org/drawingml/2006/main" noGrp="1"/>
          </p:cNvSpPr>
          <p:nvPr/>
        </p:nvSpPr>
        <p:spPr>
          <a:xfrm xmlns:a="http://schemas.openxmlformats.org/drawingml/2006/main">
            <a:off x="609600" y="5219700"/>
            <a:ext cx="36195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2100" b="1">
                <a:solidFill>
                  <a:srgbClr val="146B5F"/>
                </a:solidFill>
                <a:latin typeface="Arial"/>
                <a:ea typeface="Arial"/>
                <a:cs typeface="Arial"/>
              </a:defRPr>
            </a:defPPr>
          </a:lstStyle>
          <a:p xmlns:a="http://schemas.openxmlformats.org/drawingml/2006/main">
            <a:pPr>
              <a:defRPr sz="2100" b="1">
                <a:solidFill>
                  <a:srgbClr val="146B5F"/>
                </a:solidFill>
                <a:latin typeface="Arial"/>
                <a:ea typeface="Arial"/>
                <a:cs typeface="Arial"/>
              </a:defRPr>
            </a:pPr>
            <a:r>
              <a:rPr sz="2100" b="1">
                <a:solidFill>
                  <a:srgbClr val="146B5F"/>
                </a:solidFill>
                <a:latin typeface="Arial"/>
                <a:ea typeface="Arial"/>
                <a:cs typeface="Arial"/>
              </a:rPr>
              <a:t>Project evidence</a:t>
            </a:r>
          </a:p>
        </p:txBody>
      </p:sp>
      <p:sp>
        <p:nvSpPr>
          <p:cNvPr id="13" name="text-13">
            <a:extLst xmlns:a="http://schemas.openxmlformats.org/drawingml/2006/main">
              <a:ext uri="{FF2B5EF4-FFF2-40B4-BE49-F238E27FC236}">
                <a16:creationId xmlns:a16="http://schemas.microsoft.com/office/drawing/2014/main" id="{45919027-E8A8-4A6F-A26E-BE9D3381F5DF}"/>
              </a:ext>
            </a:extLst>
          </p:cNvPr>
          <p:cNvSpPr>
            <a:spLocks xmlns:a="http://schemas.openxmlformats.org/drawingml/2006/main" noGrp="1"/>
          </p:cNvSpPr>
          <p:nvPr/>
        </p:nvSpPr>
        <p:spPr>
          <a:xfrm xmlns:a="http://schemas.openxmlformats.org/drawingml/2006/main">
            <a:off x="4286250" y="5219700"/>
            <a:ext cx="72390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2025" b="0">
                <a:solidFill>
                  <a:srgbClr val="122632"/>
                </a:solidFill>
                <a:latin typeface="Arial"/>
                <a:ea typeface="Arial"/>
                <a:cs typeface="Arial"/>
              </a:defRPr>
            </a:defPPr>
          </a:lstStyle>
          <a:p xmlns:a="http://schemas.openxmlformats.org/drawingml/2006/main">
            <a:pPr>
              <a:defRPr sz="2025" b="0">
                <a:solidFill>
                  <a:srgbClr val="122632"/>
                </a:solidFill>
                <a:latin typeface="Arial"/>
                <a:ea typeface="Arial"/>
                <a:cs typeface="Arial"/>
              </a:defRPr>
            </a:pPr>
            <a:r>
              <a:rPr sz="2025" b="0">
                <a:solidFill>
                  <a:srgbClr val="122632"/>
                </a:solidFill>
                <a:latin typeface="Arial"/>
                <a:ea typeface="Arial"/>
                <a:cs typeface="Arial"/>
              </a:rPr>
              <a:t>Source, recorded logs, build pins and cloud runbook</a:t>
            </a:r>
          </a:p>
        </p:txBody>
      </p:sp>
      <p:sp>
        <p:nvSpPr>
          <p:cNvPr id="14" name="text-14">
            <a:extLst xmlns:a="http://schemas.openxmlformats.org/drawingml/2006/main">
              <a:ext uri="{FF2B5EF4-FFF2-40B4-BE49-F238E27FC236}">
                <a16:creationId xmlns:a16="http://schemas.microsoft.com/office/drawing/2014/main" id="{5F4E840B-F5B4-498A-8BD7-038049030927}"/>
              </a:ext>
            </a:extLst>
          </p:cNvPr>
          <p:cNvSpPr>
            <a:spLocks xmlns:a="http://schemas.openxmlformats.org/drawingml/2006/main" noGrp="1"/>
          </p:cNvSpPr>
          <p:nvPr/>
        </p:nvSpPr>
        <p:spPr>
          <a:xfrm xmlns:a="http://schemas.openxmlformats.org/drawingml/2006/main">
            <a:off x="609600" y="6486525"/>
            <a:ext cx="109728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1200" b="0">
                <a:solidFill>
                  <a:srgbClr val="58656A"/>
                </a:solidFill>
                <a:latin typeface="Arial"/>
                <a:ea typeface="Arial"/>
                <a:cs typeface="Arial"/>
              </a:defRPr>
            </a:defPPr>
          </a:lstStyle>
          <a:p xmlns:a="http://schemas.openxmlformats.org/drawingml/2006/main">
            <a:pPr>
              <a:defRPr sz="1200" b="0">
                <a:solidFill>
                  <a:srgbClr val="58656A"/>
                </a:solidFill>
                <a:latin typeface="Arial"/>
                <a:ea typeface="Arial"/>
                <a:cs typeface="Arial"/>
              </a:defRPr>
            </a:pPr>
            <a:r>
              <a:rPr sz="1200" b="0">
                <a:solidFill>
                  <a:srgbClr val="58656A"/>
                </a:solidFill>
                <a:latin typeface="Arial"/>
                <a:ea typeface="Arial"/>
                <a:cs typeface="Arial"/>
              </a:rPr>
              <a:t>24 / 24     Full paper links, source paths and evidence identities appear in slide notes and the review guide.</a:t>
            </a:r>
          </a:p>
        </p:txBody>
      </p:sp>
    </p:spTree>
    <p:extLst>
      <p:ext uri="{BB962C8B-B14F-4D97-AF65-F5344CB8AC3E}">
        <p14:creationId xmlns:p14="http://schemas.microsoft.com/office/powerpoint/2010/main" val="1449766665"/>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2026-10-09T07:35:08.1270000Z</dcterms:created>
  <dcterms:modified xsi:type="dcterms:W3CDTF">2026-10-09T07:35:08.1270000Z</dcterms:modified>
</coreProperties>
</file>