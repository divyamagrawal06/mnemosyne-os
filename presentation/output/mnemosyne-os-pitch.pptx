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0b7518f7b24477" /><Relationship Type="http://schemas.openxmlformats.org/officeDocument/2006/relationships/extended-properties" Target="/docProps/app.xml" Id="R36bcf57e148d43ac" /><Relationship Type="http://schemas.openxmlformats.org/officeDocument/2006/relationships/officeDocument" Target="/ppt/presentation.xml" Id="R2cfbba0aef3d4cdc" /></Relationships>
</file>

<file path=ppt/presentation.xml><?xml version="1.0" encoding="utf-8"?>
<p:presentation xmlns:p="http://schemas.openxmlformats.org/presentationml/2006/main">
  <p:sldMasterIdLst>
    <p:sldMasterId xmlns:r="http://schemas.openxmlformats.org/officeDocument/2006/relationships" id="2147483648" r:id="Rad769d835a6c4676"/>
  </p:sldMasterIdLst>
  <p:notesMasterIdLst>
    <p:notesMasterId xmlns:r="http://schemas.openxmlformats.org/officeDocument/2006/relationships" r:id="R88684515fd724ea8"/>
  </p:notesMasterIdLst>
  <p:sldIdLst>
    <p:sldId xmlns:r="http://schemas.openxmlformats.org/officeDocument/2006/relationships" id="256" r:id="R277f632221044d61"/>
    <p:sldId xmlns:r="http://schemas.openxmlformats.org/officeDocument/2006/relationships" id="257" r:id="Rc20bd272e41145e1"/>
    <p:sldId xmlns:r="http://schemas.openxmlformats.org/officeDocument/2006/relationships" id="258" r:id="Rea8b3edcebfc436d"/>
    <p:sldId xmlns:r="http://schemas.openxmlformats.org/officeDocument/2006/relationships" id="259" r:id="Rece058c732154f7a"/>
    <p:sldId xmlns:r="http://schemas.openxmlformats.org/officeDocument/2006/relationships" id="260" r:id="Rb08afde020874aec"/>
    <p:sldId xmlns:r="http://schemas.openxmlformats.org/officeDocument/2006/relationships" id="261" r:id="Rb9745f4be2694136"/>
    <p:sldId xmlns:r="http://schemas.openxmlformats.org/officeDocument/2006/relationships" id="262" r:id="Rbc61003eb6ec483e"/>
    <p:sldId xmlns:r="http://schemas.openxmlformats.org/officeDocument/2006/relationships" id="263" r:id="Rf846d3bcfa004d97"/>
    <p:sldId xmlns:r="http://schemas.openxmlformats.org/officeDocument/2006/relationships" id="264" r:id="R901283d57f6a40c5"/>
    <p:sldId xmlns:r="http://schemas.openxmlformats.org/officeDocument/2006/relationships" id="265" r:id="Ra06de69f92f946da"/>
    <p:sldId xmlns:r="http://schemas.openxmlformats.org/officeDocument/2006/relationships" id="266" r:id="Rfc7df69206254373"/>
    <p:sldId xmlns:r="http://schemas.openxmlformats.org/officeDocument/2006/relationships" id="267" r:id="Re9e4ecf6c0924ef6"/>
    <p:sldId xmlns:r="http://schemas.openxmlformats.org/officeDocument/2006/relationships" id="268" r:id="R3a90df0161704a55"/>
    <p:sldId xmlns:r="http://schemas.openxmlformats.org/officeDocument/2006/relationships" id="269" r:id="R21e863b384f74074"/>
    <p:sldId xmlns:r="http://schemas.openxmlformats.org/officeDocument/2006/relationships" id="270" r:id="Rfa5357f67e3b4113"/>
    <p:sldId xmlns:r="http://schemas.openxmlformats.org/officeDocument/2006/relationships" id="271" r:id="Re692b4a647c946a8"/>
    <p:sldId xmlns:r="http://schemas.openxmlformats.org/officeDocument/2006/relationships" id="272" r:id="R9287a87e88604429"/>
    <p:sldId xmlns:r="http://schemas.openxmlformats.org/officeDocument/2006/relationships" id="273" r:id="R5863739646404257"/>
    <p:sldId xmlns:r="http://schemas.openxmlformats.org/officeDocument/2006/relationships" id="274" r:id="R8906933161ea4505"/>
    <p:sldId xmlns:r="http://schemas.openxmlformats.org/officeDocument/2006/relationships" id="275" r:id="R65eae293ba1e4619"/>
    <p:sldId xmlns:r="http://schemas.openxmlformats.org/officeDocument/2006/relationships" id="276" r:id="Raadc8b4f38be44ca"/>
    <p:sldId xmlns:r="http://schemas.openxmlformats.org/officeDocument/2006/relationships" id="277" r:id="R19558b43db3d40e7"/>
    <p:sldId xmlns:r="http://schemas.openxmlformats.org/officeDocument/2006/relationships" id="278" r:id="R56dd470df7634f95"/>
    <p:sldId xmlns:r="http://schemas.openxmlformats.org/officeDocument/2006/relationships" id="279" r:id="R2d01086962684d3f"/>
    <p:sldId xmlns:r="http://schemas.openxmlformats.org/officeDocument/2006/relationships" id="280" r:id="R5afcae150e524bf5"/>
    <p:sldId xmlns:r="http://schemas.openxmlformats.org/officeDocument/2006/relationships" id="281" r:id="Rcf02c95deb8a4f7e"/>
    <p:sldId xmlns:r="http://schemas.openxmlformats.org/officeDocument/2006/relationships" id="282" r:id="R43400719b5f7418f"/>
    <p:sldId xmlns:r="http://schemas.openxmlformats.org/officeDocument/2006/relationships" id="283" r:id="R1709fd4cb2cd4f92"/>
    <p:sldId xmlns:r="http://schemas.openxmlformats.org/officeDocument/2006/relationships" id="284" r:id="Rc53664ffb8114cea"/>
    <p:sldId xmlns:r="http://schemas.openxmlformats.org/officeDocument/2006/relationships" id="285" r:id="R25ed91b6c8a74c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8e8d5207bb4ae8" /><Relationship Type="http://schemas.openxmlformats.org/officeDocument/2006/relationships/slideMaster" Target="/ppt/slideMasters/slideMaster1.xml" Id="Rad769d835a6c4676" /><Relationship Type="http://schemas.openxmlformats.org/officeDocument/2006/relationships/notesMaster" Target="/ppt/notesMasters/notesMaster1.xml" Id="R88684515fd724ea8" /><Relationship Type="http://schemas.openxmlformats.org/officeDocument/2006/relationships/presProps" Target="/ppt/presProps.xml" Id="Rff3aa00579844903" /><Relationship Type="http://schemas.openxmlformats.org/officeDocument/2006/relationships/tableStyles" Target="/ppt/tableStyles.xml" Id="Rbb53e276972340f5" /><Relationship Type="http://schemas.openxmlformats.org/officeDocument/2006/relationships/slide" Target="/ppt/slides/slide1.xml" Id="R277f632221044d61" /><Relationship Type="http://schemas.openxmlformats.org/officeDocument/2006/relationships/slide" Target="/ppt/slides/slide2.xml" Id="Rc20bd272e41145e1" /><Relationship Type="http://schemas.openxmlformats.org/officeDocument/2006/relationships/slide" Target="/ppt/slides/slide3.xml" Id="Rea8b3edcebfc436d" /><Relationship Type="http://schemas.openxmlformats.org/officeDocument/2006/relationships/slide" Target="/ppt/slides/slide4.xml" Id="Rece058c732154f7a" /><Relationship Type="http://schemas.openxmlformats.org/officeDocument/2006/relationships/slide" Target="/ppt/slides/slide5.xml" Id="Rb08afde020874aec" /><Relationship Type="http://schemas.openxmlformats.org/officeDocument/2006/relationships/slide" Target="/ppt/slides/slide6.xml" Id="Rb9745f4be2694136" /><Relationship Type="http://schemas.openxmlformats.org/officeDocument/2006/relationships/slide" Target="/ppt/slides/slide7.xml" Id="Rbc61003eb6ec483e" /><Relationship Type="http://schemas.openxmlformats.org/officeDocument/2006/relationships/slide" Target="/ppt/slides/slide8.xml" Id="Rf846d3bcfa004d97" /><Relationship Type="http://schemas.openxmlformats.org/officeDocument/2006/relationships/slide" Target="/ppt/slides/slide9.xml" Id="R901283d57f6a40c5" /><Relationship Type="http://schemas.openxmlformats.org/officeDocument/2006/relationships/slide" Target="/ppt/slides/slide10.xml" Id="Ra06de69f92f946da" /><Relationship Type="http://schemas.openxmlformats.org/officeDocument/2006/relationships/slide" Target="/ppt/slides/slide11.xml" Id="Rfc7df69206254373" /><Relationship Type="http://schemas.openxmlformats.org/officeDocument/2006/relationships/slide" Target="/ppt/slides/slide12.xml" Id="Re9e4ecf6c0924ef6" /><Relationship Type="http://schemas.openxmlformats.org/officeDocument/2006/relationships/slide" Target="/ppt/slides/slide13.xml" Id="R3a90df0161704a55" /><Relationship Type="http://schemas.openxmlformats.org/officeDocument/2006/relationships/slide" Target="/ppt/slides/slide14.xml" Id="R21e863b384f74074" /><Relationship Type="http://schemas.openxmlformats.org/officeDocument/2006/relationships/slide" Target="/ppt/slides/slide15.xml" Id="Rfa5357f67e3b4113" /><Relationship Type="http://schemas.openxmlformats.org/officeDocument/2006/relationships/slide" Target="/ppt/slides/slide16.xml" Id="Re692b4a647c946a8" /><Relationship Type="http://schemas.openxmlformats.org/officeDocument/2006/relationships/slide" Target="/ppt/slides/slide17.xml" Id="R9287a87e88604429" /><Relationship Type="http://schemas.openxmlformats.org/officeDocument/2006/relationships/slide" Target="/ppt/slides/slide18.xml" Id="R5863739646404257" /><Relationship Type="http://schemas.openxmlformats.org/officeDocument/2006/relationships/slide" Target="/ppt/slides/slide19.xml" Id="R8906933161ea4505" /><Relationship Type="http://schemas.openxmlformats.org/officeDocument/2006/relationships/slide" Target="/ppt/slides/slide20.xml" Id="R65eae293ba1e4619" /><Relationship Type="http://schemas.openxmlformats.org/officeDocument/2006/relationships/slide" Target="/ppt/slides/slide21.xml" Id="Raadc8b4f38be44ca" /><Relationship Type="http://schemas.openxmlformats.org/officeDocument/2006/relationships/slide" Target="/ppt/slides/slide22.xml" Id="R19558b43db3d40e7" /><Relationship Type="http://schemas.openxmlformats.org/officeDocument/2006/relationships/slide" Target="/ppt/slides/slide23.xml" Id="R56dd470df7634f95" /><Relationship Type="http://schemas.openxmlformats.org/officeDocument/2006/relationships/slide" Target="/ppt/slides/slide24.xml" Id="R2d01086962684d3f" /><Relationship Type="http://schemas.openxmlformats.org/officeDocument/2006/relationships/slide" Target="/ppt/slides/slide25.xml" Id="R5afcae150e524bf5" /><Relationship Type="http://schemas.openxmlformats.org/officeDocument/2006/relationships/slide" Target="/ppt/slides/slide26.xml" Id="Rcf02c95deb8a4f7e" /><Relationship Type="http://schemas.openxmlformats.org/officeDocument/2006/relationships/slide" Target="/ppt/slides/slide27.xml" Id="R43400719b5f7418f" /><Relationship Type="http://schemas.openxmlformats.org/officeDocument/2006/relationships/slide" Target="/ppt/slides/slide28.xml" Id="R1709fd4cb2cd4f92" /><Relationship Type="http://schemas.openxmlformats.org/officeDocument/2006/relationships/slide" Target="/ppt/slides/slide29.xml" Id="Rc53664ffb8114cea" /><Relationship Type="http://schemas.openxmlformats.org/officeDocument/2006/relationships/slide" Target="/ppt/slides/slide30.xml" Id="R25ed91b6c8a74c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d453a9e57340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dfb354f12749aa" /><Relationship Type="http://schemas.openxmlformats.org/officeDocument/2006/relationships/notesMaster" Target="/ppt/notesMasters/notesMaster1.xml" Id="Rd3763719c8624b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271f4249544ca1" /><Relationship Type="http://schemas.openxmlformats.org/officeDocument/2006/relationships/notesMaster" Target="/ppt/notesMasters/notesMaster1.xml" Id="R625a20c4d7cf46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dfe4f95fc54f5e" /><Relationship Type="http://schemas.openxmlformats.org/officeDocument/2006/relationships/notesMaster" Target="/ppt/notesMasters/notesMaster1.xml" Id="R61f2ef0f9f8f46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3d6b67b95a498d" /><Relationship Type="http://schemas.openxmlformats.org/officeDocument/2006/relationships/notesMaster" Target="/ppt/notesMasters/notesMaster1.xml" Id="Re6fbbbb87eec4d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b4223fb2224f89" /><Relationship Type="http://schemas.openxmlformats.org/officeDocument/2006/relationships/notesMaster" Target="/ppt/notesMasters/notesMaster1.xml" Id="R625f7e5f618c4d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63eed9f94a483a" /><Relationship Type="http://schemas.openxmlformats.org/officeDocument/2006/relationships/notesMaster" Target="/ppt/notesMasters/notesMaster1.xml" Id="R620e3a61b9cc43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9aa519d9e7477f" /><Relationship Type="http://schemas.openxmlformats.org/officeDocument/2006/relationships/notesMaster" Target="/ppt/notesMasters/notesMaster1.xml" Id="R883ee34ec8fa414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6ad481e54d457f" /><Relationship Type="http://schemas.openxmlformats.org/officeDocument/2006/relationships/notesMaster" Target="/ppt/notesMasters/notesMaster1.xml" Id="Rc8858a99e73645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7e0e332b5f4324" /><Relationship Type="http://schemas.openxmlformats.org/officeDocument/2006/relationships/notesMaster" Target="/ppt/notesMasters/notesMaster1.xml" Id="R9d797c9ee82241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d3a42b0cd2455d" /><Relationship Type="http://schemas.openxmlformats.org/officeDocument/2006/relationships/notesMaster" Target="/ppt/notesMasters/notesMaster1.xml" Id="Rdde6224ba5894a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2694babc284d22" /><Relationship Type="http://schemas.openxmlformats.org/officeDocument/2006/relationships/notesMaster" Target="/ppt/notesMasters/notesMaster1.xml" Id="R2e812a495a6e46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b1292ffb31486c" /><Relationship Type="http://schemas.openxmlformats.org/officeDocument/2006/relationships/notesMaster" Target="/ppt/notesMasters/notesMaster1.xml" Id="R5ec6b6b406e145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464ed83191478c" /><Relationship Type="http://schemas.openxmlformats.org/officeDocument/2006/relationships/notesMaster" Target="/ppt/notesMasters/notesMaster1.xml" Id="R08f748d56b4d467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8438ebc8574f3c" /><Relationship Type="http://schemas.openxmlformats.org/officeDocument/2006/relationships/notesMaster" Target="/ppt/notesMasters/notesMaster1.xml" Id="Ra7d5b94b15c34e0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5d754121fa4a5e" /><Relationship Type="http://schemas.openxmlformats.org/officeDocument/2006/relationships/notesMaster" Target="/ppt/notesMasters/notesMaster1.xml" Id="R707ed00b700e47e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1e48756f28471e" /><Relationship Type="http://schemas.openxmlformats.org/officeDocument/2006/relationships/notesMaster" Target="/ppt/notesMasters/notesMaster1.xml" Id="R36311a3cd7dd47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d693d814a84977" /><Relationship Type="http://schemas.openxmlformats.org/officeDocument/2006/relationships/notesMaster" Target="/ppt/notesMasters/notesMaster1.xml" Id="Rf3c05ccb6e9b4cb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72a2a6023e4e47" /><Relationship Type="http://schemas.openxmlformats.org/officeDocument/2006/relationships/notesMaster" Target="/ppt/notesMasters/notesMaster1.xml" Id="Rcc0288b99e5e41b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eb2ab04e0d443f" /><Relationship Type="http://schemas.openxmlformats.org/officeDocument/2006/relationships/notesMaster" Target="/ppt/notesMasters/notesMaster1.xml" Id="Rdb6a521e02c946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e154ed87a24dc4" /><Relationship Type="http://schemas.openxmlformats.org/officeDocument/2006/relationships/notesMaster" Target="/ppt/notesMasters/notesMaster1.xml" Id="R94c2a611265a440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fbce9b407ef4ddb" /><Relationship Type="http://schemas.openxmlformats.org/officeDocument/2006/relationships/notesMaster" Target="/ppt/notesMasters/notesMaster1.xml" Id="R7d2ce41b378641b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717ce3517d433c" /><Relationship Type="http://schemas.openxmlformats.org/officeDocument/2006/relationships/notesMaster" Target="/ppt/notesMasters/notesMaster1.xml" Id="R711e0d4e81a4475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85e1b5668e749c5" /><Relationship Type="http://schemas.openxmlformats.org/officeDocument/2006/relationships/notesMaster" Target="/ppt/notesMasters/notesMaster1.xml" Id="Re277fe89c76e477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49a7d0224454071" /><Relationship Type="http://schemas.openxmlformats.org/officeDocument/2006/relationships/notesMaster" Target="/ppt/notesMasters/notesMaster1.xml" Id="Ra00440e9e5424d8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8a1312275c4d61" /><Relationship Type="http://schemas.openxmlformats.org/officeDocument/2006/relationships/notesMaster" Target="/ppt/notesMasters/notesMaster1.xml" Id="R2a39683bc6694ce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d30bb1208146ef" /><Relationship Type="http://schemas.openxmlformats.org/officeDocument/2006/relationships/notesMaster" Target="/ppt/notesMasters/notesMaster1.xml" Id="R3d407f2544c74b9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5966340a6d4a6f" /><Relationship Type="http://schemas.openxmlformats.org/officeDocument/2006/relationships/notesMaster" Target="/ppt/notesMasters/notesMaster1.xml" Id="R33923965e4244d7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8b4209644744512" /><Relationship Type="http://schemas.openxmlformats.org/officeDocument/2006/relationships/notesMaster" Target="/ppt/notesMasters/notesMaster1.xml" Id="Rfa3cc31a63fc4c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9cf05b6c46b4037" /><Relationship Type="http://schemas.openxmlformats.org/officeDocument/2006/relationships/notesMaster" Target="/ppt/notesMasters/notesMaster1.xml" Id="Red302d17b2ee477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298c8bff93c43f9" /><Relationship Type="http://schemas.openxmlformats.org/officeDocument/2006/relationships/notesMaster" Target="/ppt/notesMasters/notesMaster1.xml" Id="R4b874dad40e648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MnemosyneOS as a research operating-system project. Its intended contribution joins capability authority, repeatable service recovery, and a deterministic check on AI-proposed actions. Today there are two working foundations: an x86-64 Rust kernel and a separate host Wasmi replay experiment. The full recovery system remains a proposed implementation target. The title artwork is a conceptual illustration, not a hardware photograph or program output.</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Concept artwork generated with the built-in image_gen tool. Prompt and local asset provenance: presentation/assets/provenance.json. Artwork is not empirical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 question to investigate, not as a solved claim. Correct restoration has several obligations: reconstruct state, preserve current permissions, respect resource limits, and account for external effects. An AI proposer is useful only if a trusted mechanism can reject unsafe suggestions. A system that merely restarts a service or reproduces a log would not establish this full contribution.</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Lee et al. Implementing Linearizability at Large Scale and Low Latency. SOSP 2015. https://web.stanford.edu/~ouster/cgi-bin/papers/rifl.pdf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example of a key-value service that commits an increment and then crashes before replying. A client retry must have a defined outcome. Separately, a checkpoint may contain a capability that an administrator has since revoked. Restoring the old bytes cannot authorize reuse of that capability. These are protocol questions rather than just memory-copying questions.</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Lee et al. Implementing Linearizability at Large Scale and Low Latency. SOSP 2015. https://web.stanford.edu/~ouster/cgi-bin/papers/rifl.pdf</a:t>
            </a:r>
          </a:p>
          <a:p xmlns:a="http://schemas.openxmlformats.org/drawingml/2006/main">
            <a:r>
              <a:t/>
            </a:r>
          </a:p>
          <a:p xmlns:a="http://schemas.openxmlformats.org/drawingml/2006/main">
            <a:r>
              <a:t>Boos et al. Theseus: an Experiment in Operating System Structure and State Management. OSDI 2020. https://www.usenix.org/conference/osdi20/presentation/boos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slide as the status map for the whole proposal. The kernel already boots and handles memory/protection tests. The capability table runs both in host tests and in a kernel smoke check. Wasm and replay run only on the host. There are no ring-3 services, ChronicleFS implementation, AI model calls, recovery DSL compiler, or benchmark dashboard in this baseline.</a:t>
            </a:r>
          </a:p>
          <a:p xmlns:a="http://schemas.openxmlformats.org/drawingml/2006/main">
            <a:r>
              <a:t/>
            </a:r>
          </a:p>
          <a:p xmlns:a="http://schemas.openxmlformats.org/drawingml/2006/main">
            <a:r>
              <a:t>Sources and evidence</a:t>
            </a:r>
          </a:p>
          <a:p xmlns:a="http://schemas.openxmlformats.org/drawingml/2006/main">
            <a:r>
              <a:t>Repository: kernel/src/main.rs, paging.rs, arch.rs, memory.rs. Recorded evidence: presentation/evidence/boot.log and boot-release.log. Code baseline 44b739ddf513031f0b81fee402e484c156ab41a6</a:t>
            </a:r>
          </a:p>
          <a:p xmlns:a="http://schemas.openxmlformats.org/drawingml/2006/main">
            <a:r>
              <a:t/>
            </a:r>
          </a:p>
          <a:p xmlns:a="http://schemas.openxmlformats.org/drawingml/2006/main">
            <a:r>
              <a:t>Repository: crates/capability/src/lib.rs and its eight unit tests. Recorded output: presentation/evidence/tests.log.</a:t>
            </a:r>
          </a:p>
          <a:p xmlns:a="http://schemas.openxmlformats.org/drawingml/2006/main">
            <a:r>
              <a:t/>
            </a:r>
          </a:p>
          <a:p xmlns:a="http://schemas.openxmlformats.org/drawingml/2006/main">
            <a:r>
              <a:t>Repository: host/replay-lab/src/lib.rs, tests.rs, and workloads/kv/service.wat. Recorded report: presentation/evidence/replay-demo.json. Capture: 2026-10-09T05:19:32.155766+00:00</a:t>
            </a:r>
          </a:p>
          <a:p xmlns:a="http://schemas.openxmlformats.org/drawingml/2006/main">
            <a:r>
              <a:t/>
            </a:r>
          </a:p>
          <a:p xmlns:a="http://schemas.openxmlformats.org/drawingml/2006/main">
            <a:r>
              <a:t>Project proposal supplied by the author. Repository: docs/research-plan.md, docs/deep-research.md, docs/implementation-status.md. Proposed design, not a completed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scheduling and capability enforcement in the kernel, while services own storage and recovery policy. The AI proposer is outside the trusted decision path. The deterministic verifier and executor need a narrow, reviewable interface and must check the current state when committing an action. The host harness observes and injects faults for evaluation. This table describes the intended architecture, not current process deployment.</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Klein et al. seL4: Formal Verification of an OS Kernel. SOSP 2009. https://sel4.systems/Research/pdfs/sel4-formal-verification-os-kernel.pdf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handle is local to the caller's kernel-owned table. Knowing an integer from another process must not itself grant authority. Root minting is trusted, and a generation number prevents stale handles from validating after a slot is reused. Current subtree revocation scans a bounded table synchronously in O(N squared). Before recycling an object ID, trusted object teardown must invalidate references in every relevant table. These are prototype contracts, not a system-wide proof.</a:t>
            </a:r>
          </a:p>
          <a:p xmlns:a="http://schemas.openxmlformats.org/drawingml/2006/main">
            <a:r>
              <a:t/>
            </a:r>
          </a:p>
          <a:p xmlns:a="http://schemas.openxmlformats.org/drawingml/2006/main">
            <a:r>
              <a:t>Sources and evidence</a:t>
            </a:r>
          </a:p>
          <a:p xmlns:a="http://schemas.openxmlformats.org/drawingml/2006/main">
            <a:r>
              <a:t>Repository: crates/capability/src/lib.rs and its eight unit tests. Recorded output: presentation/evidence/tests.log.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real isolation demo should use two ring-3 services and an unrelated healthy service. Demonstrate unauthorized memory access, invalid endpoint handles, oversized messages, full queues, and a dead receiver. Keep the first version single-core to make scheduling and replay assumptions explicit. Shared writable memory, DMA, SMP, and general device recovery would broaden the trusted-state problem substantially.</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Repository: kernel/src/main.rs, paging.rs, arch.rs, memory.rs. Recorded evidence: presentation/evidence/boot.log and boot-release.log. Code baseline 44b739ddf513031f0b81fee402e484c156ab41a6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Reusing Wasmi gives us upstream validation, interpretation, resource limits, and fuel metering. The public snapshot API accepts only the bundled fixture so that hidden mutable state cannot silently escape capture. The extra eight bytes for the exported global make the mutable-state payload 65,544 bytes. Clock and random inputs are synthetic controlled providers. The effect import does not send anything over a network or to a persistent filesystem.</a:t>
            </a:r>
          </a:p>
          <a:p xmlns:a="http://schemas.openxmlformats.org/drawingml/2006/main">
            <a:r>
              <a:t/>
            </a:r>
          </a:p>
          <a:p xmlns:a="http://schemas.openxmlformats.org/drawingml/2006/main">
            <a:r>
              <a:t>Sources and evidence</a:t>
            </a:r>
          </a:p>
          <a:p xmlns:a="http://schemas.openxmlformats.org/drawingml/2006/main">
            <a:r>
              <a:t>Repository: host/replay-lab/src/lib.rs, tests.rs, and workloads/kv/service.wat. Recorded report: presentation/evidence/replay-demo.json. Capture: 2026-10-09T05:19:32.155766+00:00</a:t>
            </a:r>
          </a:p>
          <a:p xmlns:a="http://schemas.openxmlformats.org/drawingml/2006/main">
            <a:r>
              <a:t/>
            </a:r>
          </a:p>
          <a:p xmlns:a="http://schemas.openxmlformats.org/drawingml/2006/main">
            <a:r>
              <a:t>Repository: THIRD_PARTY.md and Cargo.lock. Upstream: https://github.com/limine-bootloader/limine and https://github.com/rust-osdev/x86_64 and https://github.com/wasmi-labs/wasmi. Copied template notice: third_party/licenses/limine-rust-template-0BSD.txt.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checkpoint contains both memory and the mutable version counter. It binds the module hash, runtime profile, schema, and state digest. Replay restores a fresh instance whose live providers have different seeds. The tests confirm that those providers are never consulted during replay. Snapshots do not capture an active interpreter stack or suspended host call. The illustration expresses the concept and is not a trace or measurement.</a:t>
            </a:r>
          </a:p>
          <a:p xmlns:a="http://schemas.openxmlformats.org/drawingml/2006/main">
            <a:r>
              <a:t/>
            </a:r>
          </a:p>
          <a:p xmlns:a="http://schemas.openxmlformats.org/drawingml/2006/main">
            <a:r>
              <a:t>Sources and evidence</a:t>
            </a:r>
          </a:p>
          <a:p xmlns:a="http://schemas.openxmlformats.org/drawingml/2006/main">
            <a:r>
              <a:t>Repository: host/replay-lab/src/lib.rs, tests.rs, and workloads/kv/service.wat. Recorded report: presentation/evidence/replay-demo.json. Capture: 2026-10-09T05:19:32.155766+00:00</a:t>
            </a:r>
          </a:p>
          <a:p xmlns:a="http://schemas.openxmlformats.org/drawingml/2006/main">
            <a:r>
              <a:t/>
            </a:r>
          </a:p>
          <a:p xmlns:a="http://schemas.openxmlformats.org/drawingml/2006/main">
            <a:r>
              <a:t>Concept artwork generated with the built-in image_gen tool. Prompt and local asset provenance: presentation/assets/provenance.json. Artwork is not empirical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successful request contributes five events. A trap or mismatch leaves partially mutated guest state unusable. The worker refuses further execution, new snapshots, and a valid recording until a fresh instance is restored. A successful handler appends its effects only to an in-memory observation list. The test suite removes every event position in a recorded segment and requires rejection. This is validation against a trace, not authentication of the trace.</a:t>
            </a:r>
          </a:p>
          <a:p xmlns:a="http://schemas.openxmlformats.org/drawingml/2006/main">
            <a:r>
              <a:t/>
            </a:r>
          </a:p>
          <a:p xmlns:a="http://schemas.openxmlformats.org/drawingml/2006/main">
            <a:r>
              <a:t>Sources and evidence</a:t>
            </a:r>
          </a:p>
          <a:p xmlns:a="http://schemas.openxmlformats.org/drawingml/2006/main">
            <a:r>
              <a:t>Repository: host/replay-lab/src/lib.rs, tests.rs, and workloads/kv/service.wat. Recorded report: presentation/evidence/replay-demo.json. Capture: 2026-10-09T05:19:32.155766+00:00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a minimal append-only storage design and a narrow filesystem interface. A snapshot pointer is meaningful only when the data it references is durably ordered under a stated block-device model. Reboot testing must check the last committed root rather than relying on a normal shutdown. Research on bounded crash testing informs the test strategy. Garbage collection must also preserve data and completion records still needed by recovery.</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Mohan et al. Finding Crash-Consistency Bugs with Bounded Black-Box Crash Testing. OSDI 2018. https://www.usenix.org/conference/osdi18/presentation/mohan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receives a bounded structured fault trace and proposes a small typed action sequence. The model does not own a raw shell or a privileged kernel API. The example shows the intended vocabulary, not an implemented grammar. Begin with hand-authored plans and adversarial tests. Integrate a model only after verifier/executor behavior is explicit. The LLM-Modulo work motivates the separation of candidate generation and external checking, but it is not a proof of this OS design.</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Gundawar, Valmeekam, Verma and Kambhampati. Robust Planning with Compound LLM Architectures: An LLM-Modulo Approach. arXiv:2411.14484, 2024. https://arxiv.org/html/2411.14484v1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authority and resource checks must hold at execution time. A plan that was valid when analyzed can become stale after a capability revocation, resource allocation, or service generation change. Reserve resources and bind execution to the checked state or revalidate atomically. Rollback must not resurrect revoked capabilities or contradict effects already visible to peers. A deterministic rejection path is required when an action cannot meet its preconditions.</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Lee et al. Implementing Linearizability at Large Scale and Low Latency. SOSP 2015. https://web.stanford.edu/~ouster/cgi-bin/papers/rifl.pdf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eight capability tests and sixteen runtime/replay tests. The three CPU probes test NX execution, read-only writes with supervisor write protection, and access after unmapping. They operate in the boot address space. Both build modes complete the smoke path. The replay report compares the complete Snapshot object as well as showing its digest, so the displayed equality is not merely a manually matched string. These results do not establish isolation between processes or durable recovery.</a:t>
            </a:r>
          </a:p>
          <a:p xmlns:a="http://schemas.openxmlformats.org/drawingml/2006/main">
            <a:r>
              <a:t/>
            </a:r>
          </a:p>
          <a:p xmlns:a="http://schemas.openxmlformats.org/drawingml/2006/main">
            <a:r>
              <a:t>Sources and evidence</a:t>
            </a:r>
          </a:p>
          <a:p xmlns:a="http://schemas.openxmlformats.org/drawingml/2006/main">
            <a:r>
              <a:t>Repository: kernel/src/main.rs, paging.rs, arch.rs, memory.rs. Recorded evidence: presentation/evidence/boot.log and boot-release.log. Code baseline 44b739ddf513031f0b81fee402e484c156ab41a6</a:t>
            </a:r>
          </a:p>
          <a:p xmlns:a="http://schemas.openxmlformats.org/drawingml/2006/main">
            <a:r>
              <a:t/>
            </a:r>
          </a:p>
          <a:p xmlns:a="http://schemas.openxmlformats.org/drawingml/2006/main">
            <a:r>
              <a:t>Repository: crates/capability/src/lib.rs and its eight unit tests. Recorded output: presentation/evidence/tests.log.</a:t>
            </a:r>
          </a:p>
          <a:p xmlns:a="http://schemas.openxmlformats.org/drawingml/2006/main">
            <a:r>
              <a:t/>
            </a:r>
          </a:p>
          <a:p xmlns:a="http://schemas.openxmlformats.org/drawingml/2006/main">
            <a:r>
              <a:t>Repository: host/replay-lab/src/lib.rs, tests.rs, and workloads/kv/service.wat. Recorded report: presentation/evidence/replay-demo.json. Capture: 2026-10-09T05:19:32.155766+00:00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PowerShell in C:\Users\ludic\Desktop\mnemosyne. Run python tools/present.py and press Enter before each step. Explain that the kernel runs in QEMU and the Wasmi lab runs separately on the host. After the final report, return to the deck. For WSL failure use --host-only and say the boot was skipped. For a fully offline recorded fallback use --recorded and identify it as saved evidence. Detailed narration and troubleshooting are in presentation/demo-runbook.md.</a:t>
            </a:r>
          </a:p>
          <a:p xmlns:a="http://schemas.openxmlformats.org/drawingml/2006/main">
            <a:r>
              <a:t/>
            </a:r>
          </a:p>
          <a:p xmlns:a="http://schemas.openxmlformats.org/drawingml/2006/main">
            <a:r>
              <a:t>Sources and evidence</a:t>
            </a:r>
          </a:p>
          <a:p xmlns:a="http://schemas.openxmlformats.org/drawingml/2006/main">
            <a:r>
              <a:t>Repository: tools/present.py, tools/dev.py and presentation/demo-runbook.md. Rehearsal evidence and checksums: presentation/evidence/manifest.json.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editable transcription of actual recorded output, not a screenshot of a GUI. The live command produces the same class of events. Usable RAM counts can change with build layout and are intentionally omitted here. The runner also checks QEMU's expected exit status. Explicitly distinguish interrupt delivery from process preemption. The general page-fault behavior is still fatal outside the reserved test probes.</a:t>
            </a:r>
          </a:p>
          <a:p xmlns:a="http://schemas.openxmlformats.org/drawingml/2006/main">
            <a:r>
              <a:t/>
            </a:r>
          </a:p>
          <a:p xmlns:a="http://schemas.openxmlformats.org/drawingml/2006/main">
            <a:r>
              <a:t>Sources and evidence</a:t>
            </a:r>
          </a:p>
          <a:p xmlns:a="http://schemas.openxmlformats.org/drawingml/2006/main">
            <a:r>
              <a:t>Repository: kernel/src/main.rs, paging.rs, arch.rs, memory.rs. Recorded evidence: presentation/evidence/boot.log and boot-release.log. Code baseline 44b739ddf513031f0b81fee402e484c156ab41a6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displayed digests come directly from the saved replay JSON. The report additionally compares full snapshot contents and observed effects. Twelve requests each record five events. The checkpoint payload consists of one 64-KiB memory plus one eight-byte mutable global. The replacement instance uses different provider seeds but consumes recorded input values. There are no external effects, durable commits, or runtime upgrades in this test.</a:t>
            </a:r>
          </a:p>
          <a:p xmlns:a="http://schemas.openxmlformats.org/drawingml/2006/main">
            <a:r>
              <a:t/>
            </a:r>
          </a:p>
          <a:p xmlns:a="http://schemas.openxmlformats.org/drawingml/2006/main">
            <a:r>
              <a:t>Sources and evidence</a:t>
            </a:r>
          </a:p>
          <a:p xmlns:a="http://schemas.openxmlformats.org/drawingml/2006/main">
            <a:r>
              <a:t>Repository: host/replay-lab/src/lib.rs, tests.rs, and workloads/kv/service.wat. Recorded report: presentation/evidence/replay-demo.json. Capture: 2026-10-09T05:19:32.155766+00:00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Reuse is intentional: the custom work should focus on the experimental security/recovery contracts. Cargo.lock records dependency versions and checksums. Copied Limine template code and boot binaries retain notices. seL4 and other research systems are design references, not claimed bases of our verified implementation. Theseus highlights state ownership, RIFL treats duplicate request completion, and CrashMonkey uses bounded crash workloads. Our candidate contribution is their interaction with current authority in a new recovery protocol, not a claim to invent restart or replay.</a:t>
            </a:r>
          </a:p>
          <a:p xmlns:a="http://schemas.openxmlformats.org/drawingml/2006/main">
            <a:r>
              <a:t/>
            </a:r>
          </a:p>
          <a:p xmlns:a="http://schemas.openxmlformats.org/drawingml/2006/main">
            <a:r>
              <a:t>Sources and evidence</a:t>
            </a:r>
          </a:p>
          <a:p xmlns:a="http://schemas.openxmlformats.org/drawingml/2006/main">
            <a:r>
              <a:t>Repository: THIRD_PARTY.md and Cargo.lock. Upstream: https://github.com/limine-bootloader/limine and https://github.com/rust-osdev/x86_64 and https://github.com/wasmi-labs/wasmi. Copied template notice: third_party/licenses/limine-rust-template-0BSD.txt.</a:t>
            </a:r>
          </a:p>
          <a:p xmlns:a="http://schemas.openxmlformats.org/drawingml/2006/main">
            <a:r>
              <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Boos et al. Theseus: an Experiment in Operating System Structure and State Management. OSDI 2020. https://www.usenix.org/conference/osdi20/presentation/boos</a:t>
            </a:r>
          </a:p>
          <a:p xmlns:a="http://schemas.openxmlformats.org/drawingml/2006/main">
            <a:r>
              <a:t/>
            </a:r>
          </a:p>
          <a:p xmlns:a="http://schemas.openxmlformats.org/drawingml/2006/main">
            <a:r>
              <a:t>Lee et al. Implementing Linearizability at Large Scale and Low Latency. SOSP 2015. https://web.stanford.edu/~ouster/cgi-bin/papers/rifl.pdf</a:t>
            </a:r>
          </a:p>
          <a:p xmlns:a="http://schemas.openxmlformats.org/drawingml/2006/main">
            <a:r>
              <a:t/>
            </a:r>
          </a:p>
          <a:p xmlns:a="http://schemas.openxmlformats.org/drawingml/2006/main">
            <a:r>
              <a:t>Mohan et al. Finding Crash-Consistency Bugs with Bounded Black-Box Crash Testing. OSDI 2018. https://www.usenix.org/conference/osdi18/presentation/mohan</a:t>
            </a:r>
          </a:p>
          <a:p xmlns:a="http://schemas.openxmlformats.org/drawingml/2006/main">
            <a:r>
              <a:t/>
            </a:r>
          </a:p>
          <a:p xmlns:a="http://schemas.openxmlformats.org/drawingml/2006/main">
            <a:r>
              <a:t>Gundawar, Valmeekam, Verma and Kambhampati. Robust Planning with Compound LLM Architectures: An LLM-Modulo Approach. arXiv:2411.14484, 2024. https://arxiv.org/html/2411.14484v1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 p50 and p95/p99 where appropriate, report sample sizes, and keep QEMU correctness runs separate from hardware timing. Include mean recovery time but do not let the mean hide tail latency. Split recovery into detection, restore, replay, validation and publication. For the AI control plane, record valid-plan rate, rejection reasons, latency and success under the same fault cases as a rule-based baseline. Fix workloads and seeds before comparing alternatives. Healthy-service progress and absence of duplicated effects are correctness gates.</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Acceptance gates make the schedule evidence-based. A working CLI harness comes before a dashboard. Start with one CPU and one restricted workload, then add complexity only when tests establish the preceding contract. The current foundation already covers boot, page protection, table semantics and host replay. Each gate produces a small demonstrable increment and a testable failure case. Avoid promising SMP, broad POSIX compatibility or arbitrary native replay in the first complete version.</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microkernel, filesystem, runtime, replay system and AI control plane can each become a large independent project. The controlled workload reduces the initial state space. External effects need a receiver protocol and cannot be fixed by local snapshots alone. Checkpoint hashes do not establish authenticity or semantic correctness. The first full-system claim should be limited to the supported workload, fault model, storage model, and authorized recovery operations.</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Lee et al. Implementing Linearizability at Large Scale and Low Latency. SOSP 2015. https://web.stanford.edu/~ouster/cgi-bin/papers/rifl.pdf</a:t>
            </a:r>
          </a:p>
          <a:p xmlns:a="http://schemas.openxmlformats.org/drawingml/2006/main">
            <a:r>
              <a:t/>
            </a:r>
          </a:p>
          <a:p xmlns:a="http://schemas.openxmlformats.org/drawingml/2006/main">
            <a:r>
              <a:t>Klein et al. seL4: Formal Verification of an OS Kernel. SOSP 2009. https://sel4.systems/Research/pdfs/sel4-formal-verification-os-kernel.pdf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concrete research output rather than a claim that all nine subsystems are already complete. Ask the teacher to review the scope, protocol invariants and staged acceptance criteria. The working foundation makes the implementation route reviewable. A successful final project should show a service failure, recovery of committed state, rejection of an unauthorized plan, no duplicated committed effects under the supported protocol, and continued progress of a healthy service.</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Repository: kernel/src/main.rs, paging.rs, arch.rs, memory.rs. Recorded evidence: presentation/evidence/boot.log and boot-release.log. Code baseline 44b739ddf513031f0b81fee402e484c156ab41a6</a:t>
            </a:r>
          </a:p>
          <a:p xmlns:a="http://schemas.openxmlformats.org/drawingml/2006/main">
            <a:r>
              <a:t/>
            </a:r>
          </a:p>
          <a:p xmlns:a="http://schemas.openxmlformats.org/drawingml/2006/main">
            <a:r>
              <a:t>Repository: host/replay-lab/src/lib.rs, tests.rs, and workloads/kv/service.wat. Recorded report: presentation/evidence/replay-demo.json. Capture: 2026-10-09T05:19:32.155766+00:00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adversary instead of saying the system is secure without qualification. For the prototype, trace data and snapshots are generated by the experiment itself. The checksum detects corruption but an attacker who rewrites both data and digest is outside that integrity model. The final protocol must decide where authentication is required. Rust reduces some memory-safety risks, while unsafe hardware access, capability authority, and crash consistency still require separate reasoning.</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Repository: host/replay-lab/src/lib.rs, tests.rs, and workloads/kv/service.wat. Recorded report: presentation/evidence/replay-demo.json. Capture: 2026-10-09T05:19:32.155766+00:00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fixture has no tables, threads, files, sockets, native continuations or suspended host calls. Adding any of these changes the snapshot schema. Restoring one service may conflict with messages already observed by a peer, so service-group recovery needs a consistent history and output publication rules. Exactly-once claims depend on the full receiver and durability protocol. At present the worker does not switch a replay into live execution.</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Repository: host/replay-lab/src/lib.rs, tests.rs, and workloads/kv/service.wat. Recorded report: presentation/evidence/replay-demo.json. Capture: 2026-10-09T05:19:32.155766+00:00</a:t>
            </a:r>
          </a:p>
          <a:p xmlns:a="http://schemas.openxmlformats.org/drawingml/2006/main">
            <a:r>
              <a:t/>
            </a:r>
          </a:p>
          <a:p xmlns:a="http://schemas.openxmlformats.org/drawingml/2006/main">
            <a:r>
              <a:t>Lee et al. Implementing Linearizability at Large Scale and Low Latency. SOSP 2015. https://web.stanford.edu/~ouster/cgi-bin/papers/rifl.pdf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failure cases explain why an integer permission flag is insufficient. The test suite includes exhaustive valid rights-subset combinations for memory capabilities. Descendant membership is computed before deleting ancestors so that grandchildren are not missed. Generation exhaustion does not wrap to an earlier identity. The table itself does not establish global object uniqueness or cross-process ownership; those belong to future trusted kernel integration.</a:t>
            </a:r>
          </a:p>
          <a:p xmlns:a="http://schemas.openxmlformats.org/drawingml/2006/main">
            <a:r>
              <a:t/>
            </a:r>
          </a:p>
          <a:p xmlns:a="http://schemas.openxmlformats.org/drawingml/2006/main">
            <a:r>
              <a:t>Sources and evidence</a:t>
            </a:r>
          </a:p>
          <a:p xmlns:a="http://schemas.openxmlformats.org/drawingml/2006/main">
            <a:r>
              <a:t>Repository: crates/capability/src/lib.rs and its eight unit tests. Recorded output: presentation/evidence/tests.log.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guided script runs existing developer commands and records the results under build. It pauses for narration before each step and stops on a nonzero exit. The recorded mode performs no build or VM run and announces its capture date and code baseline. WSL and QEMU are needed only for the kernel portion; native host tests and the Wasmi demo need no VM. Rehearse while connected so Rust dependencies and the pinned bootloader are already cached.</a:t>
            </a:r>
          </a:p>
          <a:p xmlns:a="http://schemas.openxmlformats.org/drawingml/2006/main">
            <a:r>
              <a:t/>
            </a:r>
          </a:p>
          <a:p xmlns:a="http://schemas.openxmlformats.org/drawingml/2006/main">
            <a:r>
              <a:t>Sources and evidence</a:t>
            </a:r>
          </a:p>
          <a:p xmlns:a="http://schemas.openxmlformats.org/drawingml/2006/main">
            <a:r>
              <a:t>Repository: tools/present.py, tools/dev.py and presentation/demo-runbook.md. Rehearsal evidence and checksums: presentation/evidence/manifest.json.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not simply build on seL4, explain that a seL4-based implementation is a credible alternative when the recovery experiment is the only research goal. A custom kernel is justified by the stated project deliverable and learning objective, but increases effort and assurance work. If asked whether the AI is necessary, say that a rule-based baseline is mandatory and the model must demonstrate measurable benefit. Never substitute confident model output for proof or authority.</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Gundawar, Valmeekam, Verma and Kambhampati. Robust Planning with Compound LLM Architectures: An LLM-Modulo Approach. arXiv:2411.14484, 2024. https://arxiv.org/html/2411.14484v1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important for an academic review. Keep empirical evidence, deterministic policy enforcement and machine-checked proof as distinct categories. The kernel is not seL4-verified merely because its design references seL4. Wasmi validation is an upstream feature, not proof of the full embedding or of recovery correctness. The intended verifier must establish concrete obligations under a stated model, and its executor must preserve them while the system changes.</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a:p xmlns:a="http://schemas.openxmlformats.org/drawingml/2006/main">
            <a:r>
              <a:t/>
            </a:r>
          </a:p>
          <a:p xmlns:a="http://schemas.openxmlformats.org/drawingml/2006/main">
            <a:r>
              <a:t>Repository: kernel/src/main.rs, paging.rs, arch.rs, memory.rs. Recorded evidence: presentation/evidence/boot.log and boot-release.log. Code baseline 44b739ddf513031f0b81fee402e484c156ab41a6</a:t>
            </a:r>
          </a:p>
          <a:p xmlns:a="http://schemas.openxmlformats.org/drawingml/2006/main">
            <a:r>
              <a:t/>
            </a:r>
          </a:p>
          <a:p xmlns:a="http://schemas.openxmlformats.org/drawingml/2006/main">
            <a:r>
              <a:t>Repository: host/replay-lab/src/lib.rs, tests.rs, and workloads/kv/service.wat. Recorded report: presentation/evidence/replay-demo.json. Capture: 2026-10-09T05:19:32.155766+00:00</a:t>
            </a:r>
          </a:p>
          <a:p xmlns:a="http://schemas.openxmlformats.org/drawingml/2006/main">
            <a:r>
              <a:t/>
            </a:r>
          </a:p>
          <a:p xmlns:a="http://schemas.openxmlformats.org/drawingml/2006/main">
            <a:r>
              <a:t>Klein et al. seL4: Formal Verification of an OS Kernel. SOSP 2009. https://sel4.systems/Research/pdfs/sel4-formal-verification-os-kernel.pdf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preserves the author's supplied project title and abstract. Present it as the proposed final system. For progress reporting, use the implementation status slide and source evidence instead. In a formal submission, retain the proposal status or use future tense until these features are implemented and evaluated.</a:t>
            </a:r>
          </a:p>
          <a:p xmlns:a="http://schemas.openxmlformats.org/drawingml/2006/main">
            <a:r>
              <a:t/>
            </a:r>
          </a:p>
          <a:p xmlns:a="http://schemas.openxmlformats.org/drawingml/2006/main">
            <a:r>
              <a:t>Sources and evidence</a:t>
            </a:r>
          </a:p>
          <a:p xmlns:a="http://schemas.openxmlformats.org/drawingml/2006/main">
            <a:r>
              <a:t>Project proposal supplied by the author. Repository: docs/research-plan.md, docs/deep-research.md, docs/implementation-status.md. Proposed design, not a completed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reading guide contains pinned repository revisions and concrete source pointers. These sources support design decisions and limitations, not a claim that MnemosyneOS inherits another project's proof or benchmark results. Reuse permissions are recorded per component in THIRD_PARTY.md. Local evidence for this deck is preserved under presentation/evidence with its capture time, code baseline and file checksums.</a:t>
            </a:r>
          </a:p>
          <a:p xmlns:a="http://schemas.openxmlformats.org/drawingml/2006/main">
            <a:r>
              <a:t/>
            </a:r>
          </a:p>
          <a:p xmlns:a="http://schemas.openxmlformats.org/drawingml/2006/main">
            <a:r>
              <a:t>Sources and evidence</a:t>
            </a:r>
          </a:p>
          <a:p xmlns:a="http://schemas.openxmlformats.org/drawingml/2006/main">
            <a:r>
              <a:t>Klein et al. seL4: Formal Verification of an OS Kernel. SOSP 2009. https://sel4.systems/Research/pdfs/sel4-formal-verification-os-kernel.pdf</a:t>
            </a:r>
          </a:p>
          <a:p xmlns:a="http://schemas.openxmlformats.org/drawingml/2006/main">
            <a:r>
              <a:t/>
            </a:r>
          </a:p>
          <a:p xmlns:a="http://schemas.openxmlformats.org/drawingml/2006/main">
            <a:r>
              <a:t>Boos et al. Theseus: an Experiment in Operating System Structure and State Management. OSDI 2020. https://www.usenix.org/conference/osdi20/presentation/boos</a:t>
            </a:r>
          </a:p>
          <a:p xmlns:a="http://schemas.openxmlformats.org/drawingml/2006/main">
            <a:r>
              <a:t/>
            </a:r>
          </a:p>
          <a:p xmlns:a="http://schemas.openxmlformats.org/drawingml/2006/main">
            <a:r>
              <a:t>Lee et al. Implementing Linearizability at Large Scale and Low Latency. SOSP 2015. https://web.stanford.edu/~ouster/cgi-bin/papers/rifl.pdf</a:t>
            </a:r>
          </a:p>
          <a:p xmlns:a="http://schemas.openxmlformats.org/drawingml/2006/main">
            <a:r>
              <a:t/>
            </a:r>
          </a:p>
          <a:p xmlns:a="http://schemas.openxmlformats.org/drawingml/2006/main">
            <a:r>
              <a:t>Mohan et al. Finding Crash-Consistency Bugs with Bounded Black-Box Crash Testing. OSDI 2018. https://www.usenix.org/conference/osdi18/presentation/mohan</a:t>
            </a:r>
          </a:p>
          <a:p xmlns:a="http://schemas.openxmlformats.org/drawingml/2006/main">
            <a:r>
              <a:t/>
            </a:r>
          </a:p>
          <a:p xmlns:a="http://schemas.openxmlformats.org/drawingml/2006/main">
            <a:r>
              <a:t>Gundawar, Valmeekam, Verma and Kambhampati. Robust Planning with Compound LLM Architectures: An LLM-Modulo Approach. arXiv:2411.14484, 2024. https://arxiv.org/html/2411.14484v1</a:t>
            </a:r>
          </a:p>
          <a:p xmlns:a="http://schemas.openxmlformats.org/drawingml/2006/main">
            <a:r>
              <a:t/>
            </a:r>
          </a:p>
          <a:p xmlns:a="http://schemas.openxmlformats.org/drawingml/2006/main">
            <a:r>
              <a:t>Repository: THIRD_PARTY.md and Cargo.lock. Upstream: https://github.com/limine-bootloader/limine and https://github.com/rust-osdev/x86_64 and https://github.com/wasmi-labs/wasmi. Copied template notice: third_party/licenses/limine-rust-template-0BSD.txt.</a:t>
            </a:r>
          </a:p>
          <a:p xmlns:a="http://schemas.openxmlformats.org/drawingml/2006/main">
            <a:r>
              <a:t/>
            </a:r>
          </a:p>
          <a:p xmlns:a="http://schemas.openxmlformats.org/drawingml/2006/main">
            <a:r>
              <a:t>Repository: tools/present.py, tools/dev.py and presentation/demo-runbook.md. Rehearsal evidence and checksums: presentation/evidence/manifest.json.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20da81059447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09af89863848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e4ae83216804c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742e2ed19c4d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0b7c84f63d43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df786d421447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3C9724-F067-457B-9697-1040FF8592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2454B8-2103-4992-B9C6-D7FE827C22E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69E595-A371-4688-B39A-224731CE07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7BDD40-99FD-4283-BDEC-D86ACC8382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A4CB92-6FFE-498E-9DB0-B0565A5410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60EBF0-30B9-40B0-836E-94ECEE8325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635A27-FD1D-4A16-9EDB-E06F4B83D2E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0F0CEE-9C81-4C66-B0C5-2A5230955E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433FED-9504-4FA7-98EA-B442F1AA3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AC4F4D-E34F-46A6-9691-40B493EDD5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2d1bb833ed49cb" /><Relationship Type="http://schemas.openxmlformats.org/officeDocument/2006/relationships/slideLayout" Target="/ppt/slideLayouts/slideLayout1.xml" Id="Rbc45b554c1604634" /><Relationship Type="http://schemas.openxmlformats.org/officeDocument/2006/relationships/slideLayout" Target="/ppt/slideLayouts/slideLayout2.xml" Id="Rb4f8676d1bc84662" /><Relationship Type="http://schemas.openxmlformats.org/officeDocument/2006/relationships/slideLayout" Target="/ppt/slideLayouts/slideLayout3.xml" Id="R1bff7a3df60d4438" /><Relationship Type="http://schemas.openxmlformats.org/officeDocument/2006/relationships/slideLayout" Target="/ppt/slideLayouts/slideLayout4.xml" Id="R690616567ef847a3" /><Relationship Type="http://schemas.openxmlformats.org/officeDocument/2006/relationships/slideLayout" Target="/ppt/slideLayouts/slideLayout5.xml" Id="Rbe412c725fda4374" /><Relationship Type="http://schemas.openxmlformats.org/officeDocument/2006/relationships/slideLayout" Target="/ppt/slideLayouts/slideLayout6.xml" Id="R66186c828f374a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45b554c1604634"/>
    <p:sldLayoutId xmlns:r="http://schemas.openxmlformats.org/officeDocument/2006/relationships" id="2147483650" r:id="Rb4f8676d1bc84662"/>
    <p:sldLayoutId xmlns:r="http://schemas.openxmlformats.org/officeDocument/2006/relationships" id="2147483651" r:id="R1bff7a3df60d4438"/>
    <p:sldLayoutId xmlns:r="http://schemas.openxmlformats.org/officeDocument/2006/relationships" id="2147483652" r:id="R690616567ef847a3"/>
    <p:sldLayoutId xmlns:r="http://schemas.openxmlformats.org/officeDocument/2006/relationships" id="2147483653" r:id="Rbe412c725fda4374"/>
    <p:sldLayoutId xmlns:r="http://schemas.openxmlformats.org/officeDocument/2006/relationships" id="2147483654" r:id="R66186c828f374a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8023016d774955" /><Relationship Type="http://schemas.openxmlformats.org/officeDocument/2006/relationships/image" Target="/ppt/media/image.png" Id="Rbf627f5731e64619" /><Relationship Type="http://schemas.openxmlformats.org/officeDocument/2006/relationships/notesSlide" Target="/ppt/notesSlides/notesSlide1.xml" Id="R79365d4bc9fc4b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6e68827e31416a" /><Relationship Type="http://schemas.openxmlformats.org/officeDocument/2006/relationships/notesSlide" Target="/ppt/notesSlides/notesSlide2.xml" Id="R7becdb54f7e04b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fdec06b07c44cf" /><Relationship Type="http://schemas.openxmlformats.org/officeDocument/2006/relationships/notesSlide" Target="/ppt/notesSlides/notesSlide3.xml" Id="Raed4455a5c5840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20f928d2e7446a" /><Relationship Type="http://schemas.openxmlformats.org/officeDocument/2006/relationships/notesSlide" Target="/ppt/notesSlides/notesSlide4.xml" Id="Rc4c1bc18ba9c4b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4603fe007a46aa" /><Relationship Type="http://schemas.openxmlformats.org/officeDocument/2006/relationships/notesSlide" Target="/ppt/notesSlides/notesSlide5.xml" Id="R9e138a1656e84a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899f51663374d52" /><Relationship Type="http://schemas.openxmlformats.org/officeDocument/2006/relationships/notesSlide" Target="/ppt/notesSlides/notesSlide6.xml" Id="R388e112556f947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fa3fbbf5f2496e" /><Relationship Type="http://schemas.openxmlformats.org/officeDocument/2006/relationships/notesSlide" Target="/ppt/notesSlides/notesSlide7.xml" Id="R891e3ee3358148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6bafaf12aa41f5" /><Relationship Type="http://schemas.openxmlformats.org/officeDocument/2006/relationships/notesSlide" Target="/ppt/notesSlides/notesSlide8.xml" Id="R860a074463bf44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faad4faef64271" /><Relationship Type="http://schemas.openxmlformats.org/officeDocument/2006/relationships/image" Target="/ppt/media/image2.png" Id="R4c14123ad5394c23" /><Relationship Type="http://schemas.openxmlformats.org/officeDocument/2006/relationships/notesSlide" Target="/ppt/notesSlides/notesSlide9.xml" Id="R2cc29bf07fa94c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e563d169e64525" /><Relationship Type="http://schemas.openxmlformats.org/officeDocument/2006/relationships/notesSlide" Target="/ppt/notesSlides/notesSlide10.xml" Id="R014f0f92934a4e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c17711dca5f49fc" /><Relationship Type="http://schemas.openxmlformats.org/officeDocument/2006/relationships/notesSlide" Target="/ppt/notesSlides/notesSlide11.xml" Id="R925a2e95ee7146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f9e6fd9ba8d48c8" /><Relationship Type="http://schemas.openxmlformats.org/officeDocument/2006/relationships/notesSlide" Target="/ppt/notesSlides/notesSlide12.xml" Id="Re006682cfcb84e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bf013a74fb64964" /><Relationship Type="http://schemas.openxmlformats.org/officeDocument/2006/relationships/notesSlide" Target="/ppt/notesSlides/notesSlide13.xml" Id="Rd78b5e422d0642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92fa02cd564ef1" /><Relationship Type="http://schemas.openxmlformats.org/officeDocument/2006/relationships/notesSlide" Target="/ppt/notesSlides/notesSlide14.xml" Id="R39f7af9ba4094f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44e06deed144b4" /><Relationship Type="http://schemas.openxmlformats.org/officeDocument/2006/relationships/notesSlide" Target="/ppt/notesSlides/notesSlide15.xml" Id="Rb409b3e76e4248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ad1b9ac92f74d01" /><Relationship Type="http://schemas.openxmlformats.org/officeDocument/2006/relationships/notesSlide" Target="/ppt/notesSlides/notesSlide16.xml" Id="R9b332cd8339840e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a29a680475f43cc" /><Relationship Type="http://schemas.openxmlformats.org/officeDocument/2006/relationships/notesSlide" Target="/ppt/notesSlides/notesSlide17.xml" Id="Rd77bb29f2f5149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b1a3cfc078546e0" /><Relationship Type="http://schemas.openxmlformats.org/officeDocument/2006/relationships/notesSlide" Target="/ppt/notesSlides/notesSlide18.xml" Id="R55c53caa7a674a0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a9f8ab2e9744c09" /><Relationship Type="http://schemas.openxmlformats.org/officeDocument/2006/relationships/notesSlide" Target="/ppt/notesSlides/notesSlide19.xml" Id="R4212cf3d69324e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b8460c3fc664509" /><Relationship Type="http://schemas.openxmlformats.org/officeDocument/2006/relationships/notesSlide" Target="/ppt/notesSlides/notesSlide20.xml" Id="Rfcfad70160a547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1d924b5b2be4257" /><Relationship Type="http://schemas.openxmlformats.org/officeDocument/2006/relationships/notesSlide" Target="/ppt/notesSlides/notesSlide21.xml" Id="R4a6d69464ebe40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24a4c8181544e2d" /><Relationship Type="http://schemas.openxmlformats.org/officeDocument/2006/relationships/notesSlide" Target="/ppt/notesSlides/notesSlide22.xml" Id="Rd6ed8b28d02644f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5d4fbfbe93ed4a94" /><Relationship Type="http://schemas.openxmlformats.org/officeDocument/2006/relationships/notesSlide" Target="/ppt/notesSlides/notesSlide23.xml" Id="R9e078e93f66e48a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69082644a1b4ddd" /><Relationship Type="http://schemas.openxmlformats.org/officeDocument/2006/relationships/notesSlide" Target="/ppt/notesSlides/notesSlide24.xml" Id="Reeb5dc5902f14a4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f65fd51a25e4edb" /><Relationship Type="http://schemas.openxmlformats.org/officeDocument/2006/relationships/notesSlide" Target="/ppt/notesSlides/notesSlide25.xml" Id="R88bf6611eef34bb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a29b5cc095e4ad9" /><Relationship Type="http://schemas.openxmlformats.org/officeDocument/2006/relationships/notesSlide" Target="/ppt/notesSlides/notesSlide26.xml" Id="R8132a01a1b354d1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06be8669d7c46b2" /><Relationship Type="http://schemas.openxmlformats.org/officeDocument/2006/relationships/notesSlide" Target="/ppt/notesSlides/notesSlide27.xml" Id="Re91d0cdef570400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718de03fb124726" /><Relationship Type="http://schemas.openxmlformats.org/officeDocument/2006/relationships/notesSlide" Target="/ppt/notesSlides/notesSlide28.xml" Id="Rcc6d6fa4521545f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3ed9ad17c5d4b21" /><Relationship Type="http://schemas.openxmlformats.org/officeDocument/2006/relationships/notesSlide" Target="/ppt/notesSlides/notesSlide29.xml" Id="R729de5456ec0411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05b71c699654e7a" /><Relationship Type="http://schemas.openxmlformats.org/officeDocument/2006/relationships/notesSlide" Target="/ppt/notesSlides/notesSlide30.xml" Id="R9b37004fecb743ed" /></Relationships>
</file>

<file path=ppt/slides/slide1.xml><?xml version="1.0" encoding="utf-8"?>
<p:sld xmlns:p="http://schemas.openxmlformats.org/presentationml/2006/main">
  <p:cSld>
    <p:bg>
      <p:bgPr>
        <a:solidFill xmlns:a="http://schemas.openxmlformats.org/drawingml/2006/main">
          <a:srgbClr val="122632"/>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919B698-55B5-4C52-9DD7-06D73687EA90}"/>
              </a:ext>
            </a:extLst>
          </p:cNvPr>
          <p:cNvPicPr>
            <a:picLocks xmlns:a="http://schemas.openxmlformats.org/drawingml/2006/main" noChangeAspect="1"/>
          </p:cNvPicPr>
          <p:nvPr/>
        </p:nvPicPr>
        <p:blipFill>
          <a:blip xmlns:r="http://schemas.openxmlformats.org/officeDocument/2006/relationships" xmlns:a="http://schemas.openxmlformats.org/drawingml/2006/main" r:embed="Rbf627f5731e6461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E33F0904-A3A5-4C66-9F93-7CF542CF53CD}"/>
              </a:ext>
            </a:extLst>
          </p:cNvPr>
          <p:cNvSpPr>
            <a:spLocks xmlns:a="http://schemas.openxmlformats.org/drawingml/2006/main" noGrp="1"/>
          </p:cNvSpPr>
          <p:nvPr/>
        </p:nvSpPr>
        <p:spPr>
          <a:xfrm xmlns:a="http://schemas.openxmlformats.org/drawingml/2006/main">
            <a:off x="609600" y="1752600"/>
            <a:ext cx="6191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00" b="1">
                <a:solidFill>
                  <a:srgbClr val="FCFCF8"/>
                </a:solidFill>
                <a:latin typeface="Arial"/>
                <a:ea typeface="Arial"/>
                <a:cs typeface="Arial"/>
              </a:defRPr>
            </a:defPPr>
          </a:lstStyle>
          <a:p xmlns:a="http://schemas.openxmlformats.org/drawingml/2006/main">
            <a:pPr>
              <a:defRPr sz="5700" b="1">
                <a:solidFill>
                  <a:srgbClr val="FCFCF8"/>
                </a:solidFill>
                <a:latin typeface="Arial"/>
                <a:ea typeface="Arial"/>
                <a:cs typeface="Arial"/>
              </a:defRPr>
            </a:pPr>
            <a:r>
              <a:rPr sz="5700" b="1">
                <a:solidFill>
                  <a:srgbClr val="FCFCF8"/>
                </a:solidFill>
                <a:latin typeface="Arial"/>
                <a:ea typeface="Arial"/>
                <a:cs typeface="Arial"/>
              </a:rPr>
              <a:t>MnemosyneOS</a:t>
            </a:r>
          </a:p>
        </p:txBody>
      </p:sp>
      <p:sp>
        <p:nvSpPr>
          <p:cNvPr id="3" name="text-2">
            <a:extLst xmlns:a="http://schemas.openxmlformats.org/drawingml/2006/main">
              <a:ext uri="{FF2B5EF4-FFF2-40B4-BE49-F238E27FC236}">
                <a16:creationId xmlns:a16="http://schemas.microsoft.com/office/drawing/2014/main" id="{A1631CB2-39B9-402D-9DB3-4A5387C1AFC3}"/>
              </a:ext>
            </a:extLst>
          </p:cNvPr>
          <p:cNvSpPr>
            <a:spLocks xmlns:a="http://schemas.openxmlformats.org/drawingml/2006/main" noGrp="1"/>
          </p:cNvSpPr>
          <p:nvPr/>
        </p:nvSpPr>
        <p:spPr>
          <a:xfrm xmlns:a="http://schemas.openxmlformats.org/drawingml/2006/main">
            <a:off x="647700" y="2952750"/>
            <a:ext cx="5657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0">
                <a:solidFill>
                  <a:srgbClr val="FCFCF8"/>
                </a:solidFill>
                <a:latin typeface="Arial"/>
                <a:ea typeface="Arial"/>
                <a:cs typeface="Arial"/>
              </a:defRPr>
            </a:defPPr>
          </a:lstStyle>
          <a:p xmlns:a="http://schemas.openxmlformats.org/drawingml/2006/main">
            <a:pPr>
              <a:defRPr sz="2475" b="0">
                <a:solidFill>
                  <a:srgbClr val="FCFCF8"/>
                </a:solidFill>
                <a:latin typeface="Arial"/>
                <a:ea typeface="Arial"/>
                <a:cs typeface="Arial"/>
              </a:defRPr>
            </a:pPr>
            <a:r>
              <a:rPr sz="2475" b="0">
                <a:solidFill>
                  <a:srgbClr val="FCFCF8"/>
                </a:solidFill>
                <a:latin typeface="Arial"/>
                <a:ea typeface="Arial"/>
                <a:cs typeface="Arial"/>
              </a:rPr>
              <a:t>A research microkernel for isolation</a:t>
            </a:r>
          </a:p>
          <a:p xmlns:a="http://schemas.openxmlformats.org/drawingml/2006/main">
            <a:pPr>
              <a:defRPr sz="2475" b="0">
                <a:solidFill>
                  <a:srgbClr val="FCFCF8"/>
                </a:solidFill>
                <a:latin typeface="Arial"/>
                <a:ea typeface="Arial"/>
                <a:cs typeface="Arial"/>
              </a:defRPr>
            </a:pPr>
            <a:r>
              <a:rPr sz="2475" b="0">
                <a:solidFill>
                  <a:srgbClr val="FCFCF8"/>
                </a:solidFill>
                <a:latin typeface="Arial"/>
                <a:ea typeface="Arial"/>
                <a:cs typeface="Arial"/>
              </a:rPr>
              <a:t>and deterministic service replay</a:t>
            </a:r>
          </a:p>
        </p:txBody>
      </p:sp>
      <p:sp>
        <p:nvSpPr>
          <p:cNvPr id="4" name="text-3">
            <a:extLst xmlns:a="http://schemas.openxmlformats.org/drawingml/2006/main">
              <a:ext uri="{FF2B5EF4-FFF2-40B4-BE49-F238E27FC236}">
                <a16:creationId xmlns:a16="http://schemas.microsoft.com/office/drawing/2014/main" id="{A5B27498-878D-41E9-B653-FCCD3332DA29}"/>
              </a:ext>
            </a:extLst>
          </p:cNvPr>
          <p:cNvSpPr>
            <a:spLocks xmlns:a="http://schemas.openxmlformats.org/drawingml/2006/main" noGrp="1"/>
          </p:cNvSpPr>
          <p:nvPr/>
        </p:nvSpPr>
        <p:spPr>
          <a:xfrm xmlns:a="http://schemas.openxmlformats.org/drawingml/2006/main">
            <a:off x="647700" y="5391150"/>
            <a:ext cx="571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B8D8C6"/>
                </a:solidFill>
                <a:latin typeface="Arial"/>
                <a:ea typeface="Arial"/>
                <a:cs typeface="Arial"/>
              </a:defRPr>
            </a:defPPr>
          </a:lstStyle>
          <a:p xmlns:a="http://schemas.openxmlformats.org/drawingml/2006/main">
            <a:pPr>
              <a:defRPr sz="1650" b="0">
                <a:solidFill>
                  <a:srgbClr val="B8D8C6"/>
                </a:solidFill>
                <a:latin typeface="Arial"/>
                <a:ea typeface="Arial"/>
                <a:cs typeface="Arial"/>
              </a:defRPr>
            </a:pPr>
            <a:r>
              <a:rPr sz="1650" b="0">
                <a:solidFill>
                  <a:srgbClr val="B8D8C6"/>
                </a:solidFill>
                <a:latin typeface="Arial"/>
                <a:ea typeface="Arial"/>
                <a:cs typeface="Arial"/>
              </a:rPr>
              <a:t>Research proposal and working prototype</a:t>
            </a:r>
          </a:p>
          <a:p xmlns:a="http://schemas.openxmlformats.org/drawingml/2006/main">
            <a:pPr>
              <a:defRPr sz="1650" b="0">
                <a:solidFill>
                  <a:srgbClr val="B8D8C6"/>
                </a:solidFill>
                <a:latin typeface="Arial"/>
                <a:ea typeface="Arial"/>
                <a:cs typeface="Arial"/>
              </a:defRPr>
            </a:pPr>
            <a:r>
              <a:rPr sz="1650" b="0">
                <a:solidFill>
                  <a:srgbClr val="B8D8C6"/>
                </a:solidFill>
                <a:latin typeface="Arial"/>
                <a:ea typeface="Arial"/>
                <a:cs typeface="Arial"/>
              </a:rPr>
              <a:t>October 2026</a:t>
            </a:r>
          </a:p>
        </p:txBody>
      </p:sp>
    </p:spTree>
    <p:extLst>
      <p:ext uri="{BB962C8B-B14F-4D97-AF65-F5344CB8AC3E}">
        <p14:creationId xmlns:p14="http://schemas.microsoft.com/office/powerpoint/2010/main" val="468783049"/>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64CA1AAA-2E85-4F31-97ED-F9AC3B574B21}"/>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Research objective</a:t>
            </a:r>
          </a:p>
        </p:txBody>
      </p:sp>
      <p:sp>
        <p:nvSpPr>
          <p:cNvPr id="2" name="text-2">
            <a:extLst xmlns:a="http://schemas.openxmlformats.org/drawingml/2006/main">
              <a:ext uri="{FF2B5EF4-FFF2-40B4-BE49-F238E27FC236}">
                <a16:creationId xmlns:a16="http://schemas.microsoft.com/office/drawing/2014/main" id="{DC6FF1EF-7DA7-4E4A-9BE5-F9F36FCA4916}"/>
              </a:ext>
            </a:extLst>
          </p:cNvPr>
          <p:cNvSpPr>
            <a:spLocks xmlns:a="http://schemas.openxmlformats.org/drawingml/2006/main" noGrp="1"/>
          </p:cNvSpPr>
          <p:nvPr/>
        </p:nvSpPr>
        <p:spPr>
          <a:xfrm xmlns:a="http://schemas.openxmlformats.org/drawingml/2006/main">
            <a:off x="609600" y="1809750"/>
            <a:ext cx="109728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146B5F"/>
                </a:solidFill>
                <a:latin typeface="Arial"/>
                <a:ea typeface="Arial"/>
                <a:cs typeface="Arial"/>
              </a:defRPr>
            </a:defPPr>
          </a:lstStyle>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Can a failed service recover its state</a:t>
            </a:r>
          </a:p>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without regaining revoked authority</a:t>
            </a:r>
          </a:p>
          <a:p xmlns:a="http://schemas.openxmlformats.org/drawingml/2006/main">
            <a:pPr>
              <a:defRPr sz="3225" b="1">
                <a:solidFill>
                  <a:srgbClr val="146B5F"/>
                </a:solidFill>
                <a:latin typeface="Arial"/>
                <a:ea typeface="Arial"/>
                <a:cs typeface="Arial"/>
              </a:defRPr>
            </a:pPr>
            <a:r>
              <a:rPr sz="3225" b="1">
                <a:solidFill>
                  <a:srgbClr val="146B5F"/>
                </a:solidFill>
                <a:latin typeface="Arial"/>
                <a:ea typeface="Arial"/>
                <a:cs typeface="Arial"/>
              </a:rPr>
              <a:t>or repeating committed effects?</a:t>
            </a:r>
          </a:p>
        </p:txBody>
      </p:sp>
      <p:sp>
        <p:nvSpPr>
          <p:cNvPr id="3" name="text-3">
            <a:extLst xmlns:a="http://schemas.openxmlformats.org/drawingml/2006/main">
              <a:ext uri="{FF2B5EF4-FFF2-40B4-BE49-F238E27FC236}">
                <a16:creationId xmlns:a16="http://schemas.microsoft.com/office/drawing/2014/main" id="{2D36AD2A-5AEB-49B0-BF19-DB99A385877A}"/>
              </a:ext>
            </a:extLst>
          </p:cNvPr>
          <p:cNvSpPr>
            <a:spLocks xmlns:a="http://schemas.openxmlformats.org/drawingml/2006/main" noGrp="1"/>
          </p:cNvSpPr>
          <p:nvPr/>
        </p:nvSpPr>
        <p:spPr>
          <a:xfrm xmlns:a="http://schemas.openxmlformats.org/drawingml/2006/main">
            <a:off x="609600" y="4191000"/>
            <a:ext cx="971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22632"/>
                </a:solidFill>
                <a:latin typeface="Arial"/>
                <a:ea typeface="Arial"/>
                <a:cs typeface="Arial"/>
              </a:defRPr>
            </a:defPPr>
          </a:lstStyle>
          <a:p xmlns:a="http://schemas.openxmlformats.org/drawingml/2006/main">
            <a:pPr>
              <a:defRPr sz="2175" b="0">
                <a:solidFill>
                  <a:srgbClr val="122632"/>
                </a:solidFill>
                <a:latin typeface="Arial"/>
                <a:ea typeface="Arial"/>
                <a:cs typeface="Arial"/>
              </a:defRPr>
            </a:pPr>
            <a:r>
              <a:rPr sz="2175" b="0">
                <a:solidFill>
                  <a:srgbClr val="122632"/>
                </a:solidFill>
                <a:latin typeface="Arial"/>
                <a:ea typeface="Arial"/>
                <a:cs typeface="Arial"/>
              </a:rPr>
              <a:t>MnemosyneOS studies a capability-secure microkernel, deterministic service replay, and policy-checked recovery proposals.</a:t>
            </a:r>
          </a:p>
        </p:txBody>
      </p:sp>
      <p:sp>
        <p:nvSpPr>
          <p:cNvPr id="4" name="text-4">
            <a:extLst xmlns:a="http://schemas.openxmlformats.org/drawingml/2006/main">
              <a:ext uri="{FF2B5EF4-FFF2-40B4-BE49-F238E27FC236}">
                <a16:creationId xmlns:a16="http://schemas.microsoft.com/office/drawing/2014/main" id="{0A7AB087-F367-47A3-9CEE-2A677AD576D5}"/>
              </a:ext>
            </a:extLst>
          </p:cNvPr>
          <p:cNvSpPr>
            <a:spLocks xmlns:a="http://schemas.openxmlformats.org/drawingml/2006/main" noGrp="1"/>
          </p:cNvSpPr>
          <p:nvPr/>
        </p:nvSpPr>
        <p:spPr>
          <a:xfrm xmlns:a="http://schemas.openxmlformats.org/drawingml/2006/main">
            <a:off x="609600" y="5353050"/>
            <a:ext cx="10620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8656A"/>
                </a:solidFill>
                <a:latin typeface="Arial"/>
                <a:ea typeface="Arial"/>
                <a:cs typeface="Arial"/>
              </a:defRPr>
            </a:defPPr>
          </a:lstStyle>
          <a:p xmlns:a="http://schemas.openxmlformats.org/drawingml/2006/main">
            <a:pPr>
              <a:defRPr sz="1800" b="0">
                <a:solidFill>
                  <a:srgbClr val="58656A"/>
                </a:solidFill>
                <a:latin typeface="Arial"/>
                <a:ea typeface="Arial"/>
                <a:cs typeface="Arial"/>
              </a:defRPr>
            </a:pPr>
            <a:r>
              <a:rPr sz="1800" b="0">
                <a:solidFill>
                  <a:srgbClr val="58656A"/>
                </a:solidFill>
                <a:latin typeface="Arial"/>
                <a:ea typeface="Arial"/>
                <a:cs typeface="Arial"/>
              </a:rPr>
              <a:t>The recovery protocol is the central research question. The custom kernel provides the experimental environment.</a:t>
            </a:r>
          </a:p>
        </p:txBody>
      </p:sp>
      <p:sp>
        <p:nvSpPr>
          <p:cNvPr id="5" name="text-5">
            <a:extLst xmlns:a="http://schemas.openxmlformats.org/drawingml/2006/main">
              <a:ext uri="{FF2B5EF4-FFF2-40B4-BE49-F238E27FC236}">
                <a16:creationId xmlns:a16="http://schemas.microsoft.com/office/drawing/2014/main" id="{73D4FC64-FE11-48A6-8AF3-FDA485B7E3C0}"/>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02 / 30     </a:t>
            </a:r>
          </a:p>
        </p:txBody>
      </p:sp>
    </p:spTree>
    <p:extLst>
      <p:ext uri="{BB962C8B-B14F-4D97-AF65-F5344CB8AC3E}">
        <p14:creationId xmlns:p14="http://schemas.microsoft.com/office/powerpoint/2010/main" val="514107608"/>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FD8D7542-3625-430C-B56D-3D53186E04BC}"/>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Why service recovery is difficult</a:t>
            </a:r>
          </a:p>
        </p:txBody>
      </p:sp>
      <p:sp>
        <p:nvSpPr>
          <p:cNvPr id="2" name="text-2">
            <a:extLst xmlns:a="http://schemas.openxmlformats.org/drawingml/2006/main">
              <a:ext uri="{FF2B5EF4-FFF2-40B4-BE49-F238E27FC236}">
                <a16:creationId xmlns:a16="http://schemas.microsoft.com/office/drawing/2014/main" id="{FE002B9A-4827-40EB-B649-7F5E9B10D1D8}"/>
              </a:ext>
            </a:extLst>
          </p:cNvPr>
          <p:cNvSpPr>
            <a:spLocks xmlns:a="http://schemas.openxmlformats.org/drawingml/2006/main" noGrp="1"/>
          </p:cNvSpPr>
          <p:nvPr/>
        </p:nvSpPr>
        <p:spPr>
          <a:xfrm xmlns:a="http://schemas.openxmlformats.org/drawingml/2006/main">
            <a:off x="609600" y="18478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Containment</a:t>
            </a:r>
          </a:p>
        </p:txBody>
      </p:sp>
      <p:sp>
        <p:nvSpPr>
          <p:cNvPr id="3" name="text-3">
            <a:extLst xmlns:a="http://schemas.openxmlformats.org/drawingml/2006/main">
              <a:ext uri="{FF2B5EF4-FFF2-40B4-BE49-F238E27FC236}">
                <a16:creationId xmlns:a16="http://schemas.microsoft.com/office/drawing/2014/main" id="{10B062A9-18D0-4A6A-A8F4-10B24586C7F6}"/>
              </a:ext>
            </a:extLst>
          </p:cNvPr>
          <p:cNvSpPr>
            <a:spLocks xmlns:a="http://schemas.openxmlformats.org/drawingml/2006/main" noGrp="1"/>
          </p:cNvSpPr>
          <p:nvPr/>
        </p:nvSpPr>
        <p:spPr>
          <a:xfrm xmlns:a="http://schemas.openxmlformats.org/drawingml/2006/main">
            <a:off x="3524250" y="18478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 component failure must leave unrelated services able to run.</a:t>
            </a:r>
          </a:p>
        </p:txBody>
      </p:sp>
      <p:sp>
        <p:nvSpPr>
          <p:cNvPr id="4" name="text-4">
            <a:extLst xmlns:a="http://schemas.openxmlformats.org/drawingml/2006/main">
              <a:ext uri="{FF2B5EF4-FFF2-40B4-BE49-F238E27FC236}">
                <a16:creationId xmlns:a16="http://schemas.microsoft.com/office/drawing/2014/main" id="{6C1613D3-4C9A-483F-8881-FE43D766104A}"/>
              </a:ext>
            </a:extLst>
          </p:cNvPr>
          <p:cNvSpPr>
            <a:spLocks xmlns:a="http://schemas.openxmlformats.org/drawingml/2006/main" noGrp="1"/>
          </p:cNvSpPr>
          <p:nvPr/>
        </p:nvSpPr>
        <p:spPr>
          <a:xfrm xmlns:a="http://schemas.openxmlformats.org/drawingml/2006/main">
            <a:off x="609600" y="28194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State</a:t>
            </a:r>
          </a:p>
        </p:txBody>
      </p:sp>
      <p:sp>
        <p:nvSpPr>
          <p:cNvPr id="5" name="text-5">
            <a:extLst xmlns:a="http://schemas.openxmlformats.org/drawingml/2006/main">
              <a:ext uri="{FF2B5EF4-FFF2-40B4-BE49-F238E27FC236}">
                <a16:creationId xmlns:a16="http://schemas.microsoft.com/office/drawing/2014/main" id="{9ABC75CF-F797-4130-8C6C-39162E030F7F}"/>
              </a:ext>
            </a:extLst>
          </p:cNvPr>
          <p:cNvSpPr>
            <a:spLocks xmlns:a="http://schemas.openxmlformats.org/drawingml/2006/main" noGrp="1"/>
          </p:cNvSpPr>
          <p:nvPr/>
        </p:nvSpPr>
        <p:spPr>
          <a:xfrm xmlns:a="http://schemas.openxmlformats.org/drawingml/2006/main">
            <a:off x="3524250" y="28194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 restart needs a consistent checkpoint and an agreed input history.</a:t>
            </a:r>
          </a:p>
        </p:txBody>
      </p:sp>
      <p:sp>
        <p:nvSpPr>
          <p:cNvPr id="6" name="text-6">
            <a:extLst xmlns:a="http://schemas.openxmlformats.org/drawingml/2006/main">
              <a:ext uri="{FF2B5EF4-FFF2-40B4-BE49-F238E27FC236}">
                <a16:creationId xmlns:a16="http://schemas.microsoft.com/office/drawing/2014/main" id="{578098D5-0B93-4D46-93D5-CE1ADC292743}"/>
              </a:ext>
            </a:extLst>
          </p:cNvPr>
          <p:cNvSpPr>
            <a:spLocks xmlns:a="http://schemas.openxmlformats.org/drawingml/2006/main" noGrp="1"/>
          </p:cNvSpPr>
          <p:nvPr/>
        </p:nvSpPr>
        <p:spPr>
          <a:xfrm xmlns:a="http://schemas.openxmlformats.org/drawingml/2006/main">
            <a:off x="609600" y="37909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Authority</a:t>
            </a:r>
          </a:p>
        </p:txBody>
      </p:sp>
      <p:sp>
        <p:nvSpPr>
          <p:cNvPr id="7" name="text-7">
            <a:extLst xmlns:a="http://schemas.openxmlformats.org/drawingml/2006/main">
              <a:ext uri="{FF2B5EF4-FFF2-40B4-BE49-F238E27FC236}">
                <a16:creationId xmlns:a16="http://schemas.microsoft.com/office/drawing/2014/main" id="{CF27FA82-1A1F-4EF5-83B1-0CEDC69FA0B4}"/>
              </a:ext>
            </a:extLst>
          </p:cNvPr>
          <p:cNvSpPr>
            <a:spLocks xmlns:a="http://schemas.openxmlformats.org/drawingml/2006/main" noGrp="1"/>
          </p:cNvSpPr>
          <p:nvPr/>
        </p:nvSpPr>
        <p:spPr>
          <a:xfrm xmlns:a="http://schemas.openxmlformats.org/drawingml/2006/main">
            <a:off x="3524250" y="37909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Recovery must use permissions that remain valid now.</a:t>
            </a:r>
          </a:p>
        </p:txBody>
      </p:sp>
      <p:sp>
        <p:nvSpPr>
          <p:cNvPr id="8" name="text-8">
            <a:extLst xmlns:a="http://schemas.openxmlformats.org/drawingml/2006/main">
              <a:ext uri="{FF2B5EF4-FFF2-40B4-BE49-F238E27FC236}">
                <a16:creationId xmlns:a16="http://schemas.microsoft.com/office/drawing/2014/main" id="{3E41C809-08FE-4091-8A6B-B07A6F131CE8}"/>
              </a:ext>
            </a:extLst>
          </p:cNvPr>
          <p:cNvSpPr>
            <a:spLocks xmlns:a="http://schemas.openxmlformats.org/drawingml/2006/main" noGrp="1"/>
          </p:cNvSpPr>
          <p:nvPr/>
        </p:nvSpPr>
        <p:spPr>
          <a:xfrm xmlns:a="http://schemas.openxmlformats.org/drawingml/2006/main">
            <a:off x="609600" y="47625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Effects</a:t>
            </a:r>
          </a:p>
        </p:txBody>
      </p:sp>
      <p:sp>
        <p:nvSpPr>
          <p:cNvPr id="9" name="text-9">
            <a:extLst xmlns:a="http://schemas.openxmlformats.org/drawingml/2006/main">
              <a:ext uri="{FF2B5EF4-FFF2-40B4-BE49-F238E27FC236}">
                <a16:creationId xmlns:a16="http://schemas.microsoft.com/office/drawing/2014/main" id="{3389B658-EDFB-4195-8115-2B8BC8A5C8F8}"/>
              </a:ext>
            </a:extLst>
          </p:cNvPr>
          <p:cNvSpPr>
            <a:spLocks xmlns:a="http://schemas.openxmlformats.org/drawingml/2006/main" noGrp="1"/>
          </p:cNvSpPr>
          <p:nvPr/>
        </p:nvSpPr>
        <p:spPr>
          <a:xfrm xmlns:a="http://schemas.openxmlformats.org/drawingml/2006/main">
            <a:off x="3524250" y="47625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 retry can repeat an operation that another service already committed.</a:t>
            </a:r>
          </a:p>
        </p:txBody>
      </p:sp>
      <p:sp>
        <p:nvSpPr>
          <p:cNvPr id="10" name="text-10">
            <a:extLst xmlns:a="http://schemas.openxmlformats.org/drawingml/2006/main">
              <a:ext uri="{FF2B5EF4-FFF2-40B4-BE49-F238E27FC236}">
                <a16:creationId xmlns:a16="http://schemas.microsoft.com/office/drawing/2014/main" id="{C164C64B-2872-48E9-AF98-BE0F96E71423}"/>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03 / 30     Research problem. The current prototype tests a deliberately restricted recovery case.</a:t>
            </a:r>
          </a:p>
        </p:txBody>
      </p:sp>
    </p:spTree>
    <p:extLst>
      <p:ext uri="{BB962C8B-B14F-4D97-AF65-F5344CB8AC3E}">
        <p14:creationId xmlns:p14="http://schemas.microsoft.com/office/powerpoint/2010/main" val="761294672"/>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619E33DB-55AE-49EE-82EC-B669633517B5}"/>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Scope and implementation status</a:t>
            </a:r>
          </a:p>
        </p:txBody>
      </p:sp>
      <p:graphicFrame>
        <p:nvGraphicFramePr>
          <p:cNvPr id="2" name="">
            <a:extLst xmlns:a="http://schemas.openxmlformats.org/drawingml/2006/main">
              <a:ext uri="{FF2B5EF4-FFF2-40B4-BE49-F238E27FC236}">
                <a16:creationId xmlns:a16="http://schemas.microsoft.com/office/drawing/2014/main" id="{F4167B1A-EDEC-4280-80CA-DC395FE324D5}"/>
              </a:ext>
            </a:extLst>
          </p:cNvPr>
          <p:cNvGraphicFramePr/>
          <p:nvPr/>
        </p:nvGraphicFramePr>
        <p:xfrm>
          <a:off xmlns:a="http://schemas.openxmlformats.org/drawingml/2006/main" x="609600" y="1685925"/>
          <a:ext xmlns:a="http://schemas.openxmlformats.org/drawingml/2006/main" cx="10972800" cy="4143375"/>
        </p:xfrm>
        <a:graphic xmlns:a="http://schemas.openxmlformats.org/drawingml/2006/main">
          <a:graphicData uri="http://schemas.openxmlformats.org/drawingml/2006/table">
            <a:tbl>
              <a:tblPr firstRow="1" bandRow="0"/>
              <a:tblGrid>
                <a:gridCol w="3048000"/>
                <a:gridCol w="2476500"/>
                <a:gridCol w="5448300"/>
              </a:tblGrid>
              <a:tr h="457200">
                <a:tc>
                  <a:txBody>
                    <a:bodyPr/>
                    <a:lstStyle/>
                    <a:p>
                      <a:r>
                        <a:rPr sz="1725" b="1">
                          <a:solidFill>
                            <a:srgbClr val="FCFCF8"/>
                          </a:solidFill>
                          <a:latin typeface="Arial"/>
                          <a:ea typeface="Arial"/>
                          <a:cs typeface="Arial"/>
                        </a:rPr>
                        <a:t>Component</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Current state</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Next acceptance gate</a:t>
                      </a:r>
                    </a:p>
                  </a:txBody>
                  <a:tcPr marL="133350" marR="133350" marT="66675" marB="66675" anchor="ctr">
                    <a:solidFill>
                      <a:srgbClr val="122632"/>
                    </a:solidFill>
                  </a:tcPr>
                </a:tc>
              </a:tr>
              <a:tr h="409575">
                <a:tc>
                  <a:txBody>
                    <a:bodyPr/>
                    <a:lstStyle/>
                    <a:p>
                      <a:r>
                        <a:rPr sz="1725" b="1">
                          <a:solidFill>
                            <a:srgbClr val="122632"/>
                          </a:solidFill>
                          <a:latin typeface="Arial"/>
                          <a:ea typeface="Arial"/>
                          <a:cs typeface="Arial"/>
                        </a:rPr>
                        <a:t>Rust microkernel</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Booting</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Process lifecycle and syscall boundary</a:t>
                      </a:r>
                    </a:p>
                  </a:txBody>
                  <a:tcPr marL="133350" marR="133350" marT="66675" marB="66675" anchor="ctr">
                    <a:solidFill>
                      <a:srgbClr val="F6F4EE"/>
                    </a:solidFill>
                  </a:tcPr>
                </a:tc>
              </a:tr>
              <a:tr h="409575">
                <a:tc>
                  <a:txBody>
                    <a:bodyPr/>
                    <a:lstStyle/>
                    <a:p>
                      <a:r>
                        <a:rPr sz="1725" b="1">
                          <a:solidFill>
                            <a:srgbClr val="122632"/>
                          </a:solidFill>
                          <a:latin typeface="Arial"/>
                          <a:ea typeface="Arial"/>
                          <a:cs typeface="Arial"/>
                        </a:rPr>
                        <a:t>Processes and IPC</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Mapping tested</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Ring 3, preemption, bounded endpoints</a:t>
                      </a:r>
                    </a:p>
                  </a:txBody>
                  <a:tcPr marL="133350" marR="133350" marT="66675" marB="66675" anchor="ctr">
                    <a:solidFill>
                      <a:srgbClr val="E9EDE7"/>
                    </a:solidFill>
                  </a:tcPr>
                </a:tc>
              </a:tr>
              <a:tr h="409575">
                <a:tc>
                  <a:txBody>
                    <a:bodyPr/>
                    <a:lstStyle/>
                    <a:p>
                      <a:r>
                        <a:rPr sz="1725" b="1">
                          <a:solidFill>
                            <a:srgbClr val="122632"/>
                          </a:solidFill>
                          <a:latin typeface="Arial"/>
                          <a:ea typeface="Arial"/>
                          <a:cs typeface="Arial"/>
                        </a:rPr>
                        <a:t>Capabilities</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Table tested</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Enforce handles across processes</a:t>
                      </a:r>
                    </a:p>
                  </a:txBody>
                  <a:tcPr marL="133350" marR="133350" marT="66675" marB="66675" anchor="ctr">
                    <a:solidFill>
                      <a:srgbClr val="F6F4EE"/>
                    </a:solidFill>
                  </a:tcPr>
                </a:tc>
              </a:tr>
              <a:tr h="409575">
                <a:tc>
                  <a:txBody>
                    <a:bodyPr/>
                    <a:lstStyle/>
                    <a:p>
                      <a:r>
                        <a:rPr sz="1725" b="1">
                          <a:solidFill>
                            <a:srgbClr val="122632"/>
                          </a:solidFill>
                          <a:latin typeface="Arial"/>
                          <a:ea typeface="Arial"/>
                          <a:cs typeface="Arial"/>
                        </a:rPr>
                        <a:t>Service isolation</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Planned</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A fault leaves a sibling service running</a:t>
                      </a:r>
                    </a:p>
                  </a:txBody>
                  <a:tcPr marL="133350" marR="133350" marT="66675" marB="66675" anchor="ctr">
                    <a:solidFill>
                      <a:srgbClr val="E9EDE7"/>
                    </a:solidFill>
                  </a:tcPr>
                </a:tc>
              </a:tr>
              <a:tr h="409575">
                <a:tc>
                  <a:txBody>
                    <a:bodyPr/>
                    <a:lstStyle/>
                    <a:p>
                      <a:r>
                        <a:rPr sz="1725" b="1">
                          <a:solidFill>
                            <a:srgbClr val="122632"/>
                          </a:solidFill>
                          <a:latin typeface="Arial"/>
                          <a:ea typeface="Arial"/>
                          <a:cs typeface="Arial"/>
                        </a:rPr>
                        <a:t>ChronicleFS</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Planned</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Persistent roots and reboot recovery</a:t>
                      </a:r>
                    </a:p>
                  </a:txBody>
                  <a:tcPr marL="133350" marR="133350" marT="66675" marB="66675" anchor="ctr">
                    <a:solidFill>
                      <a:srgbClr val="F6F4EE"/>
                    </a:solidFill>
                  </a:tcPr>
                </a:tc>
              </a:tr>
              <a:tr h="409575">
                <a:tc>
                  <a:txBody>
                    <a:bodyPr/>
                    <a:lstStyle/>
                    <a:p>
                      <a:r>
                        <a:rPr sz="1725" b="1">
                          <a:solidFill>
                            <a:srgbClr val="122632"/>
                          </a:solidFill>
                          <a:latin typeface="Arial"/>
                          <a:ea typeface="Arial"/>
                          <a:cs typeface="Arial"/>
                        </a:rPr>
                        <a:t>Wasm runtime</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Host prototype</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Move runtime into a userspace service</a:t>
                      </a:r>
                    </a:p>
                  </a:txBody>
                  <a:tcPr marL="133350" marR="133350" marT="66675" marB="66675" anchor="ctr">
                    <a:solidFill>
                      <a:srgbClr val="E9EDE7"/>
                    </a:solidFill>
                  </a:tcPr>
                </a:tc>
              </a:tr>
              <a:tr h="409575">
                <a:tc>
                  <a:txBody>
                    <a:bodyPr/>
                    <a:lstStyle/>
                    <a:p>
                      <a:r>
                        <a:rPr sz="1725" b="1">
                          <a:solidFill>
                            <a:srgbClr val="122632"/>
                          </a:solidFill>
                          <a:latin typeface="Arial"/>
                          <a:ea typeface="Arial"/>
                          <a:cs typeface="Arial"/>
                        </a:rPr>
                        <a:t>Checkpoint / replay</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Host prototype</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Durable logs and guest integration</a:t>
                      </a:r>
                    </a:p>
                  </a:txBody>
                  <a:tcPr marL="133350" marR="133350" marT="66675" marB="66675" anchor="ctr">
                    <a:solidFill>
                      <a:srgbClr val="F6F4EE"/>
                    </a:solidFill>
                  </a:tcPr>
                </a:tc>
              </a:tr>
              <a:tr h="409575">
                <a:tc>
                  <a:txBody>
                    <a:bodyPr/>
                    <a:lstStyle/>
                    <a:p>
                      <a:r>
                        <a:rPr sz="1725" b="1">
                          <a:solidFill>
                            <a:srgbClr val="122632"/>
                          </a:solidFill>
                          <a:latin typeface="Arial"/>
                          <a:ea typeface="Arial"/>
                          <a:cs typeface="Arial"/>
                        </a:rPr>
                        <a:t>Recovery verifier</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Planned</a:t>
                      </a:r>
                    </a:p>
                  </a:txBody>
                  <a:tcPr marL="133350" marR="133350" marT="66675" marB="66675" anchor="ctr">
                    <a:solidFill>
                      <a:srgbClr val="E9EDE7"/>
                    </a:solidFill>
                  </a:tcPr>
                </a:tc>
                <a:tc>
                  <a:txBody>
                    <a:bodyPr/>
                    <a:lstStyle/>
                    <a:p>
                      <a:r>
                        <a:rPr sz="1725" b="0">
                          <a:solidFill>
                            <a:srgbClr val="122632"/>
                          </a:solidFill>
                          <a:latin typeface="Arial"/>
                          <a:ea typeface="Arial"/>
                          <a:cs typeface="Arial"/>
                        </a:rPr>
                        <a:t>Check typed plans before execution</a:t>
                      </a:r>
                    </a:p>
                  </a:txBody>
                  <a:tcPr marL="133350" marR="133350" marT="66675" marB="66675" anchor="ctr">
                    <a:solidFill>
                      <a:srgbClr val="E9EDE7"/>
                    </a:solidFill>
                  </a:tcPr>
                </a:tc>
              </a:tr>
              <a:tr h="409575">
                <a:tc>
                  <a:txBody>
                    <a:bodyPr/>
                    <a:lstStyle/>
                    <a:p>
                      <a:r>
                        <a:rPr sz="1725" b="1">
                          <a:solidFill>
                            <a:srgbClr val="122632"/>
                          </a:solidFill>
                          <a:latin typeface="Arial"/>
                          <a:ea typeface="Arial"/>
                          <a:cs typeface="Arial"/>
                        </a:rPr>
                        <a:t>Fault tests / dashboard</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CLI tests</a:t>
                      </a:r>
                    </a:p>
                  </a:txBody>
                  <a:tcPr marL="133350" marR="133350" marT="66675" marB="66675" anchor="ctr">
                    <a:solidFill>
                      <a:srgbClr val="F6F4EE"/>
                    </a:solidFill>
                  </a:tcPr>
                </a:tc>
                <a:tc>
                  <a:txBody>
                    <a:bodyPr/>
                    <a:lstStyle/>
                    <a:p>
                      <a:r>
                        <a:rPr sz="1725" b="0">
                          <a:solidFill>
                            <a:srgbClr val="122632"/>
                          </a:solidFill>
                          <a:latin typeface="Arial"/>
                          <a:ea typeface="Arial"/>
                          <a:cs typeface="Arial"/>
                        </a:rPr>
                        <a:t>Measured fault campaign and host UI</a:t>
                      </a:r>
                    </a:p>
                  </a:txBody>
                  <a:tcPr marL="133350" marR="133350"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F4F69F29-A47E-4499-A1B4-E618934DF897}"/>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04 / 30     Current implementation baseline: 44b739d. Full-system recovery remains a completion target.</a:t>
            </a:r>
          </a:p>
        </p:txBody>
      </p:sp>
    </p:spTree>
    <p:extLst>
      <p:ext uri="{BB962C8B-B14F-4D97-AF65-F5344CB8AC3E}">
        <p14:creationId xmlns:p14="http://schemas.microsoft.com/office/powerpoint/2010/main" val="2082786206"/>
      </p:ext>
    </p:extLst>
  </p:cSld>
</p:sld>
</file>

<file path=ppt/slides/slide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FF3879E0-5CAA-4F2B-8DD4-5D8C4B3A8960}"/>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Proposed system architecture</a:t>
            </a:r>
          </a:p>
        </p:txBody>
      </p:sp>
      <p:graphicFrame>
        <p:nvGraphicFramePr>
          <p:cNvPr id="2" name="">
            <a:extLst xmlns:a="http://schemas.openxmlformats.org/drawingml/2006/main">
              <a:ext uri="{FF2B5EF4-FFF2-40B4-BE49-F238E27FC236}">
                <a16:creationId xmlns:a16="http://schemas.microsoft.com/office/drawing/2014/main" id="{A1F2CBCA-69C4-4935-B176-2715FBC1F2A2}"/>
              </a:ext>
            </a:extLst>
          </p:cNvPr>
          <p:cNvGraphicFramePr/>
          <p:nvPr/>
        </p:nvGraphicFramePr>
        <p:xfrm>
          <a:off xmlns:a="http://schemas.openxmlformats.org/drawingml/2006/main" x="609600" y="1685925"/>
          <a:ext xmlns:a="http://schemas.openxmlformats.org/drawingml/2006/main" cx="10972800" cy="3962400"/>
        </p:xfrm>
        <a:graphic xmlns:a="http://schemas.openxmlformats.org/drawingml/2006/main">
          <a:graphicData uri="http://schemas.openxmlformats.org/drawingml/2006/table">
            <a:tbl>
              <a:tblPr firstRow="1" bandRow="0"/>
              <a:tblGrid>
                <a:gridCol w="2524125"/>
                <a:gridCol w="4810125"/>
                <a:gridCol w="3638550"/>
              </a:tblGrid>
              <a:tr h="457200">
                <a:tc>
                  <a:txBody>
                    <a:bodyPr/>
                    <a:lstStyle/>
                    <a:p>
                      <a:r>
                        <a:rPr sz="1725" b="1">
                          <a:solidFill>
                            <a:srgbClr val="FCFCF8"/>
                          </a:solidFill>
                          <a:latin typeface="Arial"/>
                          <a:ea typeface="Arial"/>
                          <a:cs typeface="Arial"/>
                        </a:rPr>
                        <a:t>Layer</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Responsibility</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Authority boundary</a:t>
                      </a:r>
                    </a:p>
                  </a:txBody>
                  <a:tcPr marL="133350" marR="133350" marT="66675" marB="66675" anchor="ctr">
                    <a:solidFill>
                      <a:srgbClr val="122632"/>
                    </a:solidFill>
                  </a:tcPr>
                </a:tc>
              </a:tr>
              <a:tr h="876300">
                <a:tc>
                  <a:txBody>
                    <a:bodyPr/>
                    <a:lstStyle/>
                    <a:p>
                      <a:r>
                        <a:rPr sz="1875" b="1">
                          <a:solidFill>
                            <a:srgbClr val="122632"/>
                          </a:solidFill>
                          <a:latin typeface="Arial"/>
                          <a:ea typeface="Arial"/>
                          <a:cs typeface="Arial"/>
                        </a:rPr>
                        <a:t>Wasm workloads</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Run bounded applications through a small import ABI</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No ambient device or file access</a:t>
                      </a:r>
                    </a:p>
                  </a:txBody>
                  <a:tcPr marL="133350" marR="133350" marT="66675" marB="66675" anchor="ctr">
                    <a:solidFill>
                      <a:srgbClr val="F6F4EE"/>
                    </a:solidFill>
                  </a:tcPr>
                </a:tc>
              </a:tr>
              <a:tr h="876300">
                <a:tc>
                  <a:txBody>
                    <a:bodyPr/>
                    <a:lstStyle/>
                    <a:p>
                      <a:r>
                        <a:rPr sz="1875" b="1">
                          <a:solidFill>
                            <a:srgbClr val="122632"/>
                          </a:solidFill>
                          <a:latin typeface="Arial"/>
                          <a:ea typeface="Arial"/>
                          <a:cs typeface="Arial"/>
                        </a:rPr>
                        <a:t>Userspace services</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IPC, ChronicleFS, checkpoints and service supervision</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Explicit delegated capabilities</a:t>
                      </a:r>
                    </a:p>
                  </a:txBody>
                  <a:tcPr marL="133350" marR="133350" marT="66675" marB="66675" anchor="ctr">
                    <a:solidFill>
                      <a:srgbClr val="E9EDE7"/>
                    </a:solidFill>
                  </a:tcPr>
                </a:tc>
              </a:tr>
              <a:tr h="876300">
                <a:tc>
                  <a:txBody>
                    <a:bodyPr/>
                    <a:lstStyle/>
                    <a:p>
                      <a:r>
                        <a:rPr sz="1875" b="1">
                          <a:solidFill>
                            <a:srgbClr val="122632"/>
                          </a:solidFill>
                          <a:latin typeface="Arial"/>
                          <a:ea typeface="Arial"/>
                          <a:cs typeface="Arial"/>
                        </a:rPr>
                        <a:t>Recovery control</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Propose, verify, stage and publish recovery actions</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The proposer cannot execute directly</a:t>
                      </a:r>
                    </a:p>
                  </a:txBody>
                  <a:tcPr marL="133350" marR="133350" marT="66675" marB="66675" anchor="ctr">
                    <a:solidFill>
                      <a:srgbClr val="F6F4EE"/>
                    </a:solidFill>
                  </a:tcPr>
                </a:tc>
              </a:tr>
              <a:tr h="876300">
                <a:tc>
                  <a:txBody>
                    <a:bodyPr/>
                    <a:lstStyle/>
                    <a:p>
                      <a:r>
                        <a:rPr sz="1875" b="1">
                          <a:solidFill>
                            <a:srgbClr val="122632"/>
                          </a:solidFill>
                          <a:latin typeface="Arial"/>
                          <a:ea typeface="Arial"/>
                          <a:cs typeface="Arial"/>
                        </a:rPr>
                        <a:t>Rust microkernel</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Address spaces, scheduling, endpoints and object handles</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Kernel enforces each privileged operation</a:t>
                      </a:r>
                    </a:p>
                  </a:txBody>
                  <a:tcPr marL="133350" marR="133350"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0E67833A-3C18-4189-AF1B-393E58428A3B}"/>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05 / 30     Target architecture. The implemented kernel and host runtime are currently separate.</a:t>
            </a:r>
          </a:p>
        </p:txBody>
      </p:sp>
    </p:spTree>
    <p:extLst>
      <p:ext uri="{BB962C8B-B14F-4D97-AF65-F5344CB8AC3E}">
        <p14:creationId xmlns:p14="http://schemas.microsoft.com/office/powerpoint/2010/main" val="69605034"/>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AB4EF83C-16C6-418A-933F-0F078C67C7CA}"/>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Capability table semantics</a:t>
            </a:r>
          </a:p>
        </p:txBody>
      </p:sp>
      <p:graphicFrame>
        <p:nvGraphicFramePr>
          <p:cNvPr id="2" name="">
            <a:extLst xmlns:a="http://schemas.openxmlformats.org/drawingml/2006/main">
              <a:ext uri="{FF2B5EF4-FFF2-40B4-BE49-F238E27FC236}">
                <a16:creationId xmlns:a16="http://schemas.microsoft.com/office/drawing/2014/main" id="{143C9D12-3832-4C59-9841-4CB7B5A6503E}"/>
              </a:ext>
            </a:extLst>
          </p:cNvPr>
          <p:cNvGraphicFramePr/>
          <p:nvPr/>
        </p:nvGraphicFramePr>
        <p:xfrm>
          <a:off xmlns:a="http://schemas.openxmlformats.org/drawingml/2006/main" x="609600" y="1685925"/>
          <a:ext xmlns:a="http://schemas.openxmlformats.org/drawingml/2006/main" cx="10972800" cy="4029075"/>
        </p:xfrm>
        <a:graphic xmlns:a="http://schemas.openxmlformats.org/drawingml/2006/main">
          <a:graphicData uri="http://schemas.openxmlformats.org/drawingml/2006/table">
            <a:tbl>
              <a:tblPr firstRow="1" bandRow="0"/>
              <a:tblGrid>
                <a:gridCol w="2571750"/>
                <a:gridCol w="4238625"/>
                <a:gridCol w="4162425"/>
              </a:tblGrid>
              <a:tr h="457200">
                <a:tc>
                  <a:txBody>
                    <a:bodyPr/>
                    <a:lstStyle/>
                    <a:p>
                      <a:r>
                        <a:rPr sz="1725" b="1">
                          <a:solidFill>
                            <a:srgbClr val="FCFCF8"/>
                          </a:solidFill>
                          <a:latin typeface="Arial"/>
                          <a:ea typeface="Arial"/>
                          <a:cs typeface="Arial"/>
                        </a:rPr>
                        <a:t>Operation</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Example</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Checked outcome</a:t>
                      </a:r>
                    </a:p>
                  </a:txBody>
                  <a:tcPr marL="133350" marR="133350" marT="66675" marB="66675" anchor="ctr">
                    <a:solidFill>
                      <a:srgbClr val="122632"/>
                    </a:solidFill>
                  </a:tcPr>
                </a:tc>
              </a:tr>
              <a:tr h="714375">
                <a:tc>
                  <a:txBody>
                    <a:bodyPr/>
                    <a:lstStyle/>
                    <a:p>
                      <a:r>
                        <a:rPr sz="1875" b="1">
                          <a:solidFill>
                            <a:srgbClr val="122632"/>
                          </a:solidFill>
                          <a:latin typeface="Arial"/>
                          <a:ea typeface="Arial"/>
                          <a:cs typeface="Arial"/>
                        </a:rPr>
                        <a:t>Mint root</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Memory object 7 with READ + DELEGATE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Trusted object manager only</a:t>
                      </a:r>
                    </a:p>
                  </a:txBody>
                  <a:tcPr marL="133350" marR="133350" marT="66675" marB="66675" anchor="ctr">
                    <a:solidFill>
                      <a:srgbClr val="F6F4EE"/>
                    </a:solidFill>
                  </a:tcPr>
                </a:tc>
              </a:tr>
              <a:tr h="714375">
                <a:tc>
                  <a:txBody>
                    <a:bodyPr/>
                    <a:lstStyle/>
                    <a:p>
                      <a:r>
                        <a:rPr sz="1875" b="1">
                          <a:solidFill>
                            <a:srgbClr val="122632"/>
                          </a:solidFill>
                          <a:latin typeface="Arial"/>
                          <a:ea typeface="Arial"/>
                          <a:cs typeface="Arial"/>
                        </a:rPr>
                        <a:t>Delegate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Child receives READ</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Rights can only decrease</a:t>
                      </a:r>
                    </a:p>
                  </a:txBody>
                  <a:tcPr marL="133350" marR="133350" marT="66675" marB="66675" anchor="ctr">
                    <a:solidFill>
                      <a:srgbClr val="E9EDE7"/>
                    </a:solidFill>
                  </a:tcPr>
                </a:tc>
              </a:tr>
              <a:tr h="714375">
                <a:tc>
                  <a:txBody>
                    <a:bodyPr/>
                    <a:lstStyle/>
                    <a:p>
                      <a:r>
                        <a:rPr sz="1875" b="1">
                          <a:solidFill>
                            <a:srgbClr val="122632"/>
                          </a:solidFill>
                          <a:latin typeface="Arial"/>
                          <a:ea typeface="Arial"/>
                          <a:cs typeface="Arial"/>
                        </a:rPr>
                        <a:t>Resolve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Use READ handle to request WRITE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Denied</a:t>
                      </a:r>
                    </a:p>
                  </a:txBody>
                  <a:tcPr marL="133350" marR="133350" marT="66675" marB="66675" anchor="ctr">
                    <a:solidFill>
                      <a:srgbClr val="F6F4EE"/>
                    </a:solidFill>
                  </a:tcPr>
                </a:tc>
              </a:tr>
              <a:tr h="714375">
                <a:tc>
                  <a:txBody>
                    <a:bodyPr/>
                    <a:lstStyle/>
                    <a:p>
                      <a:r>
                        <a:rPr sz="1875" b="1">
                          <a:solidFill>
                            <a:srgbClr val="122632"/>
                          </a:solidFill>
                          <a:latin typeface="Arial"/>
                          <a:ea typeface="Arial"/>
                          <a:cs typeface="Arial"/>
                        </a:rPr>
                        <a:t>Revoke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Remove a derivation subtree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Descendant handles become invalid</a:t>
                      </a:r>
                    </a:p>
                  </a:txBody>
                  <a:tcPr marL="133350" marR="133350" marT="66675" marB="66675" anchor="ctr">
                    <a:solidFill>
                      <a:srgbClr val="E9EDE7"/>
                    </a:solidFill>
                  </a:tcPr>
                </a:tc>
              </a:tr>
              <a:tr h="714375">
                <a:tc>
                  <a:txBody>
                    <a:bodyPr/>
                    <a:lstStyle/>
                    <a:p>
                      <a:r>
                        <a:rPr sz="1875" b="1">
                          <a:solidFill>
                            <a:srgbClr val="122632"/>
                          </a:solidFill>
                          <a:latin typeface="Arial"/>
                          <a:ea typeface="Arial"/>
                          <a:cs typeface="Arial"/>
                        </a:rPr>
                        <a:t>Reuse slot</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Slot receives a new generation</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Old handle cannot alias the new object</a:t>
                      </a:r>
                    </a:p>
                  </a:txBody>
                  <a:tcPr marL="133350" marR="133350"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8E6C5C63-805A-40CB-9EA4-11F25F307757}"/>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06 / 30     Implemented table behavior. Caller-table selection and object lifecycle enforcement still need integration.</a:t>
            </a:r>
          </a:p>
        </p:txBody>
      </p:sp>
    </p:spTree>
    <p:extLst>
      <p:ext uri="{BB962C8B-B14F-4D97-AF65-F5344CB8AC3E}">
        <p14:creationId xmlns:p14="http://schemas.microsoft.com/office/powerpoint/2010/main" val="881099160"/>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D4793F93-0099-4142-A322-32625261BB41}"/>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Processes, preemption and IPC</a:t>
            </a:r>
          </a:p>
        </p:txBody>
      </p:sp>
      <p:sp>
        <p:nvSpPr>
          <p:cNvPr id="2" name="text-2">
            <a:extLst xmlns:a="http://schemas.openxmlformats.org/drawingml/2006/main">
              <a:ext uri="{FF2B5EF4-FFF2-40B4-BE49-F238E27FC236}">
                <a16:creationId xmlns:a16="http://schemas.microsoft.com/office/drawing/2014/main" id="{446A08D9-C30D-44C5-BE89-8A9D5F0503D5}"/>
              </a:ext>
            </a:extLst>
          </p:cNvPr>
          <p:cNvSpPr>
            <a:spLocks xmlns:a="http://schemas.openxmlformats.org/drawingml/2006/main" noGrp="1"/>
          </p:cNvSpPr>
          <p:nvPr/>
        </p:nvSpPr>
        <p:spPr>
          <a:xfrm xmlns:a="http://schemas.openxmlformats.org/drawingml/2006/main">
            <a:off x="609600" y="18478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Address spaces</a:t>
            </a:r>
          </a:p>
        </p:txBody>
      </p:sp>
      <p:sp>
        <p:nvSpPr>
          <p:cNvPr id="3" name="text-3">
            <a:extLst xmlns:a="http://schemas.openxmlformats.org/drawingml/2006/main">
              <a:ext uri="{FF2B5EF4-FFF2-40B4-BE49-F238E27FC236}">
                <a16:creationId xmlns:a16="http://schemas.microsoft.com/office/drawing/2014/main" id="{820B75D0-2E41-4636-9D45-50E978215B4B}"/>
              </a:ext>
            </a:extLst>
          </p:cNvPr>
          <p:cNvSpPr>
            <a:spLocks xmlns:a="http://schemas.openxmlformats.org/drawingml/2006/main" noGrp="1"/>
          </p:cNvSpPr>
          <p:nvPr/>
        </p:nvSpPr>
        <p:spPr>
          <a:xfrm xmlns:a="http://schemas.openxmlformats.org/drawingml/2006/main">
            <a:off x="3524250" y="18478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Enter ring 3 with separate code, data, stack and kernel entry state.</a:t>
            </a:r>
          </a:p>
        </p:txBody>
      </p:sp>
      <p:sp>
        <p:nvSpPr>
          <p:cNvPr id="4" name="text-4">
            <a:extLst xmlns:a="http://schemas.openxmlformats.org/drawingml/2006/main">
              <a:ext uri="{FF2B5EF4-FFF2-40B4-BE49-F238E27FC236}">
                <a16:creationId xmlns:a16="http://schemas.microsoft.com/office/drawing/2014/main" id="{D62AE6A3-8460-4B80-B928-CCE1532761CB}"/>
              </a:ext>
            </a:extLst>
          </p:cNvPr>
          <p:cNvSpPr>
            <a:spLocks xmlns:a="http://schemas.openxmlformats.org/drawingml/2006/main" noGrp="1"/>
          </p:cNvSpPr>
          <p:nvPr/>
        </p:nvSpPr>
        <p:spPr>
          <a:xfrm xmlns:a="http://schemas.openxmlformats.org/drawingml/2006/main">
            <a:off x="609600" y="28194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Scheduling</a:t>
            </a:r>
          </a:p>
        </p:txBody>
      </p:sp>
      <p:sp>
        <p:nvSpPr>
          <p:cNvPr id="5" name="text-5">
            <a:extLst xmlns:a="http://schemas.openxmlformats.org/drawingml/2006/main">
              <a:ext uri="{FF2B5EF4-FFF2-40B4-BE49-F238E27FC236}">
                <a16:creationId xmlns:a16="http://schemas.microsoft.com/office/drawing/2014/main" id="{5A529598-0E6C-4A09-B23F-36ADA79A0AE4}"/>
              </a:ext>
            </a:extLst>
          </p:cNvPr>
          <p:cNvSpPr>
            <a:spLocks xmlns:a="http://schemas.openxmlformats.org/drawingml/2006/main" noGrp="1"/>
          </p:cNvSpPr>
          <p:nvPr/>
        </p:nvSpPr>
        <p:spPr>
          <a:xfrm xmlns:a="http://schemas.openxmlformats.org/drawingml/2006/main">
            <a:off x="3524250" y="28194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Preempt a spinning process on one CPU and keep a peer responsive.</a:t>
            </a:r>
          </a:p>
        </p:txBody>
      </p:sp>
      <p:sp>
        <p:nvSpPr>
          <p:cNvPr id="6" name="text-6">
            <a:extLst xmlns:a="http://schemas.openxmlformats.org/drawingml/2006/main">
              <a:ext uri="{FF2B5EF4-FFF2-40B4-BE49-F238E27FC236}">
                <a16:creationId xmlns:a16="http://schemas.microsoft.com/office/drawing/2014/main" id="{8EE1FBC5-3410-4725-8CAF-1E8078D8CAD9}"/>
              </a:ext>
            </a:extLst>
          </p:cNvPr>
          <p:cNvSpPr>
            <a:spLocks xmlns:a="http://schemas.openxmlformats.org/drawingml/2006/main" noGrp="1"/>
          </p:cNvSpPr>
          <p:nvPr/>
        </p:nvSpPr>
        <p:spPr>
          <a:xfrm xmlns:a="http://schemas.openxmlformats.org/drawingml/2006/main">
            <a:off x="609600" y="37909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Endpoints</a:t>
            </a:r>
          </a:p>
        </p:txBody>
      </p:sp>
      <p:sp>
        <p:nvSpPr>
          <p:cNvPr id="7" name="text-7">
            <a:extLst xmlns:a="http://schemas.openxmlformats.org/drawingml/2006/main">
              <a:ext uri="{FF2B5EF4-FFF2-40B4-BE49-F238E27FC236}">
                <a16:creationId xmlns:a16="http://schemas.microsoft.com/office/drawing/2014/main" id="{29DF8A92-3085-4B9D-BDDA-A16E8F09A230}"/>
              </a:ext>
            </a:extLst>
          </p:cNvPr>
          <p:cNvSpPr>
            <a:spLocks xmlns:a="http://schemas.openxmlformats.org/drawingml/2006/main" noGrp="1"/>
          </p:cNvSpPr>
          <p:nvPr/>
        </p:nvSpPr>
        <p:spPr>
          <a:xfrm xmlns:a="http://schemas.openxmlformats.org/drawingml/2006/main">
            <a:off x="3524250" y="37909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Use bounded copy-based messages with capability checks on each call.</a:t>
            </a:r>
          </a:p>
        </p:txBody>
      </p:sp>
      <p:sp>
        <p:nvSpPr>
          <p:cNvPr id="8" name="text-8">
            <a:extLst xmlns:a="http://schemas.openxmlformats.org/drawingml/2006/main">
              <a:ext uri="{FF2B5EF4-FFF2-40B4-BE49-F238E27FC236}">
                <a16:creationId xmlns:a16="http://schemas.microsoft.com/office/drawing/2014/main" id="{F6123A4F-15C1-4C45-B1F8-351424A7CE71}"/>
              </a:ext>
            </a:extLst>
          </p:cNvPr>
          <p:cNvSpPr>
            <a:spLocks xmlns:a="http://schemas.openxmlformats.org/drawingml/2006/main" noGrp="1"/>
          </p:cNvSpPr>
          <p:nvPr/>
        </p:nvSpPr>
        <p:spPr>
          <a:xfrm xmlns:a="http://schemas.openxmlformats.org/drawingml/2006/main">
            <a:off x="609600" y="47625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Fault delivery</a:t>
            </a:r>
          </a:p>
        </p:txBody>
      </p:sp>
      <p:sp>
        <p:nvSpPr>
          <p:cNvPr id="9" name="text-9">
            <a:extLst xmlns:a="http://schemas.openxmlformats.org/drawingml/2006/main">
              <a:ext uri="{FF2B5EF4-FFF2-40B4-BE49-F238E27FC236}">
                <a16:creationId xmlns:a16="http://schemas.microsoft.com/office/drawing/2014/main" id="{2AC5F134-DD68-45C5-A327-8FF6559CF77A}"/>
              </a:ext>
            </a:extLst>
          </p:cNvPr>
          <p:cNvSpPr>
            <a:spLocks xmlns:a="http://schemas.openxmlformats.org/drawingml/2006/main" noGrp="1"/>
          </p:cNvSpPr>
          <p:nvPr/>
        </p:nvSpPr>
        <p:spPr>
          <a:xfrm xmlns:a="http://schemas.openxmlformats.org/drawingml/2006/main">
            <a:off x="3524250" y="47625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Terminate or restart only the affected service and report a structured fault.</a:t>
            </a:r>
          </a:p>
        </p:txBody>
      </p:sp>
      <p:sp>
        <p:nvSpPr>
          <p:cNvPr id="10" name="text-10">
            <a:extLst xmlns:a="http://schemas.openxmlformats.org/drawingml/2006/main">
              <a:ext uri="{FF2B5EF4-FFF2-40B4-BE49-F238E27FC236}">
                <a16:creationId xmlns:a16="http://schemas.microsoft.com/office/drawing/2014/main" id="{0A8A3FC0-F799-44A3-9A77-D7E52DF3311E}"/>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07 / 30     Next kernel milestone. Timer interrupts currently work, but process preemption is not implemented.</a:t>
            </a:r>
          </a:p>
        </p:txBody>
      </p:sp>
    </p:spTree>
    <p:extLst>
      <p:ext uri="{BB962C8B-B14F-4D97-AF65-F5344CB8AC3E}">
        <p14:creationId xmlns:p14="http://schemas.microsoft.com/office/powerpoint/2010/main" val="1361133250"/>
      </p:ext>
    </p:extLst>
  </p:cSld>
</p:sld>
</file>

<file path=ppt/slides/slide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D2A0243F-4254-407C-BC59-5409D4DA1274}"/>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The current Wasm execution profile</a:t>
            </a:r>
          </a:p>
        </p:txBody>
      </p:sp>
      <p:sp>
        <p:nvSpPr>
          <p:cNvPr id="2" name="text-2">
            <a:extLst xmlns:a="http://schemas.openxmlformats.org/drawingml/2006/main">
              <a:ext uri="{FF2B5EF4-FFF2-40B4-BE49-F238E27FC236}">
                <a16:creationId xmlns:a16="http://schemas.microsoft.com/office/drawing/2014/main" id="{5BE97D13-1457-49EC-81D9-32C880D652A5}"/>
              </a:ext>
            </a:extLst>
          </p:cNvPr>
          <p:cNvSpPr>
            <a:spLocks xmlns:a="http://schemas.openxmlformats.org/drawingml/2006/main" noGrp="1"/>
          </p:cNvSpPr>
          <p:nvPr/>
        </p:nvSpPr>
        <p:spPr>
          <a:xfrm xmlns:a="http://schemas.openxmlformats.org/drawingml/2006/main">
            <a:off x="609600" y="1885950"/>
            <a:ext cx="3524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400" b="1">
                <a:solidFill>
                  <a:srgbClr val="146B5F"/>
                </a:solidFill>
                <a:latin typeface="Arial"/>
                <a:ea typeface="Arial"/>
                <a:cs typeface="Arial"/>
              </a:defRPr>
            </a:defPPr>
          </a:lstStyle>
          <a:p xmlns:a="http://schemas.openxmlformats.org/drawingml/2006/main">
            <a:pPr>
              <a:defRPr sz="5400" b="1">
                <a:solidFill>
                  <a:srgbClr val="146B5F"/>
                </a:solidFill>
                <a:latin typeface="Arial"/>
                <a:ea typeface="Arial"/>
                <a:cs typeface="Arial"/>
              </a:defRPr>
            </a:pPr>
            <a:r>
              <a:rPr sz="5400" b="1">
                <a:solidFill>
                  <a:srgbClr val="146B5F"/>
                </a:solidFill>
                <a:latin typeface="Arial"/>
                <a:ea typeface="Arial"/>
                <a:cs typeface="Arial"/>
              </a:rPr>
              <a:t>64 KiB</a:t>
            </a:r>
          </a:p>
        </p:txBody>
      </p:sp>
      <p:sp>
        <p:nvSpPr>
          <p:cNvPr id="3" name="text-3">
            <a:extLst xmlns:a="http://schemas.openxmlformats.org/drawingml/2006/main">
              <a:ext uri="{FF2B5EF4-FFF2-40B4-BE49-F238E27FC236}">
                <a16:creationId xmlns:a16="http://schemas.microsoft.com/office/drawing/2014/main" id="{99293151-32DB-4D66-86D5-B9D6556EC28E}"/>
              </a:ext>
            </a:extLst>
          </p:cNvPr>
          <p:cNvSpPr>
            <a:spLocks xmlns:a="http://schemas.openxmlformats.org/drawingml/2006/main" noGrp="1"/>
          </p:cNvSpPr>
          <p:nvPr/>
        </p:nvSpPr>
        <p:spPr>
          <a:xfrm xmlns:a="http://schemas.openxmlformats.org/drawingml/2006/main">
            <a:off x="609600" y="3057525"/>
            <a:ext cx="340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fixed linear memory</a:t>
            </a:r>
          </a:p>
        </p:txBody>
      </p:sp>
      <p:sp>
        <p:nvSpPr>
          <p:cNvPr id="4" name="text-4">
            <a:extLst xmlns:a="http://schemas.openxmlformats.org/drawingml/2006/main">
              <a:ext uri="{FF2B5EF4-FFF2-40B4-BE49-F238E27FC236}">
                <a16:creationId xmlns:a16="http://schemas.microsoft.com/office/drawing/2014/main" id="{9792A8E3-6ACF-48D6-9425-45572CB58C2F}"/>
              </a:ext>
            </a:extLst>
          </p:cNvPr>
          <p:cNvSpPr>
            <a:spLocks xmlns:a="http://schemas.openxmlformats.org/drawingml/2006/main" noGrp="1"/>
          </p:cNvSpPr>
          <p:nvPr/>
        </p:nvSpPr>
        <p:spPr>
          <a:xfrm xmlns:a="http://schemas.openxmlformats.org/drawingml/2006/main">
            <a:off x="4343400" y="1885950"/>
            <a:ext cx="3524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400" b="1">
                <a:solidFill>
                  <a:srgbClr val="146B5F"/>
                </a:solidFill>
                <a:latin typeface="Arial"/>
                <a:ea typeface="Arial"/>
                <a:cs typeface="Arial"/>
              </a:defRPr>
            </a:defPPr>
          </a:lstStyle>
          <a:p xmlns:a="http://schemas.openxmlformats.org/drawingml/2006/main">
            <a:pPr>
              <a:defRPr sz="5400" b="1">
                <a:solidFill>
                  <a:srgbClr val="146B5F"/>
                </a:solidFill>
                <a:latin typeface="Arial"/>
                <a:ea typeface="Arial"/>
                <a:cs typeface="Arial"/>
              </a:defRPr>
            </a:pPr>
            <a:r>
              <a:rPr sz="5400" b="1">
                <a:solidFill>
                  <a:srgbClr val="146B5F"/>
                </a:solidFill>
                <a:latin typeface="Arial"/>
                <a:ea typeface="Arial"/>
                <a:cs typeface="Arial"/>
              </a:rPr>
              <a:t>10,000</a:t>
            </a:r>
          </a:p>
        </p:txBody>
      </p:sp>
      <p:sp>
        <p:nvSpPr>
          <p:cNvPr id="5" name="text-5">
            <a:extLst xmlns:a="http://schemas.openxmlformats.org/drawingml/2006/main">
              <a:ext uri="{FF2B5EF4-FFF2-40B4-BE49-F238E27FC236}">
                <a16:creationId xmlns:a16="http://schemas.microsoft.com/office/drawing/2014/main" id="{3699B555-1E93-4D31-B0AF-7C2178CFB7DE}"/>
              </a:ext>
            </a:extLst>
          </p:cNvPr>
          <p:cNvSpPr>
            <a:spLocks xmlns:a="http://schemas.openxmlformats.org/drawingml/2006/main" noGrp="1"/>
          </p:cNvSpPr>
          <p:nvPr/>
        </p:nvSpPr>
        <p:spPr>
          <a:xfrm xmlns:a="http://schemas.openxmlformats.org/drawingml/2006/main">
            <a:off x="4343400" y="3057525"/>
            <a:ext cx="340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fuel per request</a:t>
            </a:r>
          </a:p>
        </p:txBody>
      </p:sp>
      <p:sp>
        <p:nvSpPr>
          <p:cNvPr id="6" name="text-6">
            <a:extLst xmlns:a="http://schemas.openxmlformats.org/drawingml/2006/main">
              <a:ext uri="{FF2B5EF4-FFF2-40B4-BE49-F238E27FC236}">
                <a16:creationId xmlns:a16="http://schemas.microsoft.com/office/drawing/2014/main" id="{FD00239A-5EBF-4265-AE3F-01BC9E0AB416}"/>
              </a:ext>
            </a:extLst>
          </p:cNvPr>
          <p:cNvSpPr>
            <a:spLocks xmlns:a="http://schemas.openxmlformats.org/drawingml/2006/main" noGrp="1"/>
          </p:cNvSpPr>
          <p:nvPr/>
        </p:nvSpPr>
        <p:spPr>
          <a:xfrm xmlns:a="http://schemas.openxmlformats.org/drawingml/2006/main">
            <a:off x="8077200" y="1885950"/>
            <a:ext cx="3524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400" b="1">
                <a:solidFill>
                  <a:srgbClr val="146B5F"/>
                </a:solidFill>
                <a:latin typeface="Arial"/>
                <a:ea typeface="Arial"/>
                <a:cs typeface="Arial"/>
              </a:defRPr>
            </a:defPPr>
          </a:lstStyle>
          <a:p xmlns:a="http://schemas.openxmlformats.org/drawingml/2006/main">
            <a:pPr>
              <a:defRPr sz="5400" b="1">
                <a:solidFill>
                  <a:srgbClr val="146B5F"/>
                </a:solidFill>
                <a:latin typeface="Arial"/>
                <a:ea typeface="Arial"/>
                <a:cs typeface="Arial"/>
              </a:defRPr>
            </a:pPr>
            <a:r>
              <a:rPr sz="5400" b="1">
                <a:solidFill>
                  <a:srgbClr val="146B5F"/>
                </a:solidFill>
                <a:latin typeface="Arial"/>
                <a:ea typeface="Arial"/>
                <a:cs typeface="Arial"/>
              </a:rPr>
              <a:t>4,096</a:t>
            </a:r>
          </a:p>
        </p:txBody>
      </p:sp>
      <p:sp>
        <p:nvSpPr>
          <p:cNvPr id="7" name="text-7">
            <a:extLst xmlns:a="http://schemas.openxmlformats.org/drawingml/2006/main">
              <a:ext uri="{FF2B5EF4-FFF2-40B4-BE49-F238E27FC236}">
                <a16:creationId xmlns:a16="http://schemas.microsoft.com/office/drawing/2014/main" id="{9BEE82C2-3407-490C-8A59-C918C665CEC3}"/>
              </a:ext>
            </a:extLst>
          </p:cNvPr>
          <p:cNvSpPr>
            <a:spLocks xmlns:a="http://schemas.openxmlformats.org/drawingml/2006/main" noGrp="1"/>
          </p:cNvSpPr>
          <p:nvPr/>
        </p:nvSpPr>
        <p:spPr>
          <a:xfrm xmlns:a="http://schemas.openxmlformats.org/drawingml/2006/main">
            <a:off x="8077200" y="3057525"/>
            <a:ext cx="340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maximum trace events</a:t>
            </a:r>
          </a:p>
        </p:txBody>
      </p:sp>
      <p:sp>
        <p:nvSpPr>
          <p:cNvPr id="8" name="text-8">
            <a:extLst xmlns:a="http://schemas.openxmlformats.org/drawingml/2006/main">
              <a:ext uri="{FF2B5EF4-FFF2-40B4-BE49-F238E27FC236}">
                <a16:creationId xmlns:a16="http://schemas.microsoft.com/office/drawing/2014/main" id="{4C5919F5-49D0-4733-A4F3-9056C6ECF357}"/>
              </a:ext>
            </a:extLst>
          </p:cNvPr>
          <p:cNvSpPr>
            <a:spLocks xmlns:a="http://schemas.openxmlformats.org/drawingml/2006/main" noGrp="1"/>
          </p:cNvSpPr>
          <p:nvPr/>
        </p:nvSpPr>
        <p:spPr>
          <a:xfrm xmlns:a="http://schemas.openxmlformats.org/drawingml/2006/main">
            <a:off x="609600" y="41148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122632"/>
                </a:solidFill>
                <a:latin typeface="Arial"/>
                <a:ea typeface="Arial"/>
                <a:cs typeface="Arial"/>
              </a:defRPr>
            </a:defPPr>
          </a:lstStyle>
          <a:p xmlns:a="http://schemas.openxmlformats.org/drawingml/2006/main">
            <a:pPr>
              <a:defRPr sz="2250" b="0">
                <a:solidFill>
                  <a:srgbClr val="122632"/>
                </a:solidFill>
                <a:latin typeface="Arial"/>
                <a:ea typeface="Arial"/>
                <a:cs typeface="Arial"/>
              </a:defRPr>
            </a:pPr>
            <a:r>
              <a:rPr sz="2250" b="0">
                <a:solidFill>
                  <a:srgbClr val="122632"/>
                </a:solidFill>
                <a:latin typeface="Arial"/>
                <a:ea typeface="Arial"/>
                <a:cs typeface="Arial"/>
              </a:rPr>
              <a:t>Wasmi 2.0.0 runs one reviewed integer key-value fixture.</a:t>
            </a:r>
          </a:p>
          <a:p xmlns:a="http://schemas.openxmlformats.org/drawingml/2006/main">
            <a:pPr>
              <a:defRPr sz="2250" b="0">
                <a:solidFill>
                  <a:srgbClr val="122632"/>
                </a:solidFill>
                <a:latin typeface="Arial"/>
                <a:ea typeface="Arial"/>
                <a:cs typeface="Arial"/>
              </a:defRPr>
            </a:pPr>
            <a:r>
              <a:rPr sz="2250" b="0">
                <a:solidFill>
                  <a:srgbClr val="122632"/>
                </a:solidFill>
                <a:latin typeface="Arial"/>
                <a:ea typeface="Arial"/>
                <a:cs typeface="Arial"/>
              </a:rPr>
              <a:t>Its state consists of linear memory and one mutable i64 global.</a:t>
            </a:r>
          </a:p>
        </p:txBody>
      </p:sp>
      <p:sp>
        <p:nvSpPr>
          <p:cNvPr id="9" name="text-9">
            <a:extLst xmlns:a="http://schemas.openxmlformats.org/drawingml/2006/main">
              <a:ext uri="{FF2B5EF4-FFF2-40B4-BE49-F238E27FC236}">
                <a16:creationId xmlns:a16="http://schemas.microsoft.com/office/drawing/2014/main" id="{11CC4675-0C11-41AE-B7F2-2B631ADA34F9}"/>
              </a:ext>
            </a:extLst>
          </p:cNvPr>
          <p:cNvSpPr>
            <a:spLocks xmlns:a="http://schemas.openxmlformats.org/drawingml/2006/main" noGrp="1"/>
          </p:cNvSpPr>
          <p:nvPr/>
        </p:nvSpPr>
        <p:spPr>
          <a:xfrm xmlns:a="http://schemas.openxmlformats.org/drawingml/2006/main">
            <a:off x="609600" y="5343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8656A"/>
                </a:solidFill>
                <a:latin typeface="Arial"/>
                <a:ea typeface="Arial"/>
                <a:cs typeface="Arial"/>
              </a:defRPr>
            </a:defPPr>
          </a:lstStyle>
          <a:p xmlns:a="http://schemas.openxmlformats.org/drawingml/2006/main">
            <a:pPr>
              <a:defRPr sz="1800" b="0">
                <a:solidFill>
                  <a:srgbClr val="58656A"/>
                </a:solidFill>
                <a:latin typeface="Arial"/>
                <a:ea typeface="Arial"/>
                <a:cs typeface="Arial"/>
              </a:defRPr>
            </a:pPr>
            <a:r>
              <a:rPr sz="1800" b="0">
                <a:solidFill>
                  <a:srgbClr val="58656A"/>
                </a:solidFill>
                <a:latin typeface="Arial"/>
                <a:ea typeface="Arial"/>
                <a:cs typeface="Arial"/>
              </a:rPr>
              <a:t>No threads, tables, floating point or start function. Host imports provide clock, random and an in-memory effect observation.</a:t>
            </a:r>
          </a:p>
        </p:txBody>
      </p:sp>
      <p:sp>
        <p:nvSpPr>
          <p:cNvPr id="10" name="text-10">
            <a:extLst xmlns:a="http://schemas.openxmlformats.org/drawingml/2006/main">
              <a:ext uri="{FF2B5EF4-FFF2-40B4-BE49-F238E27FC236}">
                <a16:creationId xmlns:a16="http://schemas.microsoft.com/office/drawing/2014/main" id="{7F07EB8A-3596-4460-B047-70F21100FFE3}"/>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08 / 30     Host prototype. These limits describe this fixture, not a universal Wasm execution guarantee.</a:t>
            </a:r>
          </a:p>
        </p:txBody>
      </p:sp>
    </p:spTree>
    <p:extLst>
      <p:ext uri="{BB962C8B-B14F-4D97-AF65-F5344CB8AC3E}">
        <p14:creationId xmlns:p14="http://schemas.microsoft.com/office/powerpoint/2010/main" val="1461681252"/>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913E6B1A-D3E5-4A66-A32D-886595970018}"/>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Checkpoint and deterministic replay</a:t>
            </a:r>
          </a:p>
        </p:txBody>
      </p:sp>
      <p:sp>
        <p:nvSpPr>
          <p:cNvPr id="2" name="text-2">
            <a:extLst xmlns:a="http://schemas.openxmlformats.org/drawingml/2006/main">
              <a:ext uri="{FF2B5EF4-FFF2-40B4-BE49-F238E27FC236}">
                <a16:creationId xmlns:a16="http://schemas.microsoft.com/office/drawing/2014/main" id="{14D510AA-8E2F-4C19-AA4E-DFBEE20567E0}"/>
              </a:ext>
            </a:extLst>
          </p:cNvPr>
          <p:cNvSpPr>
            <a:spLocks xmlns:a="http://schemas.openxmlformats.org/drawingml/2006/main" noGrp="1"/>
          </p:cNvSpPr>
          <p:nvPr/>
        </p:nvSpPr>
        <p:spPr>
          <a:xfrm xmlns:a="http://schemas.openxmlformats.org/drawingml/2006/main">
            <a:off x="609600" y="17430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6B5F"/>
                </a:solidFill>
                <a:latin typeface="Arial"/>
                <a:ea typeface="Arial"/>
                <a:cs typeface="Arial"/>
              </a:defRPr>
            </a:defPPr>
          </a:lstStyle>
          <a:p xmlns:a="http://schemas.openxmlformats.org/drawingml/2006/main">
            <a:pPr>
              <a:defRPr sz="2475" b="1">
                <a:solidFill>
                  <a:srgbClr val="146B5F"/>
                </a:solidFill>
                <a:latin typeface="Arial"/>
                <a:ea typeface="Arial"/>
                <a:cs typeface="Arial"/>
              </a:defRPr>
            </a:pPr>
            <a:r>
              <a:rPr sz="2475" b="1">
                <a:solidFill>
                  <a:srgbClr val="146B5F"/>
                </a:solidFill>
                <a:latin typeface="Arial"/>
                <a:ea typeface="Arial"/>
                <a:cs typeface="Arial"/>
              </a:rPr>
              <a:t>A checkpoint preserves the fixture state</a:t>
            </a:r>
          </a:p>
          <a:p xmlns:a="http://schemas.openxmlformats.org/drawingml/2006/main">
            <a:pPr>
              <a:defRPr sz="2475" b="1">
                <a:solidFill>
                  <a:srgbClr val="146B5F"/>
                </a:solidFill>
                <a:latin typeface="Arial"/>
                <a:ea typeface="Arial"/>
                <a:cs typeface="Arial"/>
              </a:defRPr>
            </a:pPr>
            <a:r>
              <a:rPr sz="2475" b="1">
                <a:solidFill>
                  <a:srgbClr val="146B5F"/>
                </a:solidFill>
                <a:latin typeface="Arial"/>
                <a:ea typeface="Arial"/>
                <a:cs typeface="Arial"/>
              </a:rPr>
              <a:t>at a completed-handler boundary.</a:t>
            </a:r>
          </a:p>
        </p:txBody>
      </p:sp>
      <p:pic>
        <p:nvPicPr>
          <p:cNvPr id="3" name="">
            <a:extLst xmlns:a="http://schemas.openxmlformats.org/drawingml/2006/main">
              <a:ext uri="{FF2B5EF4-FFF2-40B4-BE49-F238E27FC236}">
                <a16:creationId xmlns:a16="http://schemas.microsoft.com/office/drawing/2014/main" id="{B4B6142D-8864-4D4A-9602-19E04D3B2CDA}"/>
              </a:ext>
            </a:extLst>
          </p:cNvPr>
          <p:cNvPicPr>
            <a:picLocks xmlns:a="http://schemas.openxmlformats.org/drawingml/2006/main" noChangeAspect="1"/>
          </p:cNvPicPr>
          <p:nvPr/>
        </p:nvPicPr>
        <p:blipFill>
          <a:blip xmlns:r="http://schemas.openxmlformats.org/officeDocument/2006/relationships" xmlns:a="http://schemas.openxmlformats.org/drawingml/2006/main" r:embed="R4c14123ad5394c23"/>
          <a:srcRect xmlns:a="http://schemas.openxmlformats.org/drawingml/2006/main" l="0" t="12552" r="0" b="12552"/>
          <a:stretch xmlns:a="http://schemas.openxmlformats.org/drawingml/2006/main">
            <a:fillRect l="0" t="0" r="0" b="0"/>
          </a:stretch>
        </p:blipFill>
        <p:spPr>
          <a:xfrm xmlns:a="http://schemas.openxmlformats.org/drawingml/2006/main">
            <a:off x="4762500" y="2638425"/>
            <a:ext cx="6810375" cy="3400425"/>
          </a:xfrm>
          <a:prstGeom xmlns:a="http://schemas.openxmlformats.org/drawingml/2006/main" prst="rect">
            <a:avLst/>
          </a:prstGeom>
        </p:spPr>
      </p:pic>
      <p:sp>
        <p:nvSpPr>
          <p:cNvPr id="4" name="text-3">
            <a:extLst xmlns:a="http://schemas.openxmlformats.org/drawingml/2006/main">
              <a:ext uri="{FF2B5EF4-FFF2-40B4-BE49-F238E27FC236}">
                <a16:creationId xmlns:a16="http://schemas.microsoft.com/office/drawing/2014/main" id="{BC975549-8DE3-481A-92DD-C90DB9C994E0}"/>
              </a:ext>
            </a:extLst>
          </p:cNvPr>
          <p:cNvSpPr>
            <a:spLocks xmlns:a="http://schemas.openxmlformats.org/drawingml/2006/main" noGrp="1"/>
          </p:cNvSpPr>
          <p:nvPr/>
        </p:nvSpPr>
        <p:spPr>
          <a:xfrm xmlns:a="http://schemas.openxmlformats.org/drawingml/2006/main">
            <a:off x="609600" y="3086100"/>
            <a:ext cx="36861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Record the subsequent input history. Restore into a fresh instance. Inject recorded inputs and compare replies and effects.</a:t>
            </a:r>
          </a:p>
        </p:txBody>
      </p:sp>
      <p:sp>
        <p:nvSpPr>
          <p:cNvPr id="5" name="text-4">
            <a:extLst xmlns:a="http://schemas.openxmlformats.org/drawingml/2006/main">
              <a:ext uri="{FF2B5EF4-FFF2-40B4-BE49-F238E27FC236}">
                <a16:creationId xmlns:a16="http://schemas.microsoft.com/office/drawing/2014/main" id="{B9F9C03E-2900-41E3-AC7E-06C19E7D124C}"/>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09 / 30     Implemented with full state copies in the host fixture. COW and durable recovery are planned.</a:t>
            </a:r>
          </a:p>
        </p:txBody>
      </p:sp>
    </p:spTree>
    <p:extLst>
      <p:ext uri="{BB962C8B-B14F-4D97-AF65-F5344CB8AC3E}">
        <p14:creationId xmlns:p14="http://schemas.microsoft.com/office/powerpoint/2010/main" val="775849295"/>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731C9011-8BD7-414B-9A14-A4B110F5FBDC}"/>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A strict trace contract</a:t>
            </a:r>
          </a:p>
        </p:txBody>
      </p:sp>
      <p:graphicFrame>
        <p:nvGraphicFramePr>
          <p:cNvPr id="2" name="">
            <a:extLst xmlns:a="http://schemas.openxmlformats.org/drawingml/2006/main">
              <a:ext uri="{FF2B5EF4-FFF2-40B4-BE49-F238E27FC236}">
                <a16:creationId xmlns:a16="http://schemas.microsoft.com/office/drawing/2014/main" id="{B67A754F-D0EF-41BA-ABBC-CE97891A0EE2}"/>
              </a:ext>
            </a:extLst>
          </p:cNvPr>
          <p:cNvGraphicFramePr/>
          <p:nvPr/>
        </p:nvGraphicFramePr>
        <p:xfrm>
          <a:off xmlns:a="http://schemas.openxmlformats.org/drawingml/2006/main" x="609600" y="1685925"/>
          <a:ext xmlns:a="http://schemas.openxmlformats.org/drawingml/2006/main" cx="10972800" cy="3743325"/>
        </p:xfrm>
        <a:graphic xmlns:a="http://schemas.openxmlformats.org/drawingml/2006/main">
          <a:graphicData uri="http://schemas.openxmlformats.org/drawingml/2006/table">
            <a:tbl>
              <a:tblPr firstRow="1" bandRow="0"/>
              <a:tblGrid>
                <a:gridCol w="2381250"/>
                <a:gridCol w="4572000"/>
                <a:gridCol w="4019550"/>
              </a:tblGrid>
              <a:tr h="457200">
                <a:tc>
                  <a:txBody>
                    <a:bodyPr/>
                    <a:lstStyle/>
                    <a:p>
                      <a:r>
                        <a:rPr sz="1725" b="1">
                          <a:solidFill>
                            <a:srgbClr val="FCFCF8"/>
                          </a:solidFill>
                          <a:latin typeface="Arial"/>
                          <a:ea typeface="Arial"/>
                          <a:cs typeface="Arial"/>
                        </a:rPr>
                        <a:t>Event</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Replay action</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Failure response</a:t>
                      </a:r>
                    </a:p>
                  </a:txBody>
                  <a:tcPr marL="133350" marR="133350" marT="66675" marB="66675" anchor="ctr">
                    <a:solidFill>
                      <a:srgbClr val="122632"/>
                    </a:solidFill>
                  </a:tcPr>
                </a:tc>
              </a:tr>
              <a:tr h="657225">
                <a:tc>
                  <a:txBody>
                    <a:bodyPr/>
                    <a:lstStyle/>
                    <a:p>
                      <a:r>
                        <a:rPr sz="1875" b="1">
                          <a:solidFill>
                            <a:srgbClr val="122632"/>
                          </a:solidFill>
                          <a:latin typeface="Arial"/>
                          <a:ea typeface="Arial"/>
                          <a:cs typeface="Arial"/>
                        </a:rPr>
                        <a:t>Request</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Compare key and delta</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Reject a changed invocation</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Clock</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Inject the recorded value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Reject a missing or wrong event</a:t>
                      </a:r>
                    </a:p>
                  </a:txBody>
                  <a:tcPr marL="133350" marR="133350" marT="66675" marB="66675" anchor="ctr">
                    <a:solidFill>
                      <a:srgbClr val="E9EDE7"/>
                    </a:solidFill>
                  </a:tcPr>
                </a:tc>
              </a:tr>
              <a:tr h="657225">
                <a:tc>
                  <a:txBody>
                    <a:bodyPr/>
                    <a:lstStyle/>
                    <a:p>
                      <a:r>
                        <a:rPr sz="1875" b="1">
                          <a:solidFill>
                            <a:srgbClr val="122632"/>
                          </a:solidFill>
                          <a:latin typeface="Arial"/>
                          <a:ea typeface="Arial"/>
                          <a:cs typeface="Arial"/>
                        </a:rPr>
                        <a:t>Random</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Check bound and inject value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Reject invalid bounds or results</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Effect</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Compare the complete payload</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Discard pending effects on failure</a:t>
                      </a:r>
                    </a:p>
                  </a:txBody>
                  <a:tcPr marL="133350" marR="133350" marT="66675" marB="66675" anchor="ctr">
                    <a:solidFill>
                      <a:srgbClr val="E9EDE7"/>
                    </a:solidFill>
                  </a:tcPr>
                </a:tc>
              </a:tr>
              <a:tr h="657225">
                <a:tc>
                  <a:txBody>
                    <a:bodyPr/>
                    <a:lstStyle/>
                    <a:p>
                      <a:r>
                        <a:rPr sz="1875" b="1">
                          <a:solidFill>
                            <a:srgbClr val="122632"/>
                          </a:solidFill>
                          <a:latin typeface="Arial"/>
                          <a:ea typeface="Arial"/>
                          <a:cs typeface="Arial"/>
                        </a:rPr>
                        <a:t>Reply</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Compare the result</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Poison the instance on mismatch</a:t>
                      </a:r>
                    </a:p>
                  </a:txBody>
                  <a:tcPr marL="133350" marR="133350"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65614AFF-9AE3-47AA-83E1-77D79790B268}"/>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10 / 30     Completion also requires consuming the entire log. Extra trailing events fail replay.</a:t>
            </a:r>
          </a:p>
        </p:txBody>
      </p:sp>
    </p:spTree>
    <p:extLst>
      <p:ext uri="{BB962C8B-B14F-4D97-AF65-F5344CB8AC3E}">
        <p14:creationId xmlns:p14="http://schemas.microsoft.com/office/powerpoint/2010/main" val="985443206"/>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7A81FDC0-4E6A-47A4-86F0-B6118721E0AB}"/>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ChronicleFS and durable recovery</a:t>
            </a:r>
          </a:p>
        </p:txBody>
      </p:sp>
      <p:sp>
        <p:nvSpPr>
          <p:cNvPr id="2" name="text-2">
            <a:extLst xmlns:a="http://schemas.openxmlformats.org/drawingml/2006/main">
              <a:ext uri="{FF2B5EF4-FFF2-40B4-BE49-F238E27FC236}">
                <a16:creationId xmlns:a16="http://schemas.microsoft.com/office/drawing/2014/main" id="{A77A6295-014B-46D0-9294-F2AA0011EB91}"/>
              </a:ext>
            </a:extLst>
          </p:cNvPr>
          <p:cNvSpPr>
            <a:spLocks xmlns:a="http://schemas.openxmlformats.org/drawingml/2006/main" noGrp="1"/>
          </p:cNvSpPr>
          <p:nvPr/>
        </p:nvSpPr>
        <p:spPr>
          <a:xfrm xmlns:a="http://schemas.openxmlformats.org/drawingml/2006/main">
            <a:off x="609600" y="18478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Immutable roots</a:t>
            </a:r>
          </a:p>
        </p:txBody>
      </p:sp>
      <p:sp>
        <p:nvSpPr>
          <p:cNvPr id="3" name="text-3">
            <a:extLst xmlns:a="http://schemas.openxmlformats.org/drawingml/2006/main">
              <a:ext uri="{FF2B5EF4-FFF2-40B4-BE49-F238E27FC236}">
                <a16:creationId xmlns:a16="http://schemas.microsoft.com/office/drawing/2014/main" id="{C3A94735-5D3B-418A-84F1-683D6A6846ED}"/>
              </a:ext>
            </a:extLst>
          </p:cNvPr>
          <p:cNvSpPr>
            <a:spLocks xmlns:a="http://schemas.openxmlformats.org/drawingml/2006/main" noGrp="1"/>
          </p:cNvSpPr>
          <p:nvPr/>
        </p:nvSpPr>
        <p:spPr>
          <a:xfrm xmlns:a="http://schemas.openxmlformats.org/drawingml/2006/main">
            <a:off x="3524250" y="18478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 small versioned filesystem exposes snapshots through committed roots.</a:t>
            </a:r>
          </a:p>
        </p:txBody>
      </p:sp>
      <p:sp>
        <p:nvSpPr>
          <p:cNvPr id="4" name="text-4">
            <a:extLst xmlns:a="http://schemas.openxmlformats.org/drawingml/2006/main">
              <a:ext uri="{FF2B5EF4-FFF2-40B4-BE49-F238E27FC236}">
                <a16:creationId xmlns:a16="http://schemas.microsoft.com/office/drawing/2014/main" id="{2DB30EE0-7FD6-4C2F-BC31-2FF02B7F64D2}"/>
              </a:ext>
            </a:extLst>
          </p:cNvPr>
          <p:cNvSpPr>
            <a:spLocks xmlns:a="http://schemas.openxmlformats.org/drawingml/2006/main" noGrp="1"/>
          </p:cNvSpPr>
          <p:nvPr/>
        </p:nvSpPr>
        <p:spPr>
          <a:xfrm xmlns:a="http://schemas.openxmlformats.org/drawingml/2006/main">
            <a:off x="609600" y="28194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Commit protocol</a:t>
            </a:r>
          </a:p>
        </p:txBody>
      </p:sp>
      <p:sp>
        <p:nvSpPr>
          <p:cNvPr id="5" name="text-5">
            <a:extLst xmlns:a="http://schemas.openxmlformats.org/drawingml/2006/main">
              <a:ext uri="{FF2B5EF4-FFF2-40B4-BE49-F238E27FC236}">
                <a16:creationId xmlns:a16="http://schemas.microsoft.com/office/drawing/2014/main" id="{16A9A46E-61D7-47A5-8CE9-C46C8B05C22F}"/>
              </a:ext>
            </a:extLst>
          </p:cNvPr>
          <p:cNvSpPr>
            <a:spLocks xmlns:a="http://schemas.openxmlformats.org/drawingml/2006/main" noGrp="1"/>
          </p:cNvSpPr>
          <p:nvPr/>
        </p:nvSpPr>
        <p:spPr>
          <a:xfrm xmlns:a="http://schemas.openxmlformats.org/drawingml/2006/main">
            <a:off x="3524250" y="28194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Define write ordering, checksums and device flush assumptions explicitly.</a:t>
            </a:r>
          </a:p>
        </p:txBody>
      </p:sp>
      <p:sp>
        <p:nvSpPr>
          <p:cNvPr id="6" name="text-6">
            <a:extLst xmlns:a="http://schemas.openxmlformats.org/drawingml/2006/main">
              <a:ext uri="{FF2B5EF4-FFF2-40B4-BE49-F238E27FC236}">
                <a16:creationId xmlns:a16="http://schemas.microsoft.com/office/drawing/2014/main" id="{E05C1E28-DE95-4B7A-8E97-29A9FBF3CF85}"/>
              </a:ext>
            </a:extLst>
          </p:cNvPr>
          <p:cNvSpPr>
            <a:spLocks xmlns:a="http://schemas.openxmlformats.org/drawingml/2006/main" noGrp="1"/>
          </p:cNvSpPr>
          <p:nvPr/>
        </p:nvSpPr>
        <p:spPr>
          <a:xfrm xmlns:a="http://schemas.openxmlformats.org/drawingml/2006/main">
            <a:off x="609600" y="37909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Recovery descriptor</a:t>
            </a:r>
          </a:p>
        </p:txBody>
      </p:sp>
      <p:sp>
        <p:nvSpPr>
          <p:cNvPr id="7" name="text-7">
            <a:extLst xmlns:a="http://schemas.openxmlformats.org/drawingml/2006/main">
              <a:ext uri="{FF2B5EF4-FFF2-40B4-BE49-F238E27FC236}">
                <a16:creationId xmlns:a16="http://schemas.microsoft.com/office/drawing/2014/main" id="{EC912460-7745-499A-AD7D-823BCEA6756A}"/>
              </a:ext>
            </a:extLst>
          </p:cNvPr>
          <p:cNvSpPr>
            <a:spLocks xmlns:a="http://schemas.openxmlformats.org/drawingml/2006/main" noGrp="1"/>
          </p:cNvSpPr>
          <p:nvPr/>
        </p:nvSpPr>
        <p:spPr>
          <a:xfrm xmlns:a="http://schemas.openxmlformats.org/drawingml/2006/main">
            <a:off x="3524250" y="37909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Bind the filesystem root, checkpoint, input position and pending effects.</a:t>
            </a:r>
          </a:p>
        </p:txBody>
      </p:sp>
      <p:sp>
        <p:nvSpPr>
          <p:cNvPr id="8" name="text-8">
            <a:extLst xmlns:a="http://schemas.openxmlformats.org/drawingml/2006/main">
              <a:ext uri="{FF2B5EF4-FFF2-40B4-BE49-F238E27FC236}">
                <a16:creationId xmlns:a16="http://schemas.microsoft.com/office/drawing/2014/main" id="{AF619292-B6F1-4FC7-A089-F11ADB4E0FD4}"/>
              </a:ext>
            </a:extLst>
          </p:cNvPr>
          <p:cNvSpPr>
            <a:spLocks xmlns:a="http://schemas.openxmlformats.org/drawingml/2006/main" noGrp="1"/>
          </p:cNvSpPr>
          <p:nvPr/>
        </p:nvSpPr>
        <p:spPr>
          <a:xfrm xmlns:a="http://schemas.openxmlformats.org/drawingml/2006/main">
            <a:off x="609600" y="47625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Crash testing</a:t>
            </a:r>
          </a:p>
        </p:txBody>
      </p:sp>
      <p:sp>
        <p:nvSpPr>
          <p:cNvPr id="9" name="text-9">
            <a:extLst xmlns:a="http://schemas.openxmlformats.org/drawingml/2006/main">
              <a:ext uri="{FF2B5EF4-FFF2-40B4-BE49-F238E27FC236}">
                <a16:creationId xmlns:a16="http://schemas.microsoft.com/office/drawing/2014/main" id="{D2D51838-631A-47A9-95FB-66B5764D1CB8}"/>
              </a:ext>
            </a:extLst>
          </p:cNvPr>
          <p:cNvSpPr>
            <a:spLocks xmlns:a="http://schemas.openxmlformats.org/drawingml/2006/main" noGrp="1"/>
          </p:cNvSpPr>
          <p:nvPr/>
        </p:nvSpPr>
        <p:spPr>
          <a:xfrm xmlns:a="http://schemas.openxmlformats.org/drawingml/2006/main">
            <a:off x="3524250" y="47625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Interrupt every persistence transition and check state after reboot.</a:t>
            </a:r>
          </a:p>
        </p:txBody>
      </p:sp>
      <p:sp>
        <p:nvSpPr>
          <p:cNvPr id="10" name="text-10">
            <a:extLst xmlns:a="http://schemas.openxmlformats.org/drawingml/2006/main">
              <a:ext uri="{FF2B5EF4-FFF2-40B4-BE49-F238E27FC236}">
                <a16:creationId xmlns:a16="http://schemas.microsoft.com/office/drawing/2014/main" id="{6EFEE8AF-367D-4000-9E4C-D79D14C9C79B}"/>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11 / 30     Proposed storage design. ChronicleFS and power-loss recovery are not implemented in the baseline.</a:t>
            </a:r>
          </a:p>
        </p:txBody>
      </p:sp>
    </p:spTree>
    <p:extLst>
      <p:ext uri="{BB962C8B-B14F-4D97-AF65-F5344CB8AC3E}">
        <p14:creationId xmlns:p14="http://schemas.microsoft.com/office/powerpoint/2010/main" val="447683868"/>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2120223B-08A8-46ED-984B-FD039ADF5400}"/>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AI-assisted recovery proposals</a:t>
            </a:r>
          </a:p>
        </p:txBody>
      </p:sp>
      <p:sp>
        <p:nvSpPr>
          <p:cNvPr id="2" name="text-2">
            <a:extLst xmlns:a="http://schemas.openxmlformats.org/drawingml/2006/main">
              <a:ext uri="{FF2B5EF4-FFF2-40B4-BE49-F238E27FC236}">
                <a16:creationId xmlns:a16="http://schemas.microsoft.com/office/drawing/2014/main" id="{5E77E08A-86C9-4866-A277-F9383A91456C}"/>
              </a:ext>
            </a:extLst>
          </p:cNvPr>
          <p:cNvSpPr>
            <a:spLocks xmlns:a="http://schemas.openxmlformats.org/drawingml/2006/main" noGrp="1"/>
          </p:cNvSpPr>
          <p:nvPr/>
        </p:nvSpPr>
        <p:spPr>
          <a:xfrm xmlns:a="http://schemas.openxmlformats.org/drawingml/2006/main">
            <a:off x="609600" y="1771650"/>
            <a:ext cx="7686675" cy="429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46B5F"/>
                </a:solidFill>
                <a:latin typeface="Consolas"/>
                <a:ea typeface="Consolas"/>
                <a:cs typeface="Consolas"/>
              </a:defRPr>
            </a:defPPr>
          </a:lstStyle>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plan RecoveryPlanV1</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service: kv</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checkpoint: approved_snapshot</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requires: current_capability_epoch</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limits: {steps: 4, replay_events: 4096}</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actions: [quiesce, restore, replay, validate]</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publish: only_if_authorized_and_valid</a:t>
            </a:r>
          </a:p>
          <a:p xmlns:a="http://schemas.openxmlformats.org/drawingml/2006/main">
            <a:pPr>
              <a:defRPr sz="1875" b="0">
                <a:solidFill>
                  <a:srgbClr val="146B5F"/>
                </a:solidFill>
                <a:latin typeface="Consolas"/>
                <a:ea typeface="Consolas"/>
                <a:cs typeface="Consolas"/>
              </a:defRPr>
            </a:pPr>
            <a:r>
              <a:rPr sz="1875" b="0">
                <a:solidFill>
                  <a:srgbClr val="146B5F"/>
                </a:solidFill>
                <a:latin typeface="Consolas"/>
                <a:ea typeface="Consolas"/>
                <a:cs typeface="Consolas"/>
              </a:rPr>
              <a:t>  on_failure: preserve_safe_state_and_stop</a:t>
            </a:r>
          </a:p>
        </p:txBody>
      </p:sp>
      <p:sp>
        <p:nvSpPr>
          <p:cNvPr id="3" name="text-3">
            <a:extLst xmlns:a="http://schemas.openxmlformats.org/drawingml/2006/main">
              <a:ext uri="{FF2B5EF4-FFF2-40B4-BE49-F238E27FC236}">
                <a16:creationId xmlns:a16="http://schemas.microsoft.com/office/drawing/2014/main" id="{B44A83C5-5B29-45D6-A494-955BF9370203}"/>
              </a:ext>
            </a:extLst>
          </p:cNvPr>
          <p:cNvSpPr>
            <a:spLocks xmlns:a="http://schemas.openxmlformats.org/drawingml/2006/main" noGrp="1"/>
          </p:cNvSpPr>
          <p:nvPr/>
        </p:nvSpPr>
        <p:spPr>
          <a:xfrm xmlns:a="http://schemas.openxmlformats.org/drawingml/2006/main">
            <a:off x="8648700" y="1800225"/>
            <a:ext cx="2905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22632"/>
                </a:solidFill>
                <a:latin typeface="Arial"/>
                <a:ea typeface="Arial"/>
                <a:cs typeface="Arial"/>
              </a:defRPr>
            </a:defPPr>
          </a:lstStyle>
          <a:p xmlns:a="http://schemas.openxmlformats.org/drawingml/2006/main">
            <a:pPr>
              <a:defRPr sz="2025" b="1">
                <a:solidFill>
                  <a:srgbClr val="122632"/>
                </a:solidFill>
                <a:latin typeface="Arial"/>
                <a:ea typeface="Arial"/>
                <a:cs typeface="Arial"/>
              </a:defRPr>
            </a:pPr>
            <a:r>
              <a:rPr sz="2025" b="1">
                <a:solidFill>
                  <a:srgbClr val="122632"/>
                </a:solidFill>
                <a:latin typeface="Arial"/>
                <a:ea typeface="Arial"/>
                <a:cs typeface="Arial"/>
              </a:rPr>
              <a:t>Proposed control flow</a:t>
            </a:r>
          </a:p>
        </p:txBody>
      </p:sp>
      <p:sp>
        <p:nvSpPr>
          <p:cNvPr id="4" name="text-4">
            <a:extLst xmlns:a="http://schemas.openxmlformats.org/drawingml/2006/main">
              <a:ext uri="{FF2B5EF4-FFF2-40B4-BE49-F238E27FC236}">
                <a16:creationId xmlns:a16="http://schemas.microsoft.com/office/drawing/2014/main" id="{243F6C4F-F608-428F-A5AB-23653150C34A}"/>
              </a:ext>
            </a:extLst>
          </p:cNvPr>
          <p:cNvSpPr>
            <a:spLocks xmlns:a="http://schemas.openxmlformats.org/drawingml/2006/main" noGrp="1"/>
          </p:cNvSpPr>
          <p:nvPr/>
        </p:nvSpPr>
        <p:spPr>
          <a:xfrm xmlns:a="http://schemas.openxmlformats.org/drawingml/2006/main">
            <a:off x="8648700" y="2676525"/>
            <a:ext cx="29051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Structured fault trace</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Untrusted plan proposal</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Deterministic verification</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Trusted staged execution</a:t>
            </a:r>
          </a:p>
        </p:txBody>
      </p:sp>
      <p:sp>
        <p:nvSpPr>
          <p:cNvPr id="5" name="text-5">
            <a:extLst xmlns:a="http://schemas.openxmlformats.org/drawingml/2006/main">
              <a:ext uri="{FF2B5EF4-FFF2-40B4-BE49-F238E27FC236}">
                <a16:creationId xmlns:a16="http://schemas.microsoft.com/office/drawing/2014/main" id="{34BB12E1-AFA3-4C3E-BAA5-13D9230488D3}"/>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12 / 30     Illustrative plan syntax only. The DSL, verifier, executor and AI adapter remain planned.</a:t>
            </a:r>
          </a:p>
        </p:txBody>
      </p:sp>
    </p:spTree>
    <p:extLst>
      <p:ext uri="{BB962C8B-B14F-4D97-AF65-F5344CB8AC3E}">
        <p14:creationId xmlns:p14="http://schemas.microsoft.com/office/powerpoint/2010/main" val="1847695259"/>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AA334D99-FD9D-41AD-829B-B39B65A02A3F}"/>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Deterministic verification obligations</a:t>
            </a:r>
          </a:p>
        </p:txBody>
      </p:sp>
      <p:graphicFrame>
        <p:nvGraphicFramePr>
          <p:cNvPr id="2" name="">
            <a:extLst xmlns:a="http://schemas.openxmlformats.org/drawingml/2006/main">
              <a:ext uri="{FF2B5EF4-FFF2-40B4-BE49-F238E27FC236}">
                <a16:creationId xmlns:a16="http://schemas.microsoft.com/office/drawing/2014/main" id="{C3E8261C-8655-45DE-83D9-3625D42E6D6E}"/>
              </a:ext>
            </a:extLst>
          </p:cNvPr>
          <p:cNvGraphicFramePr/>
          <p:nvPr/>
        </p:nvGraphicFramePr>
        <p:xfrm>
          <a:off xmlns:a="http://schemas.openxmlformats.org/drawingml/2006/main" x="609600" y="1685925"/>
          <a:ext xmlns:a="http://schemas.openxmlformats.org/drawingml/2006/main" cx="10972800" cy="4171950"/>
        </p:xfrm>
        <a:graphic xmlns:a="http://schemas.openxmlformats.org/drawingml/2006/main">
          <a:graphicData uri="http://schemas.openxmlformats.org/drawingml/2006/table">
            <a:tbl>
              <a:tblPr firstRow="1" bandRow="0"/>
              <a:tblGrid>
                <a:gridCol w="3238500"/>
                <a:gridCol w="7734300"/>
              </a:tblGrid>
              <a:tr h="457200">
                <a:tc>
                  <a:txBody>
                    <a:bodyPr/>
                    <a:lstStyle/>
                    <a:p>
                      <a:r>
                        <a:rPr sz="1725" b="1">
                          <a:solidFill>
                            <a:srgbClr val="FCFCF8"/>
                          </a:solidFill>
                          <a:latin typeface="Arial"/>
                          <a:ea typeface="Arial"/>
                          <a:cs typeface="Arial"/>
                        </a:rPr>
                        <a:t>Obligation</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Required decision before execution</a:t>
                      </a:r>
                    </a:p>
                  </a:txBody>
                  <a:tcPr marL="133350" marR="133350" marT="66675" marB="66675" anchor="ctr">
                    <a:solidFill>
                      <a:srgbClr val="122632"/>
                    </a:solidFill>
                  </a:tcPr>
                </a:tc>
              </a:tr>
              <a:tr h="619125">
                <a:tc>
                  <a:txBody>
                    <a:bodyPr/>
                    <a:lstStyle/>
                    <a:p>
                      <a:r>
                        <a:rPr sz="1875" b="1">
                          <a:solidFill>
                            <a:srgbClr val="122632"/>
                          </a:solidFill>
                          <a:latin typeface="Arial"/>
                          <a:ea typeface="Arial"/>
                          <a:cs typeface="Arial"/>
                        </a:rPr>
                        <a:t>Capability authority</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Every referenced object and operation is authorized now.</a:t>
                      </a:r>
                    </a:p>
                  </a:txBody>
                  <a:tcPr marL="133350" marR="133350" marT="66675" marB="66675" anchor="ctr">
                    <a:solidFill>
                      <a:srgbClr val="F6F4EE"/>
                    </a:solidFill>
                  </a:tcPr>
                </a:tc>
              </a:tr>
              <a:tr h="619125">
                <a:tc>
                  <a:txBody>
                    <a:bodyPr/>
                    <a:lstStyle/>
                    <a:p>
                      <a:r>
                        <a:rPr sz="1875" b="1">
                          <a:solidFill>
                            <a:srgbClr val="122632"/>
                          </a:solidFill>
                          <a:latin typeface="Arial"/>
                          <a:ea typeface="Arial"/>
                          <a:cs typeface="Arial"/>
                        </a:rPr>
                        <a:t>No amplification</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The plan cannot mint stronger privileges during recovery.</a:t>
                      </a:r>
                    </a:p>
                  </a:txBody>
                  <a:tcPr marL="133350" marR="133350" marT="66675" marB="66675" anchor="ctr">
                    <a:solidFill>
                      <a:srgbClr val="E9EDE7"/>
                    </a:solidFill>
                  </a:tcPr>
                </a:tc>
              </a:tr>
              <a:tr h="619125">
                <a:tc>
                  <a:txBody>
                    <a:bodyPr/>
                    <a:lstStyle/>
                    <a:p>
                      <a:r>
                        <a:rPr sz="1875" b="1">
                          <a:solidFill>
                            <a:srgbClr val="122632"/>
                          </a:solidFill>
                          <a:latin typeface="Arial"/>
                          <a:ea typeface="Arial"/>
                          <a:cs typeface="Arial"/>
                        </a:rPr>
                        <a:t>Resource bounds</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Memory, handles, log capacity and fuel fit reserved budgets.</a:t>
                      </a:r>
                    </a:p>
                  </a:txBody>
                  <a:tcPr marL="133350" marR="133350" marT="66675" marB="66675" anchor="ctr">
                    <a:solidFill>
                      <a:srgbClr val="F6F4EE"/>
                    </a:solidFill>
                  </a:tcPr>
                </a:tc>
              </a:tr>
              <a:tr h="619125">
                <a:tc>
                  <a:txBody>
                    <a:bodyPr/>
                    <a:lstStyle/>
                    <a:p>
                      <a:r>
                        <a:rPr sz="1875" b="1">
                          <a:solidFill>
                            <a:srgbClr val="122632"/>
                          </a:solidFill>
                          <a:latin typeface="Arial"/>
                          <a:ea typeface="Arial"/>
                          <a:cs typeface="Arial"/>
                        </a:rPr>
                        <a:t>Bounded execution</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Each action terminates or reaches a defined time/resource limit.</a:t>
                      </a:r>
                    </a:p>
                  </a:txBody>
                  <a:tcPr marL="133350" marR="133350" marT="66675" marB="66675" anchor="ctr">
                    <a:solidFill>
                      <a:srgbClr val="E9EDE7"/>
                    </a:solidFill>
                  </a:tcPr>
                </a:tc>
              </a:tr>
              <a:tr h="619125">
                <a:tc>
                  <a:txBody>
                    <a:bodyPr/>
                    <a:lstStyle/>
                    <a:p>
                      <a:r>
                        <a:rPr sz="1875" b="1">
                          <a:solidFill>
                            <a:srgbClr val="122632"/>
                          </a:solidFill>
                          <a:latin typeface="Arial"/>
                          <a:ea typeface="Arial"/>
                          <a:cs typeface="Arial"/>
                        </a:rPr>
                        <a:t>Rollback availability</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A permitted safe state remains available if a staged step fails.</a:t>
                      </a:r>
                    </a:p>
                  </a:txBody>
                  <a:tcPr marL="133350" marR="133350" marT="66675" marB="66675" anchor="ctr">
                    <a:solidFill>
                      <a:srgbClr val="F6F4EE"/>
                    </a:solidFill>
                  </a:tcPr>
                </a:tc>
              </a:tr>
              <a:tr h="619125">
                <a:tc>
                  <a:txBody>
                    <a:bodyPr/>
                    <a:lstStyle/>
                    <a:p>
                      <a:r>
                        <a:rPr sz="1875" b="1">
                          <a:solidFill>
                            <a:srgbClr val="122632"/>
                          </a:solidFill>
                          <a:latin typeface="Arial"/>
                          <a:ea typeface="Arial"/>
                          <a:cs typeface="Arial"/>
                        </a:rPr>
                        <a:t>State freshness</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Execution rejects stale epochs and changed preconditions.</a:t>
                      </a:r>
                    </a:p>
                  </a:txBody>
                  <a:tcPr marL="133350" marR="133350"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35C040AF-1827-40B6-A539-9ED703E4F784}"/>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13 / 30     Proposed verifier specification. Parsing a typed plan alone does not establish these properties.</a:t>
            </a:r>
          </a:p>
        </p:txBody>
      </p:sp>
    </p:spTree>
    <p:extLst>
      <p:ext uri="{BB962C8B-B14F-4D97-AF65-F5344CB8AC3E}">
        <p14:creationId xmlns:p14="http://schemas.microsoft.com/office/powerpoint/2010/main" val="950844823"/>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9A5225C6-E96E-4A1F-B552-C1917DA04F7E}"/>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Working prototype evidence</a:t>
            </a:r>
          </a:p>
        </p:txBody>
      </p:sp>
      <p:sp>
        <p:nvSpPr>
          <p:cNvPr id="2" name="text-2">
            <a:extLst xmlns:a="http://schemas.openxmlformats.org/drawingml/2006/main">
              <a:ext uri="{FF2B5EF4-FFF2-40B4-BE49-F238E27FC236}">
                <a16:creationId xmlns:a16="http://schemas.microsoft.com/office/drawing/2014/main" id="{8C61FA1A-26F2-41DC-A3E6-B433378E823D}"/>
              </a:ext>
            </a:extLst>
          </p:cNvPr>
          <p:cNvSpPr>
            <a:spLocks xmlns:a="http://schemas.openxmlformats.org/drawingml/2006/main" noGrp="1"/>
          </p:cNvSpPr>
          <p:nvPr/>
        </p:nvSpPr>
        <p:spPr>
          <a:xfrm xmlns:a="http://schemas.openxmlformats.org/drawingml/2006/main">
            <a:off x="609600" y="1885950"/>
            <a:ext cx="3524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400" b="1">
                <a:solidFill>
                  <a:srgbClr val="146B5F"/>
                </a:solidFill>
                <a:latin typeface="Arial"/>
                <a:ea typeface="Arial"/>
                <a:cs typeface="Arial"/>
              </a:defRPr>
            </a:defPPr>
          </a:lstStyle>
          <a:p xmlns:a="http://schemas.openxmlformats.org/drawingml/2006/main">
            <a:pPr>
              <a:defRPr sz="5400" b="1">
                <a:solidFill>
                  <a:srgbClr val="146B5F"/>
                </a:solidFill>
                <a:latin typeface="Arial"/>
                <a:ea typeface="Arial"/>
                <a:cs typeface="Arial"/>
              </a:defRPr>
            </a:pPr>
            <a:r>
              <a:rPr sz="5400" b="1">
                <a:solidFill>
                  <a:srgbClr val="146B5F"/>
                </a:solidFill>
                <a:latin typeface="Arial"/>
                <a:ea typeface="Arial"/>
                <a:cs typeface="Arial"/>
              </a:rPr>
              <a:t>24</a:t>
            </a:r>
          </a:p>
        </p:txBody>
      </p:sp>
      <p:sp>
        <p:nvSpPr>
          <p:cNvPr id="3" name="text-3">
            <a:extLst xmlns:a="http://schemas.openxmlformats.org/drawingml/2006/main">
              <a:ext uri="{FF2B5EF4-FFF2-40B4-BE49-F238E27FC236}">
                <a16:creationId xmlns:a16="http://schemas.microsoft.com/office/drawing/2014/main" id="{7D5120BF-D8C4-4AA7-8EF1-906AFAA60842}"/>
              </a:ext>
            </a:extLst>
          </p:cNvPr>
          <p:cNvSpPr>
            <a:spLocks xmlns:a="http://schemas.openxmlformats.org/drawingml/2006/main" noGrp="1"/>
          </p:cNvSpPr>
          <p:nvPr/>
        </p:nvSpPr>
        <p:spPr>
          <a:xfrm xmlns:a="http://schemas.openxmlformats.org/drawingml/2006/main">
            <a:off x="609600" y="3057525"/>
            <a:ext cx="340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passing host tests</a:t>
            </a:r>
          </a:p>
        </p:txBody>
      </p:sp>
      <p:sp>
        <p:nvSpPr>
          <p:cNvPr id="4" name="text-4">
            <a:extLst xmlns:a="http://schemas.openxmlformats.org/drawingml/2006/main">
              <a:ext uri="{FF2B5EF4-FFF2-40B4-BE49-F238E27FC236}">
                <a16:creationId xmlns:a16="http://schemas.microsoft.com/office/drawing/2014/main" id="{AACDF2AD-7D00-418D-A93D-CEBB7D6AE700}"/>
              </a:ext>
            </a:extLst>
          </p:cNvPr>
          <p:cNvSpPr>
            <a:spLocks xmlns:a="http://schemas.openxmlformats.org/drawingml/2006/main" noGrp="1"/>
          </p:cNvSpPr>
          <p:nvPr/>
        </p:nvSpPr>
        <p:spPr>
          <a:xfrm xmlns:a="http://schemas.openxmlformats.org/drawingml/2006/main">
            <a:off x="4343400" y="1885950"/>
            <a:ext cx="3524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400" b="1">
                <a:solidFill>
                  <a:srgbClr val="146B5F"/>
                </a:solidFill>
                <a:latin typeface="Arial"/>
                <a:ea typeface="Arial"/>
                <a:cs typeface="Arial"/>
              </a:defRPr>
            </a:defPPr>
          </a:lstStyle>
          <a:p xmlns:a="http://schemas.openxmlformats.org/drawingml/2006/main">
            <a:pPr>
              <a:defRPr sz="5400" b="1">
                <a:solidFill>
                  <a:srgbClr val="146B5F"/>
                </a:solidFill>
                <a:latin typeface="Arial"/>
                <a:ea typeface="Arial"/>
                <a:cs typeface="Arial"/>
              </a:defRPr>
            </a:pPr>
            <a:r>
              <a:rPr sz="5400" b="1">
                <a:solidFill>
                  <a:srgbClr val="146B5F"/>
                </a:solidFill>
                <a:latin typeface="Arial"/>
                <a:ea typeface="Arial"/>
                <a:cs typeface="Arial"/>
              </a:rPr>
              <a:t>3</a:t>
            </a:r>
          </a:p>
        </p:txBody>
      </p:sp>
      <p:sp>
        <p:nvSpPr>
          <p:cNvPr id="5" name="text-5">
            <a:extLst xmlns:a="http://schemas.openxmlformats.org/drawingml/2006/main">
              <a:ext uri="{FF2B5EF4-FFF2-40B4-BE49-F238E27FC236}">
                <a16:creationId xmlns:a16="http://schemas.microsoft.com/office/drawing/2014/main" id="{C6BA3C9B-28CE-4848-A7EA-9E8E3A3E3235}"/>
              </a:ext>
            </a:extLst>
          </p:cNvPr>
          <p:cNvSpPr>
            <a:spLocks xmlns:a="http://schemas.openxmlformats.org/drawingml/2006/main" noGrp="1"/>
          </p:cNvSpPr>
          <p:nvPr/>
        </p:nvSpPr>
        <p:spPr>
          <a:xfrm xmlns:a="http://schemas.openxmlformats.org/drawingml/2006/main">
            <a:off x="4343400" y="3057525"/>
            <a:ext cx="340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CPU protection probes</a:t>
            </a:r>
          </a:p>
        </p:txBody>
      </p:sp>
      <p:sp>
        <p:nvSpPr>
          <p:cNvPr id="6" name="text-6">
            <a:extLst xmlns:a="http://schemas.openxmlformats.org/drawingml/2006/main">
              <a:ext uri="{FF2B5EF4-FFF2-40B4-BE49-F238E27FC236}">
                <a16:creationId xmlns:a16="http://schemas.microsoft.com/office/drawing/2014/main" id="{ACA16078-DB57-4BB2-9900-94D17AEA6564}"/>
              </a:ext>
            </a:extLst>
          </p:cNvPr>
          <p:cNvSpPr>
            <a:spLocks xmlns:a="http://schemas.openxmlformats.org/drawingml/2006/main" noGrp="1"/>
          </p:cNvSpPr>
          <p:nvPr/>
        </p:nvSpPr>
        <p:spPr>
          <a:xfrm xmlns:a="http://schemas.openxmlformats.org/drawingml/2006/main">
            <a:off x="8077200" y="1885950"/>
            <a:ext cx="3524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400" b="1">
                <a:solidFill>
                  <a:srgbClr val="146B5F"/>
                </a:solidFill>
                <a:latin typeface="Arial"/>
                <a:ea typeface="Arial"/>
                <a:cs typeface="Arial"/>
              </a:defRPr>
            </a:defPPr>
          </a:lstStyle>
          <a:p xmlns:a="http://schemas.openxmlformats.org/drawingml/2006/main">
            <a:pPr>
              <a:defRPr sz="5400" b="1">
                <a:solidFill>
                  <a:srgbClr val="146B5F"/>
                </a:solidFill>
                <a:latin typeface="Arial"/>
                <a:ea typeface="Arial"/>
                <a:cs typeface="Arial"/>
              </a:defRPr>
            </a:pPr>
            <a:r>
              <a:rPr sz="5400" b="1">
                <a:solidFill>
                  <a:srgbClr val="146B5F"/>
                </a:solidFill>
                <a:latin typeface="Arial"/>
                <a:ea typeface="Arial"/>
                <a:cs typeface="Arial"/>
              </a:rPr>
              <a:t>12</a:t>
            </a:r>
          </a:p>
        </p:txBody>
      </p:sp>
      <p:sp>
        <p:nvSpPr>
          <p:cNvPr id="7" name="text-7">
            <a:extLst xmlns:a="http://schemas.openxmlformats.org/drawingml/2006/main">
              <a:ext uri="{FF2B5EF4-FFF2-40B4-BE49-F238E27FC236}">
                <a16:creationId xmlns:a16="http://schemas.microsoft.com/office/drawing/2014/main" id="{04FC5863-42DD-447C-9D19-3A4347D84216}"/>
              </a:ext>
            </a:extLst>
          </p:cNvPr>
          <p:cNvSpPr>
            <a:spLocks xmlns:a="http://schemas.openxmlformats.org/drawingml/2006/main" noGrp="1"/>
          </p:cNvSpPr>
          <p:nvPr/>
        </p:nvSpPr>
        <p:spPr>
          <a:xfrm xmlns:a="http://schemas.openxmlformats.org/drawingml/2006/main">
            <a:off x="8077200" y="3057525"/>
            <a:ext cx="3409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requests replayed exactly</a:t>
            </a:r>
          </a:p>
        </p:txBody>
      </p:sp>
      <p:sp>
        <p:nvSpPr>
          <p:cNvPr id="8" name="text-8">
            <a:extLst xmlns:a="http://schemas.openxmlformats.org/drawingml/2006/main">
              <a:ext uri="{FF2B5EF4-FFF2-40B4-BE49-F238E27FC236}">
                <a16:creationId xmlns:a16="http://schemas.microsoft.com/office/drawing/2014/main" id="{029841A3-9006-4BDE-BFF8-CD0326F5255D}"/>
              </a:ext>
            </a:extLst>
          </p:cNvPr>
          <p:cNvSpPr>
            <a:spLocks xmlns:a="http://schemas.openxmlformats.org/drawingml/2006/main" noGrp="1"/>
          </p:cNvSpPr>
          <p:nvPr/>
        </p:nvSpPr>
        <p:spPr>
          <a:xfrm xmlns:a="http://schemas.openxmlformats.org/drawingml/2006/main">
            <a:off x="609600" y="411480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122632"/>
                </a:solidFill>
                <a:latin typeface="Arial"/>
                <a:ea typeface="Arial"/>
                <a:cs typeface="Arial"/>
              </a:defRPr>
            </a:defPPr>
          </a:lstStyle>
          <a:p xmlns:a="http://schemas.openxmlformats.org/drawingml/2006/main">
            <a:pPr>
              <a:defRPr sz="2250" b="0">
                <a:solidFill>
                  <a:srgbClr val="122632"/>
                </a:solidFill>
                <a:latin typeface="Arial"/>
                <a:ea typeface="Arial"/>
                <a:cs typeface="Arial"/>
              </a:defRPr>
            </a:pPr>
            <a:r>
              <a:rPr sz="2250" b="0">
                <a:solidFill>
                  <a:srgbClr val="122632"/>
                </a:solidFill>
                <a:latin typeface="Arial"/>
                <a:ea typeface="Arial"/>
                <a:cs typeface="Arial"/>
              </a:rPr>
              <a:t>The kernel boots in debug and release configurations.</a:t>
            </a:r>
          </a:p>
          <a:p xmlns:a="http://schemas.openxmlformats.org/drawingml/2006/main">
            <a:pPr>
              <a:defRPr sz="2250" b="0">
                <a:solidFill>
                  <a:srgbClr val="122632"/>
                </a:solidFill>
                <a:latin typeface="Arial"/>
                <a:ea typeface="Arial"/>
                <a:cs typeface="Arial"/>
              </a:defRPr>
            </a:pPr>
            <a:r>
              <a:rPr sz="2250" b="0">
                <a:solidFill>
                  <a:srgbClr val="122632"/>
                </a:solidFill>
                <a:latin typeface="Arial"/>
                <a:ea typeface="Arial"/>
                <a:cs typeface="Arial"/>
              </a:rPr>
              <a:t>The host experiment rejects altered traces and corrupted state.</a:t>
            </a:r>
          </a:p>
        </p:txBody>
      </p:sp>
      <p:sp>
        <p:nvSpPr>
          <p:cNvPr id="9" name="text-9">
            <a:extLst xmlns:a="http://schemas.openxmlformats.org/drawingml/2006/main">
              <a:ext uri="{FF2B5EF4-FFF2-40B4-BE49-F238E27FC236}">
                <a16:creationId xmlns:a16="http://schemas.microsoft.com/office/drawing/2014/main" id="{D7B54C97-5999-439C-99B3-8988BFAACD11}"/>
              </a:ext>
            </a:extLst>
          </p:cNvPr>
          <p:cNvSpPr>
            <a:spLocks xmlns:a="http://schemas.openxmlformats.org/drawingml/2006/main" noGrp="1"/>
          </p:cNvSpPr>
          <p:nvPr/>
        </p:nvSpPr>
        <p:spPr>
          <a:xfrm xmlns:a="http://schemas.openxmlformats.org/drawingml/2006/main">
            <a:off x="609600" y="53435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58656A"/>
                </a:solidFill>
                <a:latin typeface="Arial"/>
                <a:ea typeface="Arial"/>
                <a:cs typeface="Arial"/>
              </a:defRPr>
            </a:defPPr>
          </a:lstStyle>
          <a:p xmlns:a="http://schemas.openxmlformats.org/drawingml/2006/main">
            <a:pPr>
              <a:defRPr sz="1800" b="0">
                <a:solidFill>
                  <a:srgbClr val="58656A"/>
                </a:solidFill>
                <a:latin typeface="Arial"/>
                <a:ea typeface="Arial"/>
                <a:cs typeface="Arial"/>
              </a:defRPr>
            </a:pPr>
            <a:r>
              <a:rPr sz="1800" b="0">
                <a:solidFill>
                  <a:srgbClr val="58656A"/>
                </a:solidFill>
                <a:latin typeface="Arial"/>
                <a:ea typeface="Arial"/>
                <a:cs typeface="Arial"/>
              </a:rPr>
              <a:t>The rehearsal captures real command output and a reproducible replay report. Performance evaluation remains a later milestone.</a:t>
            </a:r>
          </a:p>
        </p:txBody>
      </p:sp>
      <p:sp>
        <p:nvSpPr>
          <p:cNvPr id="10" name="text-10">
            <a:extLst xmlns:a="http://schemas.openxmlformats.org/drawingml/2006/main">
              <a:ext uri="{FF2B5EF4-FFF2-40B4-BE49-F238E27FC236}">
                <a16:creationId xmlns:a16="http://schemas.microsoft.com/office/drawing/2014/main" id="{839E8ED5-907D-4EC5-A95B-E81ED7119387}"/>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14 / 30     Recorded code baseline 44b739d. Correctness evidence applies to the stated prototype scope.</a:t>
            </a:r>
          </a:p>
        </p:txBody>
      </p:sp>
    </p:spTree>
    <p:extLst>
      <p:ext uri="{BB962C8B-B14F-4D97-AF65-F5344CB8AC3E}">
        <p14:creationId xmlns:p14="http://schemas.microsoft.com/office/powerpoint/2010/main" val="509196689"/>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EFBA3ED1-EAB3-4BAF-9EF0-98CD5CA576AE}"/>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Live demo through the CLI</a:t>
            </a:r>
          </a:p>
        </p:txBody>
      </p:sp>
      <p:sp>
        <p:nvSpPr>
          <p:cNvPr id="2" name="text-2">
            <a:extLst xmlns:a="http://schemas.openxmlformats.org/drawingml/2006/main">
              <a:ext uri="{FF2B5EF4-FFF2-40B4-BE49-F238E27FC236}">
                <a16:creationId xmlns:a16="http://schemas.microsoft.com/office/drawing/2014/main" id="{2A9234C3-01A1-4982-B014-E6F1F0DEBDF3}"/>
              </a:ext>
            </a:extLst>
          </p:cNvPr>
          <p:cNvSpPr>
            <a:spLocks xmlns:a="http://schemas.openxmlformats.org/drawingml/2006/main" noGrp="1"/>
          </p:cNvSpPr>
          <p:nvPr/>
        </p:nvSpPr>
        <p:spPr>
          <a:xfrm xmlns:a="http://schemas.openxmlformats.org/drawingml/2006/main">
            <a:off x="609600" y="1809750"/>
            <a:ext cx="685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B35B33"/>
                </a:solidFill>
                <a:latin typeface="Arial"/>
                <a:ea typeface="Arial"/>
                <a:cs typeface="Arial"/>
              </a:defRPr>
            </a:defPPr>
          </a:lstStyle>
          <a:p xmlns:a="http://schemas.openxmlformats.org/drawingml/2006/main">
            <a:pPr>
              <a:defRPr sz="4500" b="1">
                <a:solidFill>
                  <a:srgbClr val="B35B33"/>
                </a:solidFill>
                <a:latin typeface="Arial"/>
                <a:ea typeface="Arial"/>
                <a:cs typeface="Arial"/>
              </a:defRPr>
            </a:pPr>
            <a:r>
              <a:rPr sz="4500" b="1">
                <a:solidFill>
                  <a:srgbClr val="B35B33"/>
                </a:solidFill>
                <a:latin typeface="Arial"/>
                <a:ea typeface="Arial"/>
                <a:cs typeface="Arial"/>
              </a:rPr>
              <a:t>1</a:t>
            </a:r>
          </a:p>
        </p:txBody>
      </p:sp>
      <p:sp>
        <p:nvSpPr>
          <p:cNvPr id="3" name="text-3">
            <a:extLst xmlns:a="http://schemas.openxmlformats.org/drawingml/2006/main">
              <a:ext uri="{FF2B5EF4-FFF2-40B4-BE49-F238E27FC236}">
                <a16:creationId xmlns:a16="http://schemas.microsoft.com/office/drawing/2014/main" id="{838B24BA-E9F8-40B4-BB35-0AC182CB6BEF}"/>
              </a:ext>
            </a:extLst>
          </p:cNvPr>
          <p:cNvSpPr>
            <a:spLocks xmlns:a="http://schemas.openxmlformats.org/drawingml/2006/main" noGrp="1"/>
          </p:cNvSpPr>
          <p:nvPr/>
        </p:nvSpPr>
        <p:spPr>
          <a:xfrm xmlns:a="http://schemas.openxmlformats.org/drawingml/2006/main">
            <a:off x="1571625" y="1809750"/>
            <a:ext cx="971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146B5F"/>
                </a:solidFill>
                <a:latin typeface="Consolas"/>
                <a:ea typeface="Consolas"/>
                <a:cs typeface="Consolas"/>
              </a:defRPr>
            </a:defPPr>
          </a:lstStyle>
          <a:p xmlns:a="http://schemas.openxmlformats.org/drawingml/2006/main">
            <a:pPr>
              <a:defRPr sz="2550" b="0">
                <a:solidFill>
                  <a:srgbClr val="146B5F"/>
                </a:solidFill>
                <a:latin typeface="Consolas"/>
                <a:ea typeface="Consolas"/>
                <a:cs typeface="Consolas"/>
              </a:defRPr>
            </a:pPr>
            <a:r>
              <a:rPr sz="2550" b="0">
                <a:solidFill>
                  <a:srgbClr val="146B5F"/>
                </a:solidFill>
                <a:latin typeface="Consolas"/>
                <a:ea typeface="Consolas"/>
                <a:cs typeface="Consolas"/>
              </a:rPr>
              <a:t>python tools/dev.py boot</a:t>
            </a:r>
          </a:p>
        </p:txBody>
      </p:sp>
      <p:sp>
        <p:nvSpPr>
          <p:cNvPr id="4" name="text-4">
            <a:extLst xmlns:a="http://schemas.openxmlformats.org/drawingml/2006/main">
              <a:ext uri="{FF2B5EF4-FFF2-40B4-BE49-F238E27FC236}">
                <a16:creationId xmlns:a16="http://schemas.microsoft.com/office/drawing/2014/main" id="{A7630C5B-8F70-4C3D-8D8C-B607E703A14C}"/>
              </a:ext>
            </a:extLst>
          </p:cNvPr>
          <p:cNvSpPr>
            <a:spLocks xmlns:a="http://schemas.openxmlformats.org/drawingml/2006/main" noGrp="1"/>
          </p:cNvSpPr>
          <p:nvPr/>
        </p:nvSpPr>
        <p:spPr>
          <a:xfrm xmlns:a="http://schemas.openxmlformats.org/drawingml/2006/main">
            <a:off x="1571625" y="24193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Boot the kernel and inspect serial events</a:t>
            </a:r>
          </a:p>
        </p:txBody>
      </p:sp>
      <p:sp>
        <p:nvSpPr>
          <p:cNvPr id="5" name="text-5">
            <a:extLst xmlns:a="http://schemas.openxmlformats.org/drawingml/2006/main">
              <a:ext uri="{FF2B5EF4-FFF2-40B4-BE49-F238E27FC236}">
                <a16:creationId xmlns:a16="http://schemas.microsoft.com/office/drawing/2014/main" id="{33D96603-0C13-43A5-941A-D339ACAB5E10}"/>
              </a:ext>
            </a:extLst>
          </p:cNvPr>
          <p:cNvSpPr>
            <a:spLocks xmlns:a="http://schemas.openxmlformats.org/drawingml/2006/main" noGrp="1"/>
          </p:cNvSpPr>
          <p:nvPr/>
        </p:nvSpPr>
        <p:spPr>
          <a:xfrm xmlns:a="http://schemas.openxmlformats.org/drawingml/2006/main">
            <a:off x="609600" y="3190875"/>
            <a:ext cx="685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B35B33"/>
                </a:solidFill>
                <a:latin typeface="Arial"/>
                <a:ea typeface="Arial"/>
                <a:cs typeface="Arial"/>
              </a:defRPr>
            </a:defPPr>
          </a:lstStyle>
          <a:p xmlns:a="http://schemas.openxmlformats.org/drawingml/2006/main">
            <a:pPr>
              <a:defRPr sz="4500" b="1">
                <a:solidFill>
                  <a:srgbClr val="B35B33"/>
                </a:solidFill>
                <a:latin typeface="Arial"/>
                <a:ea typeface="Arial"/>
                <a:cs typeface="Arial"/>
              </a:defRPr>
            </a:pPr>
            <a:r>
              <a:rPr sz="4500" b="1">
                <a:solidFill>
                  <a:srgbClr val="B35B33"/>
                </a:solidFill>
                <a:latin typeface="Arial"/>
                <a:ea typeface="Arial"/>
                <a:cs typeface="Arial"/>
              </a:rPr>
              <a:t>2</a:t>
            </a:r>
          </a:p>
        </p:txBody>
      </p:sp>
      <p:sp>
        <p:nvSpPr>
          <p:cNvPr id="6" name="text-6">
            <a:extLst xmlns:a="http://schemas.openxmlformats.org/drawingml/2006/main">
              <a:ext uri="{FF2B5EF4-FFF2-40B4-BE49-F238E27FC236}">
                <a16:creationId xmlns:a16="http://schemas.microsoft.com/office/drawing/2014/main" id="{BB8D6138-6EEE-4E93-BFDE-CC7F59896924}"/>
              </a:ext>
            </a:extLst>
          </p:cNvPr>
          <p:cNvSpPr>
            <a:spLocks xmlns:a="http://schemas.openxmlformats.org/drawingml/2006/main" noGrp="1"/>
          </p:cNvSpPr>
          <p:nvPr/>
        </p:nvSpPr>
        <p:spPr>
          <a:xfrm xmlns:a="http://schemas.openxmlformats.org/drawingml/2006/main">
            <a:off x="1571625" y="3190875"/>
            <a:ext cx="971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146B5F"/>
                </a:solidFill>
                <a:latin typeface="Consolas"/>
                <a:ea typeface="Consolas"/>
                <a:cs typeface="Consolas"/>
              </a:defRPr>
            </a:defPPr>
          </a:lstStyle>
          <a:p xmlns:a="http://schemas.openxmlformats.org/drawingml/2006/main">
            <a:pPr>
              <a:defRPr sz="2550" b="0">
                <a:solidFill>
                  <a:srgbClr val="146B5F"/>
                </a:solidFill>
                <a:latin typeface="Consolas"/>
                <a:ea typeface="Consolas"/>
                <a:cs typeface="Consolas"/>
              </a:defRPr>
            </a:pPr>
            <a:r>
              <a:rPr sz="2550" b="0">
                <a:solidFill>
                  <a:srgbClr val="146B5F"/>
                </a:solidFill>
                <a:latin typeface="Consolas"/>
                <a:ea typeface="Consolas"/>
                <a:cs typeface="Consolas"/>
              </a:rPr>
              <a:t>python tools/dev.py test</a:t>
            </a:r>
          </a:p>
        </p:txBody>
      </p:sp>
      <p:sp>
        <p:nvSpPr>
          <p:cNvPr id="7" name="text-7">
            <a:extLst xmlns:a="http://schemas.openxmlformats.org/drawingml/2006/main">
              <a:ext uri="{FF2B5EF4-FFF2-40B4-BE49-F238E27FC236}">
                <a16:creationId xmlns:a16="http://schemas.microsoft.com/office/drawing/2014/main" id="{7D764E9A-5935-4589-87E8-9EABC3898520}"/>
              </a:ext>
            </a:extLst>
          </p:cNvPr>
          <p:cNvSpPr>
            <a:spLocks xmlns:a="http://schemas.openxmlformats.org/drawingml/2006/main" noGrp="1"/>
          </p:cNvSpPr>
          <p:nvPr/>
        </p:nvSpPr>
        <p:spPr>
          <a:xfrm xmlns:a="http://schemas.openxmlformats.org/drawingml/2006/main">
            <a:off x="1571625" y="380047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Check capability and replay failure cases</a:t>
            </a:r>
          </a:p>
        </p:txBody>
      </p:sp>
      <p:sp>
        <p:nvSpPr>
          <p:cNvPr id="8" name="text-8">
            <a:extLst xmlns:a="http://schemas.openxmlformats.org/drawingml/2006/main">
              <a:ext uri="{FF2B5EF4-FFF2-40B4-BE49-F238E27FC236}">
                <a16:creationId xmlns:a16="http://schemas.microsoft.com/office/drawing/2014/main" id="{C9A422B7-C505-4443-BED4-F2608BB0E17D}"/>
              </a:ext>
            </a:extLst>
          </p:cNvPr>
          <p:cNvSpPr>
            <a:spLocks xmlns:a="http://schemas.openxmlformats.org/drawingml/2006/main" noGrp="1"/>
          </p:cNvSpPr>
          <p:nvPr/>
        </p:nvSpPr>
        <p:spPr>
          <a:xfrm xmlns:a="http://schemas.openxmlformats.org/drawingml/2006/main">
            <a:off x="609600" y="4572000"/>
            <a:ext cx="685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B35B33"/>
                </a:solidFill>
                <a:latin typeface="Arial"/>
                <a:ea typeface="Arial"/>
                <a:cs typeface="Arial"/>
              </a:defRPr>
            </a:defPPr>
          </a:lstStyle>
          <a:p xmlns:a="http://schemas.openxmlformats.org/drawingml/2006/main">
            <a:pPr>
              <a:defRPr sz="4500" b="1">
                <a:solidFill>
                  <a:srgbClr val="B35B33"/>
                </a:solidFill>
                <a:latin typeface="Arial"/>
                <a:ea typeface="Arial"/>
                <a:cs typeface="Arial"/>
              </a:defRPr>
            </a:pPr>
            <a:r>
              <a:rPr sz="4500" b="1">
                <a:solidFill>
                  <a:srgbClr val="B35B33"/>
                </a:solidFill>
                <a:latin typeface="Arial"/>
                <a:ea typeface="Arial"/>
                <a:cs typeface="Arial"/>
              </a:rPr>
              <a:t>3</a:t>
            </a:r>
          </a:p>
        </p:txBody>
      </p:sp>
      <p:sp>
        <p:nvSpPr>
          <p:cNvPr id="9" name="text-9">
            <a:extLst xmlns:a="http://schemas.openxmlformats.org/drawingml/2006/main">
              <a:ext uri="{FF2B5EF4-FFF2-40B4-BE49-F238E27FC236}">
                <a16:creationId xmlns:a16="http://schemas.microsoft.com/office/drawing/2014/main" id="{189B369A-00CE-4E82-B490-CC3ABD6479D4}"/>
              </a:ext>
            </a:extLst>
          </p:cNvPr>
          <p:cNvSpPr>
            <a:spLocks xmlns:a="http://schemas.openxmlformats.org/drawingml/2006/main" noGrp="1"/>
          </p:cNvSpPr>
          <p:nvPr/>
        </p:nvSpPr>
        <p:spPr>
          <a:xfrm xmlns:a="http://schemas.openxmlformats.org/drawingml/2006/main">
            <a:off x="1571625" y="4572000"/>
            <a:ext cx="971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0">
                <a:solidFill>
                  <a:srgbClr val="146B5F"/>
                </a:solidFill>
                <a:latin typeface="Consolas"/>
                <a:ea typeface="Consolas"/>
                <a:cs typeface="Consolas"/>
              </a:defRPr>
            </a:defPPr>
          </a:lstStyle>
          <a:p xmlns:a="http://schemas.openxmlformats.org/drawingml/2006/main">
            <a:pPr>
              <a:defRPr sz="2550" b="0">
                <a:solidFill>
                  <a:srgbClr val="146B5F"/>
                </a:solidFill>
                <a:latin typeface="Consolas"/>
                <a:ea typeface="Consolas"/>
                <a:cs typeface="Consolas"/>
              </a:defRPr>
            </a:pPr>
            <a:r>
              <a:rPr sz="2550" b="0">
                <a:solidFill>
                  <a:srgbClr val="146B5F"/>
                </a:solidFill>
                <a:latin typeface="Consolas"/>
                <a:ea typeface="Consolas"/>
                <a:cs typeface="Consolas"/>
              </a:rPr>
              <a:t>python tools/dev.py demo</a:t>
            </a:r>
          </a:p>
        </p:txBody>
      </p:sp>
      <p:sp>
        <p:nvSpPr>
          <p:cNvPr id="10" name="text-10">
            <a:extLst xmlns:a="http://schemas.openxmlformats.org/drawingml/2006/main">
              <a:ext uri="{FF2B5EF4-FFF2-40B4-BE49-F238E27FC236}">
                <a16:creationId xmlns:a16="http://schemas.microsoft.com/office/drawing/2014/main" id="{056A85AF-9F07-4B2D-BFA1-DF505D6F6942}"/>
              </a:ext>
            </a:extLst>
          </p:cNvPr>
          <p:cNvSpPr>
            <a:spLocks xmlns:a="http://schemas.openxmlformats.org/drawingml/2006/main" noGrp="1"/>
          </p:cNvSpPr>
          <p:nvPr/>
        </p:nvSpPr>
        <p:spPr>
          <a:xfrm xmlns:a="http://schemas.openxmlformats.org/drawingml/2006/main">
            <a:off x="1571625" y="518160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Restore, replay and compare complete state</a:t>
            </a:r>
          </a:p>
        </p:txBody>
      </p:sp>
      <p:sp>
        <p:nvSpPr>
          <p:cNvPr id="11" name="text-11">
            <a:extLst xmlns:a="http://schemas.openxmlformats.org/drawingml/2006/main">
              <a:ext uri="{FF2B5EF4-FFF2-40B4-BE49-F238E27FC236}">
                <a16:creationId xmlns:a16="http://schemas.microsoft.com/office/drawing/2014/main" id="{EA29CE11-D151-4831-A07F-98A59C05E2C0}"/>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15 / 30     Guided route: python tools/present.py. The current product interface is terminal output.</a:t>
            </a:r>
          </a:p>
        </p:txBody>
      </p:sp>
    </p:spTree>
    <p:extLst>
      <p:ext uri="{BB962C8B-B14F-4D97-AF65-F5344CB8AC3E}">
        <p14:creationId xmlns:p14="http://schemas.microsoft.com/office/powerpoint/2010/main" val="1464101090"/>
      </p:ext>
    </p:extLst>
  </p:cSld>
</p:sld>
</file>

<file path=ppt/slides/slide16.xml><?xml version="1.0" encoding="utf-8"?>
<p:sld xmlns:p="http://schemas.openxmlformats.org/presentationml/2006/main">
  <p:cSld>
    <p:bg>
      <p:bgPr>
        <a:solidFill xmlns:a="http://schemas.openxmlformats.org/drawingml/2006/main">
          <a:srgbClr val="122632"/>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2F550BDF-0DE9-408A-A936-7C7E426C0A45}"/>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CFCF8"/>
                </a:solidFill>
                <a:latin typeface="Arial"/>
                <a:ea typeface="Arial"/>
                <a:cs typeface="Arial"/>
              </a:defRPr>
            </a:defPPr>
          </a:lstStyle>
          <a:p xmlns:a="http://schemas.openxmlformats.org/drawingml/2006/main">
            <a:pPr>
              <a:defRPr sz="3300" b="1">
                <a:solidFill>
                  <a:srgbClr val="FCFCF8"/>
                </a:solidFill>
                <a:latin typeface="Arial"/>
                <a:ea typeface="Arial"/>
                <a:cs typeface="Arial"/>
              </a:defRPr>
            </a:pPr>
            <a:r>
              <a:rPr sz="3300" b="1">
                <a:solidFill>
                  <a:srgbClr val="FCFCF8"/>
                </a:solidFill>
                <a:latin typeface="Arial"/>
                <a:ea typeface="Arial"/>
                <a:cs typeface="Arial"/>
              </a:rPr>
              <a:t>Kernel boot evidence</a:t>
            </a:r>
          </a:p>
        </p:txBody>
      </p:sp>
      <p:sp>
        <p:nvSpPr>
          <p:cNvPr id="2" name="text-2">
            <a:extLst xmlns:a="http://schemas.openxmlformats.org/drawingml/2006/main">
              <a:ext uri="{FF2B5EF4-FFF2-40B4-BE49-F238E27FC236}">
                <a16:creationId xmlns:a16="http://schemas.microsoft.com/office/drawing/2014/main" id="{E42F3D89-39B7-450F-9332-FB325727F8EB}"/>
              </a:ext>
            </a:extLst>
          </p:cNvPr>
          <p:cNvSpPr>
            <a:spLocks xmlns:a="http://schemas.openxmlformats.org/drawingml/2006/main" noGrp="1"/>
          </p:cNvSpPr>
          <p:nvPr/>
        </p:nvSpPr>
        <p:spPr>
          <a:xfrm xmlns:a="http://schemas.openxmlformats.org/drawingml/2006/main">
            <a:off x="609600" y="1771650"/>
            <a:ext cx="7686675" cy="429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B8D8C6"/>
                </a:solidFill>
                <a:latin typeface="Consolas"/>
                <a:ea typeface="Consolas"/>
                <a:cs typeface="Consolas"/>
              </a:defRPr>
            </a:defPPr>
          </a:lstStyle>
          <a:p xmlns:a="http://schemas.openxmlformats.org/drawingml/2006/main">
            <a:pPr>
              <a:defRPr sz="1875" b="0">
                <a:solidFill>
                  <a:srgbClr val="B8D8C6"/>
                </a:solidFill>
                <a:latin typeface="Consolas"/>
                <a:ea typeface="Consolas"/>
                <a:cs typeface="Consolas"/>
              </a:defRPr>
            </a:pPr>
            <a:r>
              <a:rPr sz="1875" b="0">
                <a:solidFill>
                  <a:srgbClr val="B8D8C6"/>
                </a:solidFill>
                <a:latin typeface="Consolas"/>
                <a:ea typeface="Consolas"/>
                <a:cs typeface="Consolas"/>
              </a:rPr>
              <a:t>{"event":"frames_ok","count":2}</a:t>
            </a:r>
          </a:p>
          <a:p xmlns:a="http://schemas.openxmlformats.org/drawingml/2006/main">
            <a:pPr>
              <a:defRPr sz="1875" b="0">
                <a:solidFill>
                  <a:srgbClr val="B8D8C6"/>
                </a:solidFill>
                <a:latin typeface="Consolas"/>
                <a:ea typeface="Consolas"/>
                <a:cs typeface="Consolas"/>
              </a:defRPr>
            </a:pPr>
            <a:r>
              <a:rPr sz="1875" b="0">
                <a:solidFill>
                  <a:srgbClr val="B8D8C6"/>
                </a:solidFill>
                <a:latin typeface="Consolas"/>
                <a:ea typeface="Consolas"/>
                <a:cs typeface="Consolas"/>
              </a:rPr>
              <a:t>{"event":"capabilities_ok"}</a:t>
            </a:r>
          </a:p>
          <a:p xmlns:a="http://schemas.openxmlformats.org/drawingml/2006/main">
            <a:pPr>
              <a:defRPr sz="1875" b="0">
                <a:solidFill>
                  <a:srgbClr val="B8D8C6"/>
                </a:solidFill>
                <a:latin typeface="Consolas"/>
                <a:ea typeface="Consolas"/>
                <a:cs typeface="Consolas"/>
              </a:defRPr>
            </a:pPr>
            <a:r>
              <a:rPr sz="1875" b="0">
                <a:solidFill>
                  <a:srgbClr val="B8D8C6"/>
                </a:solidFill>
                <a:latin typeface="Consolas"/>
                <a:ea typeface="Consolas"/>
                <a:cs typeface="Consolas"/>
              </a:rPr>
              <a:t>{"event":"paging_ok","fault_probes":3}</a:t>
            </a:r>
          </a:p>
          <a:p xmlns:a="http://schemas.openxmlformats.org/drawingml/2006/main">
            <a:pPr>
              <a:defRPr sz="1875" b="0">
                <a:solidFill>
                  <a:srgbClr val="B8D8C6"/>
                </a:solidFill>
                <a:latin typeface="Consolas"/>
                <a:ea typeface="Consolas"/>
                <a:cs typeface="Consolas"/>
              </a:defRPr>
            </a:pPr>
            <a:r>
              <a:rPr sz="1875" b="0">
                <a:solidFill>
                  <a:srgbClr val="B8D8C6"/>
                </a:solidFill>
                <a:latin typeface="Consolas"/>
                <a:ea typeface="Consolas"/>
                <a:cs typeface="Consolas"/>
              </a:rPr>
              <a:t>{"event":"exception_ok","vector":3}</a:t>
            </a:r>
          </a:p>
          <a:p xmlns:a="http://schemas.openxmlformats.org/drawingml/2006/main">
            <a:pPr>
              <a:defRPr sz="1875" b="0">
                <a:solidFill>
                  <a:srgbClr val="B8D8C6"/>
                </a:solidFill>
                <a:latin typeface="Consolas"/>
                <a:ea typeface="Consolas"/>
                <a:cs typeface="Consolas"/>
              </a:defRPr>
            </a:pPr>
            <a:r>
              <a:rPr sz="1875" b="0">
                <a:solidFill>
                  <a:srgbClr val="B8D8C6"/>
                </a:solidFill>
                <a:latin typeface="Consolas"/>
                <a:ea typeface="Consolas"/>
                <a:cs typeface="Consolas"/>
              </a:rPr>
              <a:t>{"event":"timer_ok","ticks":5}</a:t>
            </a:r>
          </a:p>
          <a:p xmlns:a="http://schemas.openxmlformats.org/drawingml/2006/main">
            <a:pPr>
              <a:defRPr sz="1875" b="0">
                <a:solidFill>
                  <a:srgbClr val="B8D8C6"/>
                </a:solidFill>
                <a:latin typeface="Consolas"/>
                <a:ea typeface="Consolas"/>
                <a:cs typeface="Consolas"/>
              </a:defRPr>
            </a:pPr>
            <a:r>
              <a:rPr sz="1875" b="0">
                <a:solidFill>
                  <a:srgbClr val="B8D8C6"/>
                </a:solidFill>
                <a:latin typeface="Consolas"/>
                <a:ea typeface="Consolas"/>
                <a:cs typeface="Consolas"/>
              </a:rPr>
              <a:t>{"event":"boot_ok"}</a:t>
            </a:r>
          </a:p>
        </p:txBody>
      </p:sp>
      <p:sp>
        <p:nvSpPr>
          <p:cNvPr id="3" name="text-3">
            <a:extLst xmlns:a="http://schemas.openxmlformats.org/drawingml/2006/main">
              <a:ext uri="{FF2B5EF4-FFF2-40B4-BE49-F238E27FC236}">
                <a16:creationId xmlns:a16="http://schemas.microsoft.com/office/drawing/2014/main" id="{84789A3B-2F6F-4D1D-93F4-33E3900C412D}"/>
              </a:ext>
            </a:extLst>
          </p:cNvPr>
          <p:cNvSpPr>
            <a:spLocks xmlns:a="http://schemas.openxmlformats.org/drawingml/2006/main" noGrp="1"/>
          </p:cNvSpPr>
          <p:nvPr/>
        </p:nvSpPr>
        <p:spPr>
          <a:xfrm xmlns:a="http://schemas.openxmlformats.org/drawingml/2006/main">
            <a:off x="8648700" y="1800225"/>
            <a:ext cx="2905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FCFCF8"/>
                </a:solidFill>
                <a:latin typeface="Arial"/>
                <a:ea typeface="Arial"/>
                <a:cs typeface="Arial"/>
              </a:defRPr>
            </a:defPPr>
          </a:lstStyle>
          <a:p xmlns:a="http://schemas.openxmlformats.org/drawingml/2006/main">
            <a:pPr>
              <a:defRPr sz="2025" b="1">
                <a:solidFill>
                  <a:srgbClr val="FCFCF8"/>
                </a:solidFill>
                <a:latin typeface="Arial"/>
                <a:ea typeface="Arial"/>
                <a:cs typeface="Arial"/>
              </a:defRPr>
            </a:pPr>
            <a:r>
              <a:rPr sz="2025" b="1">
                <a:solidFill>
                  <a:srgbClr val="FCFCF8"/>
                </a:solidFill>
                <a:latin typeface="Arial"/>
                <a:ea typeface="Arial"/>
                <a:cs typeface="Arial"/>
              </a:rPr>
              <a:t>What the events establish</a:t>
            </a:r>
          </a:p>
        </p:txBody>
      </p:sp>
      <p:sp>
        <p:nvSpPr>
          <p:cNvPr id="4" name="text-4">
            <a:extLst xmlns:a="http://schemas.openxmlformats.org/drawingml/2006/main">
              <a:ext uri="{FF2B5EF4-FFF2-40B4-BE49-F238E27FC236}">
                <a16:creationId xmlns:a16="http://schemas.microsoft.com/office/drawing/2014/main" id="{71EE1D27-F2D1-4EA4-9F3C-09A6D2CCAE9A}"/>
              </a:ext>
            </a:extLst>
          </p:cNvPr>
          <p:cNvSpPr>
            <a:spLocks xmlns:a="http://schemas.openxmlformats.org/drawingml/2006/main" noGrp="1"/>
          </p:cNvSpPr>
          <p:nvPr/>
        </p:nvSpPr>
        <p:spPr>
          <a:xfrm xmlns:a="http://schemas.openxmlformats.org/drawingml/2006/main">
            <a:off x="8648700" y="2676525"/>
            <a:ext cx="29051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CFCF8"/>
                </a:solidFill>
                <a:latin typeface="Arial"/>
                <a:ea typeface="Arial"/>
                <a:cs typeface="Arial"/>
              </a:defRPr>
            </a:defPPr>
          </a:lstStyle>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Usable frames</a:t>
            </a:r>
          </a:p>
          <a:p xmlns:a="http://schemas.openxmlformats.org/drawingml/2006/main">
            <a:r>
              <a:t/>
            </a:r>
          </a:p>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Capability table behavior</a:t>
            </a:r>
          </a:p>
          <a:p xmlns:a="http://schemas.openxmlformats.org/drawingml/2006/main">
            <a:r>
              <a:t/>
            </a:r>
          </a:p>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CPU protection faults</a:t>
            </a:r>
          </a:p>
          <a:p xmlns:a="http://schemas.openxmlformats.org/drawingml/2006/main">
            <a:r>
              <a:t/>
            </a:r>
          </a:p>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Exception and timer delivery</a:t>
            </a:r>
          </a:p>
        </p:txBody>
      </p:sp>
      <p:sp>
        <p:nvSpPr>
          <p:cNvPr id="5" name="text-5">
            <a:extLst xmlns:a="http://schemas.openxmlformats.org/drawingml/2006/main">
              <a:ext uri="{FF2B5EF4-FFF2-40B4-BE49-F238E27FC236}">
                <a16:creationId xmlns:a16="http://schemas.microsoft.com/office/drawing/2014/main" id="{A3254ED1-0818-461E-BA5B-B612C2259744}"/>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B8D8C6"/>
                </a:solidFill>
                <a:latin typeface="Arial"/>
                <a:ea typeface="Arial"/>
                <a:cs typeface="Arial"/>
              </a:defRPr>
            </a:defPPr>
          </a:lstStyle>
          <a:p xmlns:a="http://schemas.openxmlformats.org/drawingml/2006/main">
            <a:pPr>
              <a:defRPr sz="1200" b="0">
                <a:solidFill>
                  <a:srgbClr val="B8D8C6"/>
                </a:solidFill>
                <a:latin typeface="Arial"/>
                <a:ea typeface="Arial"/>
                <a:cs typeface="Arial"/>
              </a:defRPr>
            </a:pPr>
            <a:r>
              <a:rPr sz="1200" b="0">
                <a:solidFill>
                  <a:srgbClr val="B8D8C6"/>
                </a:solidFill>
                <a:latin typeface="Arial"/>
                <a:ea typeface="Arial"/>
                <a:cs typeface="Arial"/>
              </a:rPr>
              <a:t>16 / 30     Excerpt from the saved serial log. Full log: presentation/evidence/boot.log.</a:t>
            </a:r>
          </a:p>
        </p:txBody>
      </p:sp>
    </p:spTree>
    <p:extLst>
      <p:ext uri="{BB962C8B-B14F-4D97-AF65-F5344CB8AC3E}">
        <p14:creationId xmlns:p14="http://schemas.microsoft.com/office/powerpoint/2010/main" val="1883838282"/>
      </p:ext>
    </p:extLst>
  </p:cSld>
</p:sld>
</file>

<file path=ppt/slides/slide17.xml><?xml version="1.0" encoding="utf-8"?>
<p:sld xmlns:p="http://schemas.openxmlformats.org/presentationml/2006/main">
  <p:cSld>
    <p:bg>
      <p:bgPr>
        <a:solidFill xmlns:a="http://schemas.openxmlformats.org/drawingml/2006/main">
          <a:srgbClr val="122632"/>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3D9A4583-D1B0-47D6-AB53-74A8B322820C}"/>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CFCF8"/>
                </a:solidFill>
                <a:latin typeface="Arial"/>
                <a:ea typeface="Arial"/>
                <a:cs typeface="Arial"/>
              </a:defRPr>
            </a:defPPr>
          </a:lstStyle>
          <a:p xmlns:a="http://schemas.openxmlformats.org/drawingml/2006/main">
            <a:pPr>
              <a:defRPr sz="3300" b="1">
                <a:solidFill>
                  <a:srgbClr val="FCFCF8"/>
                </a:solidFill>
                <a:latin typeface="Arial"/>
                <a:ea typeface="Arial"/>
                <a:cs typeface="Arial"/>
              </a:defRPr>
            </a:pPr>
            <a:r>
              <a:rPr sz="3300" b="1">
                <a:solidFill>
                  <a:srgbClr val="FCFCF8"/>
                </a:solidFill>
                <a:latin typeface="Arial"/>
                <a:ea typeface="Arial"/>
                <a:cs typeface="Arial"/>
              </a:rPr>
              <a:t>Replay reaches the same fixture state</a:t>
            </a:r>
          </a:p>
        </p:txBody>
      </p:sp>
      <p:sp>
        <p:nvSpPr>
          <p:cNvPr id="2" name="text-2">
            <a:extLst xmlns:a="http://schemas.openxmlformats.org/drawingml/2006/main">
              <a:ext uri="{FF2B5EF4-FFF2-40B4-BE49-F238E27FC236}">
                <a16:creationId xmlns:a16="http://schemas.microsoft.com/office/drawing/2014/main" id="{3F0D1F52-5647-4B58-9EAD-99DEA44CDC05}"/>
              </a:ext>
            </a:extLst>
          </p:cNvPr>
          <p:cNvSpPr>
            <a:spLocks xmlns:a="http://schemas.openxmlformats.org/drawingml/2006/main" noGrp="1"/>
          </p:cNvSpPr>
          <p:nvPr/>
        </p:nvSpPr>
        <p:spPr>
          <a:xfrm xmlns:a="http://schemas.openxmlformats.org/drawingml/2006/main">
            <a:off x="609600" y="1562100"/>
            <a:ext cx="3524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B8D8C6"/>
                </a:solidFill>
                <a:latin typeface="Arial"/>
                <a:ea typeface="Arial"/>
                <a:cs typeface="Arial"/>
              </a:defRPr>
            </a:defPPr>
          </a:lstStyle>
          <a:p xmlns:a="http://schemas.openxmlformats.org/drawingml/2006/main">
            <a:pPr>
              <a:defRPr sz="4125" b="1">
                <a:solidFill>
                  <a:srgbClr val="B8D8C6"/>
                </a:solidFill>
                <a:latin typeface="Arial"/>
                <a:ea typeface="Arial"/>
                <a:cs typeface="Arial"/>
              </a:defRPr>
            </a:pPr>
            <a:r>
              <a:rPr sz="4125" b="1">
                <a:solidFill>
                  <a:srgbClr val="B8D8C6"/>
                </a:solidFill>
                <a:latin typeface="Arial"/>
                <a:ea typeface="Arial"/>
                <a:cs typeface="Arial"/>
              </a:rPr>
              <a:t>12</a:t>
            </a:r>
          </a:p>
        </p:txBody>
      </p:sp>
      <p:sp>
        <p:nvSpPr>
          <p:cNvPr id="3" name="text-3">
            <a:extLst xmlns:a="http://schemas.openxmlformats.org/drawingml/2006/main">
              <a:ext uri="{FF2B5EF4-FFF2-40B4-BE49-F238E27FC236}">
                <a16:creationId xmlns:a16="http://schemas.microsoft.com/office/drawing/2014/main" id="{1A5FA135-4C88-4400-B810-F53549A0CA65}"/>
              </a:ext>
            </a:extLst>
          </p:cNvPr>
          <p:cNvSpPr>
            <a:spLocks xmlns:a="http://schemas.openxmlformats.org/drawingml/2006/main" noGrp="1"/>
          </p:cNvSpPr>
          <p:nvPr/>
        </p:nvSpPr>
        <p:spPr>
          <a:xfrm xmlns:a="http://schemas.openxmlformats.org/drawingml/2006/main">
            <a:off x="609600" y="23907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CFCF8"/>
                </a:solidFill>
                <a:latin typeface="Arial"/>
                <a:ea typeface="Arial"/>
                <a:cs typeface="Arial"/>
              </a:defRPr>
            </a:defPPr>
          </a:lstStyle>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requests</a:t>
            </a:r>
          </a:p>
        </p:txBody>
      </p:sp>
      <p:sp>
        <p:nvSpPr>
          <p:cNvPr id="4" name="text-4">
            <a:extLst xmlns:a="http://schemas.openxmlformats.org/drawingml/2006/main">
              <a:ext uri="{FF2B5EF4-FFF2-40B4-BE49-F238E27FC236}">
                <a16:creationId xmlns:a16="http://schemas.microsoft.com/office/drawing/2014/main" id="{0FE7FB4A-E8DC-48AB-AEAC-B4B93D28B0C1}"/>
              </a:ext>
            </a:extLst>
          </p:cNvPr>
          <p:cNvSpPr>
            <a:spLocks xmlns:a="http://schemas.openxmlformats.org/drawingml/2006/main" noGrp="1"/>
          </p:cNvSpPr>
          <p:nvPr/>
        </p:nvSpPr>
        <p:spPr>
          <a:xfrm xmlns:a="http://schemas.openxmlformats.org/drawingml/2006/main">
            <a:off x="4343400" y="1562100"/>
            <a:ext cx="3524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B8D8C6"/>
                </a:solidFill>
                <a:latin typeface="Arial"/>
                <a:ea typeface="Arial"/>
                <a:cs typeface="Arial"/>
              </a:defRPr>
            </a:defPPr>
          </a:lstStyle>
          <a:p xmlns:a="http://schemas.openxmlformats.org/drawingml/2006/main">
            <a:pPr>
              <a:defRPr sz="4125" b="1">
                <a:solidFill>
                  <a:srgbClr val="B8D8C6"/>
                </a:solidFill>
                <a:latin typeface="Arial"/>
                <a:ea typeface="Arial"/>
                <a:cs typeface="Arial"/>
              </a:defRPr>
            </a:pPr>
            <a:r>
              <a:rPr sz="4125" b="1">
                <a:solidFill>
                  <a:srgbClr val="B8D8C6"/>
                </a:solidFill>
                <a:latin typeface="Arial"/>
                <a:ea typeface="Arial"/>
                <a:cs typeface="Arial"/>
              </a:rPr>
              <a:t>60</a:t>
            </a:r>
          </a:p>
        </p:txBody>
      </p:sp>
      <p:sp>
        <p:nvSpPr>
          <p:cNvPr id="5" name="text-5">
            <a:extLst xmlns:a="http://schemas.openxmlformats.org/drawingml/2006/main">
              <a:ext uri="{FF2B5EF4-FFF2-40B4-BE49-F238E27FC236}">
                <a16:creationId xmlns:a16="http://schemas.microsoft.com/office/drawing/2014/main" id="{C438C1E3-02C8-4F66-A59B-0F57D5AA7D72}"/>
              </a:ext>
            </a:extLst>
          </p:cNvPr>
          <p:cNvSpPr>
            <a:spLocks xmlns:a="http://schemas.openxmlformats.org/drawingml/2006/main" noGrp="1"/>
          </p:cNvSpPr>
          <p:nvPr/>
        </p:nvSpPr>
        <p:spPr>
          <a:xfrm xmlns:a="http://schemas.openxmlformats.org/drawingml/2006/main">
            <a:off x="4343400" y="23907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CFCF8"/>
                </a:solidFill>
                <a:latin typeface="Arial"/>
                <a:ea typeface="Arial"/>
                <a:cs typeface="Arial"/>
              </a:defRPr>
            </a:defPPr>
          </a:lstStyle>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events</a:t>
            </a:r>
          </a:p>
        </p:txBody>
      </p:sp>
      <p:sp>
        <p:nvSpPr>
          <p:cNvPr id="6" name="text-6">
            <a:extLst xmlns:a="http://schemas.openxmlformats.org/drawingml/2006/main">
              <a:ext uri="{FF2B5EF4-FFF2-40B4-BE49-F238E27FC236}">
                <a16:creationId xmlns:a16="http://schemas.microsoft.com/office/drawing/2014/main" id="{1B799215-B0D4-467B-BC7B-C9432D0A60E5}"/>
              </a:ext>
            </a:extLst>
          </p:cNvPr>
          <p:cNvSpPr>
            <a:spLocks xmlns:a="http://schemas.openxmlformats.org/drawingml/2006/main" noGrp="1"/>
          </p:cNvSpPr>
          <p:nvPr/>
        </p:nvSpPr>
        <p:spPr>
          <a:xfrm xmlns:a="http://schemas.openxmlformats.org/drawingml/2006/main">
            <a:off x="8077200" y="1562100"/>
            <a:ext cx="3524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B8D8C6"/>
                </a:solidFill>
                <a:latin typeface="Arial"/>
                <a:ea typeface="Arial"/>
                <a:cs typeface="Arial"/>
              </a:defRPr>
            </a:defPPr>
          </a:lstStyle>
          <a:p xmlns:a="http://schemas.openxmlformats.org/drawingml/2006/main">
            <a:pPr>
              <a:defRPr sz="4125" b="1">
                <a:solidFill>
                  <a:srgbClr val="B8D8C6"/>
                </a:solidFill>
                <a:latin typeface="Arial"/>
                <a:ea typeface="Arial"/>
                <a:cs typeface="Arial"/>
              </a:defRPr>
            </a:pPr>
            <a:r>
              <a:rPr sz="4125" b="1">
                <a:solidFill>
                  <a:srgbClr val="B8D8C6"/>
                </a:solidFill>
                <a:latin typeface="Arial"/>
                <a:ea typeface="Arial"/>
                <a:cs typeface="Arial"/>
              </a:rPr>
              <a:t>65,544 B</a:t>
            </a:r>
          </a:p>
        </p:txBody>
      </p:sp>
      <p:sp>
        <p:nvSpPr>
          <p:cNvPr id="7" name="text-7">
            <a:extLst xmlns:a="http://schemas.openxmlformats.org/drawingml/2006/main">
              <a:ext uri="{FF2B5EF4-FFF2-40B4-BE49-F238E27FC236}">
                <a16:creationId xmlns:a16="http://schemas.microsoft.com/office/drawing/2014/main" id="{E479BD03-EC8C-4C8C-B914-325F3140BCC6}"/>
              </a:ext>
            </a:extLst>
          </p:cNvPr>
          <p:cNvSpPr>
            <a:spLocks xmlns:a="http://schemas.openxmlformats.org/drawingml/2006/main" noGrp="1"/>
          </p:cNvSpPr>
          <p:nvPr/>
        </p:nvSpPr>
        <p:spPr>
          <a:xfrm xmlns:a="http://schemas.openxmlformats.org/drawingml/2006/main">
            <a:off x="8077200" y="2390775"/>
            <a:ext cx="333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CFCF8"/>
                </a:solidFill>
                <a:latin typeface="Arial"/>
                <a:ea typeface="Arial"/>
                <a:cs typeface="Arial"/>
              </a:defRPr>
            </a:defPPr>
          </a:lstStyle>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mutable state</a:t>
            </a:r>
          </a:p>
        </p:txBody>
      </p:sp>
      <p:sp>
        <p:nvSpPr>
          <p:cNvPr id="8" name="text-8">
            <a:extLst xmlns:a="http://schemas.openxmlformats.org/drawingml/2006/main">
              <a:ext uri="{FF2B5EF4-FFF2-40B4-BE49-F238E27FC236}">
                <a16:creationId xmlns:a16="http://schemas.microsoft.com/office/drawing/2014/main" id="{2AABBACA-A40D-4030-936A-8317CA5B150E}"/>
              </a:ext>
            </a:extLst>
          </p:cNvPr>
          <p:cNvSpPr>
            <a:spLocks xmlns:a="http://schemas.openxmlformats.org/drawingml/2006/main" noGrp="1"/>
          </p:cNvSpPr>
          <p:nvPr/>
        </p:nvSpPr>
        <p:spPr>
          <a:xfrm xmlns:a="http://schemas.openxmlformats.org/drawingml/2006/main">
            <a:off x="609600" y="31718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8D8C6"/>
                </a:solidFill>
                <a:latin typeface="Arial"/>
                <a:ea typeface="Arial"/>
                <a:cs typeface="Arial"/>
              </a:defRPr>
            </a:defPPr>
          </a:lstStyle>
          <a:p xmlns:a="http://schemas.openxmlformats.org/drawingml/2006/main">
            <a:pPr>
              <a:defRPr sz="1725" b="0">
                <a:solidFill>
                  <a:srgbClr val="B8D8C6"/>
                </a:solidFill>
                <a:latin typeface="Arial"/>
                <a:ea typeface="Arial"/>
                <a:cs typeface="Arial"/>
              </a:defRPr>
            </a:pPr>
            <a:r>
              <a:rPr sz="1725" b="0">
                <a:solidFill>
                  <a:srgbClr val="B8D8C6"/>
                </a:solidFill>
                <a:latin typeface="Arial"/>
                <a:ea typeface="Arial"/>
                <a:cs typeface="Arial"/>
              </a:rPr>
              <a:t>Final state SHA-256</a:t>
            </a:r>
          </a:p>
        </p:txBody>
      </p:sp>
      <p:sp>
        <p:nvSpPr>
          <p:cNvPr id="9" name="text-9">
            <a:extLst xmlns:a="http://schemas.openxmlformats.org/drawingml/2006/main">
              <a:ext uri="{FF2B5EF4-FFF2-40B4-BE49-F238E27FC236}">
                <a16:creationId xmlns:a16="http://schemas.microsoft.com/office/drawing/2014/main" id="{F815FA0B-4A11-4593-92D4-07D4220701FB}"/>
              </a:ext>
            </a:extLst>
          </p:cNvPr>
          <p:cNvSpPr>
            <a:spLocks xmlns:a="http://schemas.openxmlformats.org/drawingml/2006/main" noGrp="1"/>
          </p:cNvSpPr>
          <p:nvPr/>
        </p:nvSpPr>
        <p:spPr>
          <a:xfrm xmlns:a="http://schemas.openxmlformats.org/drawingml/2006/main">
            <a:off x="609600" y="35623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CFCF8"/>
                </a:solidFill>
                <a:latin typeface="Consolas"/>
                <a:ea typeface="Consolas"/>
                <a:cs typeface="Consolas"/>
              </a:defRPr>
            </a:defPPr>
          </a:lstStyle>
          <a:p xmlns:a="http://schemas.openxmlformats.org/drawingml/2006/main">
            <a:pPr>
              <a:defRPr sz="1800" b="0">
                <a:solidFill>
                  <a:srgbClr val="FCFCF8"/>
                </a:solidFill>
                <a:latin typeface="Consolas"/>
                <a:ea typeface="Consolas"/>
                <a:cs typeface="Consolas"/>
              </a:defRPr>
            </a:pPr>
            <a:r>
              <a:rPr sz="1800" b="0">
                <a:solidFill>
                  <a:srgbClr val="FCFCF8"/>
                </a:solidFill>
                <a:latin typeface="Consolas"/>
                <a:ea typeface="Consolas"/>
                <a:cs typeface="Consolas"/>
              </a:rPr>
              <a:t>30097fe2565ba3716a1aa8c0699c8614caa27b9ca0edcc493a4d60b790a2da11</a:t>
            </a:r>
          </a:p>
        </p:txBody>
      </p:sp>
      <p:sp>
        <p:nvSpPr>
          <p:cNvPr id="10" name="text-10">
            <a:extLst xmlns:a="http://schemas.openxmlformats.org/drawingml/2006/main">
              <a:ext uri="{FF2B5EF4-FFF2-40B4-BE49-F238E27FC236}">
                <a16:creationId xmlns:a16="http://schemas.microsoft.com/office/drawing/2014/main" id="{6D10B509-5598-4384-B310-3C3D54A9E45F}"/>
              </a:ext>
            </a:extLst>
          </p:cNvPr>
          <p:cNvSpPr>
            <a:spLocks xmlns:a="http://schemas.openxmlformats.org/drawingml/2006/main" noGrp="1"/>
          </p:cNvSpPr>
          <p:nvPr/>
        </p:nvSpPr>
        <p:spPr>
          <a:xfrm xmlns:a="http://schemas.openxmlformats.org/drawingml/2006/main">
            <a:off x="609600" y="41243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8D8C6"/>
                </a:solidFill>
                <a:latin typeface="Arial"/>
                <a:ea typeface="Arial"/>
                <a:cs typeface="Arial"/>
              </a:defRPr>
            </a:defPPr>
          </a:lstStyle>
          <a:p xmlns:a="http://schemas.openxmlformats.org/drawingml/2006/main">
            <a:pPr>
              <a:defRPr sz="1725" b="0">
                <a:solidFill>
                  <a:srgbClr val="B8D8C6"/>
                </a:solidFill>
                <a:latin typeface="Arial"/>
                <a:ea typeface="Arial"/>
                <a:cs typeface="Arial"/>
              </a:defRPr>
            </a:pPr>
            <a:r>
              <a:rPr sz="1725" b="0">
                <a:solidFill>
                  <a:srgbClr val="B8D8C6"/>
                </a:solidFill>
                <a:latin typeface="Arial"/>
                <a:ea typeface="Arial"/>
                <a:cs typeface="Arial"/>
              </a:rPr>
              <a:t>Restored and replayed SHA-256</a:t>
            </a:r>
          </a:p>
        </p:txBody>
      </p:sp>
      <p:sp>
        <p:nvSpPr>
          <p:cNvPr id="11" name="text-11">
            <a:extLst xmlns:a="http://schemas.openxmlformats.org/drawingml/2006/main">
              <a:ext uri="{FF2B5EF4-FFF2-40B4-BE49-F238E27FC236}">
                <a16:creationId xmlns:a16="http://schemas.microsoft.com/office/drawing/2014/main" id="{9036DF8A-8DB6-4DCE-95A9-34C3056EC806}"/>
              </a:ext>
            </a:extLst>
          </p:cNvPr>
          <p:cNvSpPr>
            <a:spLocks xmlns:a="http://schemas.openxmlformats.org/drawingml/2006/main" noGrp="1"/>
          </p:cNvSpPr>
          <p:nvPr/>
        </p:nvSpPr>
        <p:spPr>
          <a:xfrm xmlns:a="http://schemas.openxmlformats.org/drawingml/2006/main">
            <a:off x="609600" y="45148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FCFCF8"/>
                </a:solidFill>
                <a:latin typeface="Consolas"/>
                <a:ea typeface="Consolas"/>
                <a:cs typeface="Consolas"/>
              </a:defRPr>
            </a:defPPr>
          </a:lstStyle>
          <a:p xmlns:a="http://schemas.openxmlformats.org/drawingml/2006/main">
            <a:pPr>
              <a:defRPr sz="1800" b="0">
                <a:solidFill>
                  <a:srgbClr val="FCFCF8"/>
                </a:solidFill>
                <a:latin typeface="Consolas"/>
                <a:ea typeface="Consolas"/>
                <a:cs typeface="Consolas"/>
              </a:defRPr>
            </a:pPr>
            <a:r>
              <a:rPr sz="1800" b="0">
                <a:solidFill>
                  <a:srgbClr val="FCFCF8"/>
                </a:solidFill>
                <a:latin typeface="Consolas"/>
                <a:ea typeface="Consolas"/>
                <a:cs typeface="Consolas"/>
              </a:rPr>
              <a:t>30097fe2565ba3716a1aa8c0699c8614caa27b9ca0edcc493a4d60b790a2da11</a:t>
            </a:r>
          </a:p>
        </p:txBody>
      </p:sp>
      <p:sp>
        <p:nvSpPr>
          <p:cNvPr id="12" name="text-12">
            <a:extLst xmlns:a="http://schemas.openxmlformats.org/drawingml/2006/main">
              <a:ext uri="{FF2B5EF4-FFF2-40B4-BE49-F238E27FC236}">
                <a16:creationId xmlns:a16="http://schemas.microsoft.com/office/drawing/2014/main" id="{5253E2C1-1EFC-4C8C-8114-AA7405FD8D89}"/>
              </a:ext>
            </a:extLst>
          </p:cNvPr>
          <p:cNvSpPr>
            <a:spLocks xmlns:a="http://schemas.openxmlformats.org/drawingml/2006/main" noGrp="1"/>
          </p:cNvSpPr>
          <p:nvPr/>
        </p:nvSpPr>
        <p:spPr>
          <a:xfrm xmlns:a="http://schemas.openxmlformats.org/drawingml/2006/main">
            <a:off x="609600" y="52959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CFCF8"/>
                </a:solidFill>
                <a:latin typeface="Arial"/>
                <a:ea typeface="Arial"/>
                <a:cs typeface="Arial"/>
              </a:defRPr>
            </a:defPPr>
          </a:lstStyle>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State equal: true    Effects equal: true</a:t>
            </a:r>
          </a:p>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Missing, reordered and extra events: rejected</a:t>
            </a:r>
          </a:p>
          <a:p xmlns:a="http://schemas.openxmlformats.org/drawingml/2006/main">
            <a:pPr>
              <a:defRPr sz="1875" b="0">
                <a:solidFill>
                  <a:srgbClr val="FCFCF8"/>
                </a:solidFill>
                <a:latin typeface="Arial"/>
                <a:ea typeface="Arial"/>
                <a:cs typeface="Arial"/>
              </a:defRPr>
            </a:pPr>
            <a:r>
              <a:rPr sz="1875" b="0">
                <a:solidFill>
                  <a:srgbClr val="FCFCF8"/>
                </a:solidFill>
                <a:latin typeface="Arial"/>
                <a:ea typeface="Arial"/>
                <a:cs typeface="Arial"/>
              </a:rPr>
              <a:t>Corrupted checkpoint: rejected</a:t>
            </a:r>
          </a:p>
        </p:txBody>
      </p:sp>
      <p:sp>
        <p:nvSpPr>
          <p:cNvPr id="13" name="text-13">
            <a:extLst xmlns:a="http://schemas.openxmlformats.org/drawingml/2006/main">
              <a:ext uri="{FF2B5EF4-FFF2-40B4-BE49-F238E27FC236}">
                <a16:creationId xmlns:a16="http://schemas.microsoft.com/office/drawing/2014/main" id="{75B2E277-6D00-49CF-A684-D672656A66C8}"/>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B8D8C6"/>
                </a:solidFill>
                <a:latin typeface="Arial"/>
                <a:ea typeface="Arial"/>
                <a:cs typeface="Arial"/>
              </a:defRPr>
            </a:defPPr>
          </a:lstStyle>
          <a:p xmlns:a="http://schemas.openxmlformats.org/drawingml/2006/main">
            <a:pPr>
              <a:defRPr sz="1200" b="0">
                <a:solidFill>
                  <a:srgbClr val="B8D8C6"/>
                </a:solidFill>
                <a:latin typeface="Arial"/>
                <a:ea typeface="Arial"/>
                <a:cs typeface="Arial"/>
              </a:defRPr>
            </a:pPr>
            <a:r>
              <a:rPr sz="1200" b="0">
                <a:solidFill>
                  <a:srgbClr val="B8D8C6"/>
                </a:solidFill>
                <a:latin typeface="Arial"/>
                <a:ea typeface="Arial"/>
                <a:cs typeface="Arial"/>
              </a:rPr>
              <a:t>17 / 30     Actual host experiment result. Checkpoint metadata is additional to the mutable-state payload.</a:t>
            </a:r>
          </a:p>
        </p:txBody>
      </p:sp>
    </p:spTree>
    <p:extLst>
      <p:ext uri="{BB962C8B-B14F-4D97-AF65-F5344CB8AC3E}">
        <p14:creationId xmlns:p14="http://schemas.microsoft.com/office/powerpoint/2010/main" val="776064528"/>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FEB92469-5804-4F43-8A7C-6BE8AACD9806}"/>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Reuse and research foundations</a:t>
            </a:r>
          </a:p>
        </p:txBody>
      </p:sp>
      <p:graphicFrame>
        <p:nvGraphicFramePr>
          <p:cNvPr id="2" name="">
            <a:extLst xmlns:a="http://schemas.openxmlformats.org/drawingml/2006/main">
              <a:ext uri="{FF2B5EF4-FFF2-40B4-BE49-F238E27FC236}">
                <a16:creationId xmlns:a16="http://schemas.microsoft.com/office/drawing/2014/main" id="{64BE9331-FF31-4EF2-981B-86EAA646CC38}"/>
              </a:ext>
            </a:extLst>
          </p:cNvPr>
          <p:cNvGraphicFramePr/>
          <p:nvPr/>
        </p:nvGraphicFramePr>
        <p:xfrm>
          <a:off xmlns:a="http://schemas.openxmlformats.org/drawingml/2006/main" x="609600" y="1685925"/>
          <a:ext xmlns:a="http://schemas.openxmlformats.org/drawingml/2006/main" cx="10972800" cy="4229100"/>
        </p:xfrm>
        <a:graphic xmlns:a="http://schemas.openxmlformats.org/drawingml/2006/main">
          <a:graphicData uri="http://schemas.openxmlformats.org/drawingml/2006/table">
            <a:tbl>
              <a:tblPr firstRow="1" bandRow="0"/>
              <a:tblGrid>
                <a:gridCol w="3619500"/>
                <a:gridCol w="7353300"/>
              </a:tblGrid>
              <a:tr h="457200">
                <a:tc>
                  <a:txBody>
                    <a:bodyPr/>
                    <a:lstStyle/>
                    <a:p>
                      <a:r>
                        <a:rPr sz="1725" b="1">
                          <a:solidFill>
                            <a:srgbClr val="FCFCF8"/>
                          </a:solidFill>
                          <a:latin typeface="Arial"/>
                          <a:ea typeface="Arial"/>
                          <a:cs typeface="Arial"/>
                        </a:rPr>
                        <a:t>Foundation</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Role in MnemosyneOS</a:t>
                      </a:r>
                    </a:p>
                  </a:txBody>
                  <a:tcPr marL="133350" marR="133350" marT="66675" marB="66675" anchor="ctr">
                    <a:solidFill>
                      <a:srgbClr val="122632"/>
                    </a:solidFill>
                  </a:tcPr>
                </a:tc>
              </a:tr>
              <a:tr h="628650">
                <a:tc>
                  <a:txBody>
                    <a:bodyPr/>
                    <a:lstStyle/>
                    <a:p>
                      <a:r>
                        <a:rPr sz="1875" b="1">
                          <a:solidFill>
                            <a:srgbClr val="122632"/>
                          </a:solidFill>
                          <a:latin typeface="Arial"/>
                          <a:ea typeface="Arial"/>
                          <a:cs typeface="Arial"/>
                        </a:rPr>
                        <a:t>Limine and Rust OSDev</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Reused boot, CPU, UART, interrupt and paging support</a:t>
                      </a:r>
                    </a:p>
                  </a:txBody>
                  <a:tcPr marL="133350" marR="133350" marT="66675" marB="66675" anchor="ctr">
                    <a:solidFill>
                      <a:srgbClr val="F6F4EE"/>
                    </a:solidFill>
                  </a:tcPr>
                </a:tc>
              </a:tr>
              <a:tr h="628650">
                <a:tc>
                  <a:txBody>
                    <a:bodyPr/>
                    <a:lstStyle/>
                    <a:p>
                      <a:r>
                        <a:rPr sz="1875" b="1">
                          <a:solidFill>
                            <a:srgbClr val="122632"/>
                          </a:solidFill>
                          <a:latin typeface="Arial"/>
                          <a:ea typeface="Arial"/>
                          <a:cs typeface="Arial"/>
                        </a:rPr>
                        <a:t>Wasmi and wasm-tools</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Reused interpreter, validation, fuel and WAT compilation</a:t>
                      </a:r>
                    </a:p>
                  </a:txBody>
                  <a:tcPr marL="133350" marR="133350" marT="66675" marB="66675" anchor="ctr">
                    <a:solidFill>
                      <a:srgbClr val="E9EDE7"/>
                    </a:solidFill>
                  </a:tcPr>
                </a:tc>
              </a:tr>
              <a:tr h="628650">
                <a:tc>
                  <a:txBody>
                    <a:bodyPr/>
                    <a:lstStyle/>
                    <a:p>
                      <a:r>
                        <a:rPr sz="1875" b="1">
                          <a:solidFill>
                            <a:srgbClr val="122632"/>
                          </a:solidFill>
                          <a:latin typeface="Arial"/>
                          <a:ea typeface="Arial"/>
                          <a:cs typeface="Arial"/>
                        </a:rPr>
                        <a:t>seL4</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Reference for capability design and precise proof scope</a:t>
                      </a:r>
                    </a:p>
                  </a:txBody>
                  <a:tcPr marL="133350" marR="133350" marT="66675" marB="66675" anchor="ctr">
                    <a:solidFill>
                      <a:srgbClr val="F6F4EE"/>
                    </a:solidFill>
                  </a:tcPr>
                </a:tc>
              </a:tr>
              <a:tr h="628650">
                <a:tc>
                  <a:txBody>
                    <a:bodyPr/>
                    <a:lstStyle/>
                    <a:p>
                      <a:r>
                        <a:rPr sz="1875" b="1">
                          <a:solidFill>
                            <a:srgbClr val="122632"/>
                          </a:solidFill>
                          <a:latin typeface="Arial"/>
                          <a:ea typeface="Arial"/>
                          <a:cs typeface="Arial"/>
                        </a:rPr>
                        <a:t>Theseus</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Reference for component state ownership and recovery</a:t>
                      </a:r>
                    </a:p>
                  </a:txBody>
                  <a:tcPr marL="133350" marR="133350" marT="66675" marB="66675" anchor="ctr">
                    <a:solidFill>
                      <a:srgbClr val="E9EDE7"/>
                    </a:solidFill>
                  </a:tcPr>
                </a:tc>
              </a:tr>
              <a:tr h="628650">
                <a:tc>
                  <a:txBody>
                    <a:bodyPr/>
                    <a:lstStyle/>
                    <a:p>
                      <a:r>
                        <a:rPr sz="1875" b="1">
                          <a:solidFill>
                            <a:srgbClr val="122632"/>
                          </a:solidFill>
                          <a:latin typeface="Arial"/>
                          <a:ea typeface="Arial"/>
                          <a:cs typeface="Arial"/>
                        </a:rPr>
                        <a:t>RIFL and CrashMonkey</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References for effect handling and crash-test design</a:t>
                      </a:r>
                    </a:p>
                  </a:txBody>
                  <a:tcPr marL="133350" marR="133350" marT="66675" marB="66675" anchor="ctr">
                    <a:solidFill>
                      <a:srgbClr val="F6F4EE"/>
                    </a:solidFill>
                  </a:tcPr>
                </a:tc>
              </a:tr>
              <a:tr h="628650">
                <a:tc>
                  <a:txBody>
                    <a:bodyPr/>
                    <a:lstStyle/>
                    <a:p>
                      <a:r>
                        <a:rPr sz="1875" b="1">
                          <a:solidFill>
                            <a:srgbClr val="122632"/>
                          </a:solidFill>
                          <a:latin typeface="Arial"/>
                          <a:ea typeface="Arial"/>
                          <a:cs typeface="Arial"/>
                        </a:rPr>
                        <a:t>LLM-Modulo planning</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Reference for proposer/checker separation</a:t>
                      </a:r>
                    </a:p>
                  </a:txBody>
                  <a:tcPr marL="133350" marR="133350"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5FB10A8E-C35E-44F2-8C67-66C377A57403}"/>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18 / 30     Dependencies are pinned and attributed. Research references are not automatically vendored code.</a:t>
            </a:r>
          </a:p>
        </p:txBody>
      </p:sp>
    </p:spTree>
    <p:extLst>
      <p:ext uri="{BB962C8B-B14F-4D97-AF65-F5344CB8AC3E}">
        <p14:creationId xmlns:p14="http://schemas.microsoft.com/office/powerpoint/2010/main" val="1858721632"/>
      </p:ext>
    </p:extLst>
  </p:cSld>
</p:sld>
</file>

<file path=ppt/slides/slide1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5BF28C72-4940-4B6C-A248-E2946C39B12D}"/>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Evaluation plan</a:t>
            </a:r>
          </a:p>
        </p:txBody>
      </p:sp>
      <p:graphicFrame>
        <p:nvGraphicFramePr>
          <p:cNvPr id="2" name="">
            <a:extLst xmlns:a="http://schemas.openxmlformats.org/drawingml/2006/main">
              <a:ext uri="{FF2B5EF4-FFF2-40B4-BE49-F238E27FC236}">
                <a16:creationId xmlns:a16="http://schemas.microsoft.com/office/drawing/2014/main" id="{26707286-747A-4F90-AF9D-A091F7E91ABD}"/>
              </a:ext>
            </a:extLst>
          </p:cNvPr>
          <p:cNvGraphicFramePr/>
          <p:nvPr/>
        </p:nvGraphicFramePr>
        <p:xfrm>
          <a:off xmlns:a="http://schemas.openxmlformats.org/drawingml/2006/main" x="609600" y="1685925"/>
          <a:ext xmlns:a="http://schemas.openxmlformats.org/drawingml/2006/main" cx="10972800" cy="4229100"/>
        </p:xfrm>
        <a:graphic xmlns:a="http://schemas.openxmlformats.org/drawingml/2006/main">
          <a:graphicData uri="http://schemas.openxmlformats.org/drawingml/2006/table">
            <a:tbl>
              <a:tblPr firstRow="1" bandRow="0"/>
              <a:tblGrid>
                <a:gridCol w="3286125"/>
                <a:gridCol w="7686675"/>
              </a:tblGrid>
              <a:tr h="457200">
                <a:tc>
                  <a:txBody>
                    <a:bodyPr/>
                    <a:lstStyle/>
                    <a:p>
                      <a:r>
                        <a:rPr sz="1725" b="1">
                          <a:solidFill>
                            <a:srgbClr val="FCFCF8"/>
                          </a:solidFill>
                          <a:latin typeface="Arial"/>
                          <a:ea typeface="Arial"/>
                          <a:cs typeface="Arial"/>
                        </a:rPr>
                        <a:t>Measure</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Controlled experiment</a:t>
                      </a:r>
                    </a:p>
                  </a:txBody>
                  <a:tcPr marL="133350" marR="133350" marT="66675" marB="66675" anchor="ctr">
                    <a:solidFill>
                      <a:srgbClr val="122632"/>
                    </a:solidFill>
                  </a:tcPr>
                </a:tc>
              </a:tr>
              <a:tr h="628650">
                <a:tc>
                  <a:txBody>
                    <a:bodyPr/>
                    <a:lstStyle/>
                    <a:p>
                      <a:r>
                        <a:rPr sz="1875" b="1">
                          <a:solidFill>
                            <a:srgbClr val="122632"/>
                          </a:solidFill>
                          <a:latin typeface="Arial"/>
                          <a:ea typeface="Arial"/>
                          <a:cs typeface="Arial"/>
                        </a:rPr>
                        <a:t>IPC and capability cost</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Vary payload size, rights checks and table occupancy</a:t>
                      </a:r>
                    </a:p>
                  </a:txBody>
                  <a:tcPr marL="133350" marR="133350" marT="66675" marB="66675" anchor="ctr">
                    <a:solidFill>
                      <a:srgbClr val="F6F4EE"/>
                    </a:solidFill>
                  </a:tcPr>
                </a:tc>
              </a:tr>
              <a:tr h="628650">
                <a:tc>
                  <a:txBody>
                    <a:bodyPr/>
                    <a:lstStyle/>
                    <a:p>
                      <a:r>
                        <a:rPr sz="1875" b="1">
                          <a:solidFill>
                            <a:srgbClr val="122632"/>
                          </a:solidFill>
                          <a:latin typeface="Arial"/>
                          <a:ea typeface="Arial"/>
                          <a:cs typeface="Arial"/>
                        </a:rPr>
                        <a:t>Wasm performance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Run the same workload natively and in the interpreter</a:t>
                      </a:r>
                    </a:p>
                  </a:txBody>
                  <a:tcPr marL="133350" marR="133350" marT="66675" marB="66675" anchor="ctr">
                    <a:solidFill>
                      <a:srgbClr val="E9EDE7"/>
                    </a:solidFill>
                  </a:tcPr>
                </a:tc>
              </a:tr>
              <a:tr h="628650">
                <a:tc>
                  <a:txBody>
                    <a:bodyPr/>
                    <a:lstStyle/>
                    <a:p>
                      <a:r>
                        <a:rPr sz="1875" b="1">
                          <a:solidFill>
                            <a:srgbClr val="122632"/>
                          </a:solidFill>
                          <a:latin typeface="Arial"/>
                          <a:ea typeface="Arial"/>
                          <a:cs typeface="Arial"/>
                        </a:rPr>
                        <a:t>Checkpoint overhead</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Measure pause time, copied bytes and write amplification</a:t>
                      </a:r>
                    </a:p>
                  </a:txBody>
                  <a:tcPr marL="133350" marR="133350" marT="66675" marB="66675" anchor="ctr">
                    <a:solidFill>
                      <a:srgbClr val="F6F4EE"/>
                    </a:solidFill>
                  </a:tcPr>
                </a:tc>
              </a:tr>
              <a:tr h="628650">
                <a:tc>
                  <a:txBody>
                    <a:bodyPr/>
                    <a:lstStyle/>
                    <a:p>
                      <a:r>
                        <a:rPr sz="1875" b="1">
                          <a:solidFill>
                            <a:srgbClr val="122632"/>
                          </a:solidFill>
                          <a:latin typeface="Arial"/>
                          <a:ea typeface="Arial"/>
                          <a:cs typeface="Arial"/>
                        </a:rPr>
                        <a:t>Replay fidelity</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Compare state, replies and effect records after injected faults</a:t>
                      </a:r>
                    </a:p>
                  </a:txBody>
                  <a:tcPr marL="133350" marR="133350" marT="66675" marB="66675" anchor="ctr">
                    <a:solidFill>
                      <a:srgbClr val="E9EDE7"/>
                    </a:solidFill>
                  </a:tcPr>
                </a:tc>
              </a:tr>
              <a:tr h="628650">
                <a:tc>
                  <a:txBody>
                    <a:bodyPr/>
                    <a:lstStyle/>
                    <a:p>
                      <a:r>
                        <a:rPr sz="1875" b="1">
                          <a:solidFill>
                            <a:srgbClr val="122632"/>
                          </a:solidFill>
                          <a:latin typeface="Arial"/>
                          <a:ea typeface="Arial"/>
                          <a:cs typeface="Arial"/>
                        </a:rPr>
                        <a:t>Failure containment</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Track healthy-service progress while a peer fails</a:t>
                      </a:r>
                    </a:p>
                  </a:txBody>
                  <a:tcPr marL="133350" marR="133350" marT="66675" marB="66675" anchor="ctr">
                    <a:solidFill>
                      <a:srgbClr val="F6F4EE"/>
                    </a:solidFill>
                  </a:tcPr>
                </a:tc>
              </a:tr>
              <a:tr h="628650">
                <a:tc>
                  <a:txBody>
                    <a:bodyPr/>
                    <a:lstStyle/>
                    <a:p>
                      <a:r>
                        <a:rPr sz="1875" b="1">
                          <a:solidFill>
                            <a:srgbClr val="122632"/>
                          </a:solidFill>
                          <a:latin typeface="Arial"/>
                          <a:ea typeface="Arial"/>
                          <a:cs typeface="Arial"/>
                        </a:rPr>
                        <a:t>Recovery time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Compare restart, checkpoint restore, replay and checked plans</a:t>
                      </a:r>
                    </a:p>
                  </a:txBody>
                  <a:tcPr marL="133350" marR="133350"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215105D4-F5D8-45E1-B590-A26566701ECE}"/>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19 / 30     Proposed experiments. Report distributions and raw artifacts. No performance claims yet.</a:t>
            </a:r>
          </a:p>
        </p:txBody>
      </p:sp>
    </p:spTree>
    <p:extLst>
      <p:ext uri="{BB962C8B-B14F-4D97-AF65-F5344CB8AC3E}">
        <p14:creationId xmlns:p14="http://schemas.microsoft.com/office/powerpoint/2010/main" val="1687711559"/>
      </p:ext>
    </p:extLst>
  </p:cSld>
</p:sld>
</file>

<file path=ppt/slides/slide2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9A934B1C-EF88-4FC5-8EC1-F05DAF688599}"/>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Implementation milestones</a:t>
            </a:r>
          </a:p>
        </p:txBody>
      </p:sp>
      <p:graphicFrame>
        <p:nvGraphicFramePr>
          <p:cNvPr id="2" name="">
            <a:extLst xmlns:a="http://schemas.openxmlformats.org/drawingml/2006/main">
              <a:ext uri="{FF2B5EF4-FFF2-40B4-BE49-F238E27FC236}">
                <a16:creationId xmlns:a16="http://schemas.microsoft.com/office/drawing/2014/main" id="{B07B3862-38EE-4DB0-BB55-75ED0087B678}"/>
              </a:ext>
            </a:extLst>
          </p:cNvPr>
          <p:cNvGraphicFramePr/>
          <p:nvPr/>
        </p:nvGraphicFramePr>
        <p:xfrm>
          <a:off xmlns:a="http://schemas.openxmlformats.org/drawingml/2006/main" x="609600" y="1685925"/>
          <a:ext xmlns:a="http://schemas.openxmlformats.org/drawingml/2006/main" cx="10972800" cy="4029075"/>
        </p:xfrm>
        <a:graphic xmlns:a="http://schemas.openxmlformats.org/drawingml/2006/main">
          <a:graphicData uri="http://schemas.openxmlformats.org/drawingml/2006/table">
            <a:tbl>
              <a:tblPr firstRow="1" bandRow="0"/>
              <a:tblGrid>
                <a:gridCol w="3238500"/>
                <a:gridCol w="7734300"/>
              </a:tblGrid>
              <a:tr h="457200">
                <a:tc>
                  <a:txBody>
                    <a:bodyPr/>
                    <a:lstStyle/>
                    <a:p>
                      <a:r>
                        <a:rPr sz="1725" b="1">
                          <a:solidFill>
                            <a:srgbClr val="FCFCF8"/>
                          </a:solidFill>
                          <a:latin typeface="Arial"/>
                          <a:ea typeface="Arial"/>
                          <a:cs typeface="Arial"/>
                        </a:rPr>
                        <a:t>Gate</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Demonstration required to advance</a:t>
                      </a:r>
                    </a:p>
                  </a:txBody>
                  <a:tcPr marL="133350" marR="133350" marT="66675" marB="66675" anchor="ctr">
                    <a:solidFill>
                      <a:srgbClr val="122632"/>
                    </a:solidFill>
                  </a:tcPr>
                </a:tc>
              </a:tr>
              <a:tr h="714375">
                <a:tc>
                  <a:txBody>
                    <a:bodyPr/>
                    <a:lstStyle/>
                    <a:p>
                      <a:r>
                        <a:rPr sz="1875" b="1">
                          <a:solidFill>
                            <a:srgbClr val="122632"/>
                          </a:solidFill>
                          <a:latin typeface="Arial"/>
                          <a:ea typeface="Arial"/>
                          <a:cs typeface="Arial"/>
                        </a:rPr>
                        <a:t>1  Kernel isolation</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Two ring-3 services, preemption and capability-checked IPC</a:t>
                      </a:r>
                    </a:p>
                  </a:txBody>
                  <a:tcPr marL="133350" marR="133350" marT="66675" marB="66675" anchor="ctr">
                    <a:solidFill>
                      <a:srgbClr val="F6F4EE"/>
                    </a:solidFill>
                  </a:tcPr>
                </a:tc>
              </a:tr>
              <a:tr h="714375">
                <a:tc>
                  <a:txBody>
                    <a:bodyPr/>
                    <a:lstStyle/>
                    <a:p>
                      <a:r>
                        <a:rPr sz="1875" b="1">
                          <a:solidFill>
                            <a:srgbClr val="122632"/>
                          </a:solidFill>
                          <a:latin typeface="Arial"/>
                          <a:ea typeface="Arial"/>
                          <a:cs typeface="Arial"/>
                        </a:rPr>
                        <a:t>2  Runtime service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The Wasm fixture runs inside an isolated guest service</a:t>
                      </a:r>
                    </a:p>
                  </a:txBody>
                  <a:tcPr marL="133350" marR="133350" marT="66675" marB="66675" anchor="ctr">
                    <a:solidFill>
                      <a:srgbClr val="E9EDE7"/>
                    </a:solidFill>
                  </a:tcPr>
                </a:tc>
              </a:tr>
              <a:tr h="714375">
                <a:tc>
                  <a:txBody>
                    <a:bodyPr/>
                    <a:lstStyle/>
                    <a:p>
                      <a:r>
                        <a:rPr sz="1875" b="1">
                          <a:solidFill>
                            <a:srgbClr val="122632"/>
                          </a:solidFill>
                          <a:latin typeface="Arial"/>
                          <a:ea typeface="Arial"/>
                          <a:cs typeface="Arial"/>
                        </a:rPr>
                        <a:t>3  Durable state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ChronicleFS recovers its last committed root after a crash</a:t>
                      </a:r>
                    </a:p>
                  </a:txBody>
                  <a:tcPr marL="133350" marR="133350" marT="66675" marB="66675" anchor="ctr">
                    <a:solidFill>
                      <a:srgbClr val="F6F4EE"/>
                    </a:solidFill>
                  </a:tcPr>
                </a:tc>
              </a:tr>
              <a:tr h="714375">
                <a:tc>
                  <a:txBody>
                    <a:bodyPr/>
                    <a:lstStyle/>
                    <a:p>
                      <a:r>
                        <a:rPr sz="1875" b="1">
                          <a:solidFill>
                            <a:srgbClr val="122632"/>
                          </a:solidFill>
                          <a:latin typeface="Arial"/>
                          <a:ea typeface="Arial"/>
                          <a:cs typeface="Arial"/>
                        </a:rPr>
                        <a:t>4  Recovery protocol</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Restore and replay without duplicated committed effects</a:t>
                      </a:r>
                    </a:p>
                  </a:txBody>
                  <a:tcPr marL="133350" marR="133350" marT="66675" marB="66675" anchor="ctr">
                    <a:solidFill>
                      <a:srgbClr val="E9EDE7"/>
                    </a:solidFill>
                  </a:tcPr>
                </a:tc>
              </a:tr>
              <a:tr h="714375">
                <a:tc>
                  <a:txBody>
                    <a:bodyPr/>
                    <a:lstStyle/>
                    <a:p>
                      <a:r>
                        <a:rPr sz="1875" b="1">
                          <a:solidFill>
                            <a:srgbClr val="122632"/>
                          </a:solidFill>
                          <a:latin typeface="Arial"/>
                          <a:ea typeface="Arial"/>
                          <a:cs typeface="Arial"/>
                        </a:rPr>
                        <a:t>5  Checked planning</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Reject forbidden plans and evaluate recovery baselines</a:t>
                      </a:r>
                    </a:p>
                  </a:txBody>
                  <a:tcPr marL="133350" marR="133350"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8ABB1798-D416-455D-B836-A9D5E4782A2C}"/>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20 / 30     Proposed sequence. Calendar estimates follow scope and team-capacity review.</a:t>
            </a:r>
          </a:p>
        </p:txBody>
      </p:sp>
    </p:spTree>
    <p:extLst>
      <p:ext uri="{BB962C8B-B14F-4D97-AF65-F5344CB8AC3E}">
        <p14:creationId xmlns:p14="http://schemas.microsoft.com/office/powerpoint/2010/main" val="1342702004"/>
      </p:ext>
    </p:extLst>
  </p:cSld>
</p:sld>
</file>

<file path=ppt/slides/slide2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A0AFB46C-4DE6-482F-AF4F-697A4668C221}"/>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Main engineering risks</a:t>
            </a:r>
          </a:p>
        </p:txBody>
      </p:sp>
      <p:graphicFrame>
        <p:nvGraphicFramePr>
          <p:cNvPr id="2" name="">
            <a:extLst xmlns:a="http://schemas.openxmlformats.org/drawingml/2006/main">
              <a:ext uri="{FF2B5EF4-FFF2-40B4-BE49-F238E27FC236}">
                <a16:creationId xmlns:a16="http://schemas.microsoft.com/office/drawing/2014/main" id="{0C00AA1B-4E40-41D7-9F25-53E4FA2DC81F}"/>
              </a:ext>
            </a:extLst>
          </p:cNvPr>
          <p:cNvGraphicFramePr/>
          <p:nvPr/>
        </p:nvGraphicFramePr>
        <p:xfrm>
          <a:off xmlns:a="http://schemas.openxmlformats.org/drawingml/2006/main" x="609600" y="1685925"/>
          <a:ext xmlns:a="http://schemas.openxmlformats.org/drawingml/2006/main" cx="10972800" cy="4505325"/>
        </p:xfrm>
        <a:graphic xmlns:a="http://schemas.openxmlformats.org/drawingml/2006/main">
          <a:graphicData uri="http://schemas.openxmlformats.org/drawingml/2006/table">
            <a:tbl>
              <a:tblPr firstRow="1" bandRow="0"/>
              <a:tblGrid>
                <a:gridCol w="3286125"/>
                <a:gridCol w="7686675"/>
              </a:tblGrid>
              <a:tr h="457200">
                <a:tc>
                  <a:txBody>
                    <a:bodyPr/>
                    <a:lstStyle/>
                    <a:p>
                      <a:r>
                        <a:rPr sz="1725" b="1">
                          <a:solidFill>
                            <a:srgbClr val="FCFCF8"/>
                          </a:solidFill>
                          <a:latin typeface="Arial"/>
                          <a:ea typeface="Arial"/>
                          <a:cs typeface="Arial"/>
                        </a:rPr>
                        <a:t>Risk</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Design response</a:t>
                      </a:r>
                    </a:p>
                  </a:txBody>
                  <a:tcPr marL="133350" marR="133350" marT="66675" marB="66675" anchor="ctr">
                    <a:solidFill>
                      <a:srgbClr val="122632"/>
                    </a:solidFill>
                  </a:tcPr>
                </a:tc>
              </a:tr>
              <a:tr h="809625">
                <a:tc>
                  <a:txBody>
                    <a:bodyPr/>
                    <a:lstStyle/>
                    <a:p>
                      <a:r>
                        <a:rPr sz="1875" b="1">
                          <a:solidFill>
                            <a:srgbClr val="122632"/>
                          </a:solidFill>
                          <a:latin typeface="Arial"/>
                          <a:ea typeface="Arial"/>
                          <a:cs typeface="Arial"/>
                        </a:rPr>
                        <a:t>Scope exceeds capacity</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Use staged gates and a single first workload</a:t>
                      </a:r>
                    </a:p>
                  </a:txBody>
                  <a:tcPr marL="133350" marR="133350" marT="66675" marB="66675" anchor="ctr">
                    <a:solidFill>
                      <a:srgbClr val="F6F4EE"/>
                    </a:solidFill>
                  </a:tcPr>
                </a:tc>
              </a:tr>
              <a:tr h="809625">
                <a:tc>
                  <a:txBody>
                    <a:bodyPr/>
                    <a:lstStyle/>
                    <a:p>
                      <a:r>
                        <a:rPr sz="1875" b="1">
                          <a:solidFill>
                            <a:srgbClr val="122632"/>
                          </a:solidFill>
                          <a:latin typeface="Arial"/>
                          <a:ea typeface="Arial"/>
                          <a:cs typeface="Arial"/>
                        </a:rPr>
                        <a:t>Hidden nondeterminism</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Mediate host inputs and restrict shared mutable state</a:t>
                      </a:r>
                    </a:p>
                  </a:txBody>
                  <a:tcPr marL="133350" marR="133350" marT="66675" marB="66675" anchor="ctr">
                    <a:solidFill>
                      <a:srgbClr val="E9EDE7"/>
                    </a:solidFill>
                  </a:tcPr>
                </a:tc>
              </a:tr>
              <a:tr h="809625">
                <a:tc>
                  <a:txBody>
                    <a:bodyPr/>
                    <a:lstStyle/>
                    <a:p>
                      <a:r>
                        <a:rPr sz="1875" b="1">
                          <a:solidFill>
                            <a:srgbClr val="122632"/>
                          </a:solidFill>
                          <a:latin typeface="Arial"/>
                          <a:ea typeface="Arial"/>
                          <a:cs typeface="Arial"/>
                        </a:rPr>
                        <a:t>Duplicate external effects</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Design stable IDs, durable completion records and peer handling</a:t>
                      </a:r>
                    </a:p>
                  </a:txBody>
                  <a:tcPr marL="133350" marR="133350" marT="66675" marB="66675" anchor="ctr">
                    <a:solidFill>
                      <a:srgbClr val="F6F4EE"/>
                    </a:solidFill>
                  </a:tcPr>
                </a:tc>
              </a:tr>
              <a:tr h="809625">
                <a:tc>
                  <a:txBody>
                    <a:bodyPr/>
                    <a:lstStyle/>
                    <a:p>
                      <a:r>
                        <a:rPr sz="1875" b="1">
                          <a:solidFill>
                            <a:srgbClr val="122632"/>
                          </a:solidFill>
                          <a:latin typeface="Arial"/>
                          <a:ea typeface="Arial"/>
                          <a:cs typeface="Arial"/>
                        </a:rPr>
                        <a:t>Stale authorization</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Bind recovery to current epochs and recheck before publication</a:t>
                      </a:r>
                    </a:p>
                  </a:txBody>
                  <a:tcPr marL="133350" marR="133350" marT="66675" marB="66675" anchor="ctr">
                    <a:solidFill>
                      <a:srgbClr val="E9EDE7"/>
                    </a:solidFill>
                  </a:tcPr>
                </a:tc>
              </a:tr>
              <a:tr h="809625">
                <a:tc>
                  <a:txBody>
                    <a:bodyPr/>
                    <a:lstStyle/>
                    <a:p>
                      <a:r>
                        <a:rPr sz="1875" b="1">
                          <a:solidFill>
                            <a:srgbClr val="122632"/>
                          </a:solidFill>
                          <a:latin typeface="Arial"/>
                          <a:ea typeface="Arial"/>
                          <a:cs typeface="Arial"/>
                        </a:rPr>
                        <a:t>Overstated assurance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Keep tests, policy checking and formal proofs separate</a:t>
                      </a:r>
                    </a:p>
                  </a:txBody>
                  <a:tcPr marL="133350" marR="133350"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D0B1BDC4-191E-498F-B511-0EDF6C241E5C}"/>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21 / 30     The full protocol must address these risks before claiming safe autonomous recovery.</a:t>
            </a:r>
          </a:p>
        </p:txBody>
      </p:sp>
    </p:spTree>
    <p:extLst>
      <p:ext uri="{BB962C8B-B14F-4D97-AF65-F5344CB8AC3E}">
        <p14:creationId xmlns:p14="http://schemas.microsoft.com/office/powerpoint/2010/main" val="263878262"/>
      </p:ext>
    </p:extLst>
  </p:cSld>
</p:sld>
</file>

<file path=ppt/slides/slide22.xml><?xml version="1.0" encoding="utf-8"?>
<p:sld xmlns:p="http://schemas.openxmlformats.org/presentationml/2006/main">
  <p:cSld>
    <p:bg>
      <p:bgPr>
        <a:solidFill xmlns:a="http://schemas.openxmlformats.org/drawingml/2006/main">
          <a:srgbClr val="122632"/>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7F0303B2-E4F0-4D1E-A0D4-9019530F9768}"/>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FCFCF8"/>
                </a:solidFill>
                <a:latin typeface="Arial"/>
                <a:ea typeface="Arial"/>
                <a:cs typeface="Arial"/>
              </a:defRPr>
            </a:defPPr>
          </a:lstStyle>
          <a:p xmlns:a="http://schemas.openxmlformats.org/drawingml/2006/main">
            <a:pPr>
              <a:defRPr sz="3300" b="1">
                <a:solidFill>
                  <a:srgbClr val="FCFCF8"/>
                </a:solidFill>
                <a:latin typeface="Arial"/>
                <a:ea typeface="Arial"/>
                <a:cs typeface="Arial"/>
              </a:defRPr>
            </a:pPr>
            <a:r>
              <a:rPr sz="3300" b="1">
                <a:solidFill>
                  <a:srgbClr val="FCFCF8"/>
                </a:solidFill>
                <a:latin typeface="Arial"/>
                <a:ea typeface="Arial"/>
                <a:cs typeface="Arial"/>
              </a:rPr>
              <a:t>The project deliverable</a:t>
            </a:r>
          </a:p>
        </p:txBody>
      </p:sp>
      <p:sp>
        <p:nvSpPr>
          <p:cNvPr id="2" name="text-2">
            <a:extLst xmlns:a="http://schemas.openxmlformats.org/drawingml/2006/main">
              <a:ext uri="{FF2B5EF4-FFF2-40B4-BE49-F238E27FC236}">
                <a16:creationId xmlns:a16="http://schemas.microsoft.com/office/drawing/2014/main" id="{EC0E6036-4815-4C9E-A7BC-322966C91BBD}"/>
              </a:ext>
            </a:extLst>
          </p:cNvPr>
          <p:cNvSpPr>
            <a:spLocks xmlns:a="http://schemas.openxmlformats.org/drawingml/2006/main" noGrp="1"/>
          </p:cNvSpPr>
          <p:nvPr/>
        </p:nvSpPr>
        <p:spPr>
          <a:xfrm xmlns:a="http://schemas.openxmlformats.org/drawingml/2006/main">
            <a:off x="609600" y="17145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B8D8C6"/>
                </a:solidFill>
                <a:latin typeface="Arial"/>
                <a:ea typeface="Arial"/>
                <a:cs typeface="Arial"/>
              </a:defRPr>
            </a:defPPr>
          </a:lstStyle>
          <a:p xmlns:a="http://schemas.openxmlformats.org/drawingml/2006/main">
            <a:pPr>
              <a:defRPr sz="3675" b="1">
                <a:solidFill>
                  <a:srgbClr val="B8D8C6"/>
                </a:solidFill>
                <a:latin typeface="Arial"/>
                <a:ea typeface="Arial"/>
                <a:cs typeface="Arial"/>
              </a:defRPr>
            </a:pPr>
            <a:r>
              <a:rPr sz="3675" b="1">
                <a:solidFill>
                  <a:srgbClr val="B8D8C6"/>
                </a:solidFill>
                <a:latin typeface="Arial"/>
                <a:ea typeface="Arial"/>
                <a:cs typeface="Arial"/>
              </a:rPr>
              <a:t>A reproducible testbed for</a:t>
            </a:r>
          </a:p>
          <a:p xmlns:a="http://schemas.openxmlformats.org/drawingml/2006/main">
            <a:pPr>
              <a:defRPr sz="3675" b="1">
                <a:solidFill>
                  <a:srgbClr val="B8D8C6"/>
                </a:solidFill>
                <a:latin typeface="Arial"/>
                <a:ea typeface="Arial"/>
                <a:cs typeface="Arial"/>
              </a:defRPr>
            </a:pPr>
            <a:r>
              <a:rPr sz="3675" b="1">
                <a:solidFill>
                  <a:srgbClr val="B8D8C6"/>
                </a:solidFill>
                <a:latin typeface="Arial"/>
                <a:ea typeface="Arial"/>
                <a:cs typeface="Arial"/>
              </a:rPr>
              <a:t>capability-aware service recovery</a:t>
            </a:r>
          </a:p>
        </p:txBody>
      </p:sp>
      <p:sp>
        <p:nvSpPr>
          <p:cNvPr id="3" name="text-3">
            <a:extLst xmlns:a="http://schemas.openxmlformats.org/drawingml/2006/main">
              <a:ext uri="{FF2B5EF4-FFF2-40B4-BE49-F238E27FC236}">
                <a16:creationId xmlns:a16="http://schemas.microsoft.com/office/drawing/2014/main" id="{ED056502-5DEF-45C4-8361-82BDDC5405CA}"/>
              </a:ext>
            </a:extLst>
          </p:cNvPr>
          <p:cNvSpPr>
            <a:spLocks xmlns:a="http://schemas.openxmlformats.org/drawingml/2006/main" noGrp="1"/>
          </p:cNvSpPr>
          <p:nvPr/>
        </p:nvSpPr>
        <p:spPr>
          <a:xfrm xmlns:a="http://schemas.openxmlformats.org/drawingml/2006/main">
            <a:off x="609600" y="3590925"/>
            <a:ext cx="10477500" cy="2219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FCFCF8"/>
                </a:solidFill>
                <a:latin typeface="Arial"/>
                <a:ea typeface="Arial"/>
                <a:cs typeface="Arial"/>
              </a:defRPr>
            </a:defPPr>
          </a:lstStyle>
          <a:p xmlns:a="http://schemas.openxmlformats.org/drawingml/2006/main">
            <a:pPr>
              <a:defRPr sz="2400" b="0">
                <a:solidFill>
                  <a:srgbClr val="FCFCF8"/>
                </a:solidFill>
                <a:latin typeface="Arial"/>
                <a:ea typeface="Arial"/>
                <a:cs typeface="Arial"/>
              </a:defRPr>
            </a:pPr>
            <a:r>
              <a:rPr sz="2400" b="0">
                <a:solidFill>
                  <a:srgbClr val="FCFCF8"/>
                </a:solidFill>
                <a:latin typeface="Arial"/>
                <a:ea typeface="Arial"/>
                <a:cs typeface="Arial"/>
              </a:rPr>
              <a:t>Custom Rust kernel and isolated services</a:t>
            </a:r>
          </a:p>
          <a:p xmlns:a="http://schemas.openxmlformats.org/drawingml/2006/main">
            <a:pPr>
              <a:defRPr sz="2400" b="0">
                <a:solidFill>
                  <a:srgbClr val="FCFCF8"/>
                </a:solidFill>
                <a:latin typeface="Arial"/>
                <a:ea typeface="Arial"/>
                <a:cs typeface="Arial"/>
              </a:defRPr>
            </a:pPr>
            <a:r>
              <a:rPr sz="2400" b="0">
                <a:solidFill>
                  <a:srgbClr val="FCFCF8"/>
                </a:solidFill>
                <a:latin typeface="Arial"/>
                <a:ea typeface="Arial"/>
                <a:cs typeface="Arial"/>
              </a:rPr>
              <a:t>A specified checkpoint and replay protocol</a:t>
            </a:r>
          </a:p>
          <a:p xmlns:a="http://schemas.openxmlformats.org/drawingml/2006/main">
            <a:pPr>
              <a:defRPr sz="2400" b="0">
                <a:solidFill>
                  <a:srgbClr val="FCFCF8"/>
                </a:solidFill>
                <a:latin typeface="Arial"/>
                <a:ea typeface="Arial"/>
                <a:cs typeface="Arial"/>
              </a:defRPr>
            </a:pPr>
            <a:r>
              <a:rPr sz="2400" b="0">
                <a:solidFill>
                  <a:srgbClr val="FCFCF8"/>
                </a:solidFill>
                <a:latin typeface="Arial"/>
                <a:ea typeface="Arial"/>
                <a:cs typeface="Arial"/>
              </a:rPr>
              <a:t>A checked recovery executor with an untrusted proposer</a:t>
            </a:r>
          </a:p>
          <a:p xmlns:a="http://schemas.openxmlformats.org/drawingml/2006/main">
            <a:pPr>
              <a:defRPr sz="2400" b="0">
                <a:solidFill>
                  <a:srgbClr val="FCFCF8"/>
                </a:solidFill>
                <a:latin typeface="Arial"/>
                <a:ea typeface="Arial"/>
                <a:cs typeface="Arial"/>
              </a:defRPr>
            </a:pPr>
            <a:r>
              <a:rPr sz="2400" b="0">
                <a:solidFill>
                  <a:srgbClr val="FCFCF8"/>
                </a:solidFill>
                <a:latin typeface="Arial"/>
                <a:ea typeface="Arial"/>
                <a:cs typeface="Arial"/>
              </a:rPr>
              <a:t>A fault suite with reproducible measurements</a:t>
            </a:r>
          </a:p>
        </p:txBody>
      </p:sp>
      <p:sp>
        <p:nvSpPr>
          <p:cNvPr id="4" name="text-4">
            <a:extLst xmlns:a="http://schemas.openxmlformats.org/drawingml/2006/main">
              <a:ext uri="{FF2B5EF4-FFF2-40B4-BE49-F238E27FC236}">
                <a16:creationId xmlns:a16="http://schemas.microsoft.com/office/drawing/2014/main" id="{8005B7DA-083D-4632-93C6-D19DDD951498}"/>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B8D8C6"/>
                </a:solidFill>
                <a:latin typeface="Arial"/>
                <a:ea typeface="Arial"/>
                <a:cs typeface="Arial"/>
              </a:defRPr>
            </a:defPPr>
          </a:lstStyle>
          <a:p xmlns:a="http://schemas.openxmlformats.org/drawingml/2006/main">
            <a:pPr>
              <a:defRPr sz="1200" b="0">
                <a:solidFill>
                  <a:srgbClr val="B8D8C6"/>
                </a:solidFill>
                <a:latin typeface="Arial"/>
                <a:ea typeface="Arial"/>
                <a:cs typeface="Arial"/>
              </a:defRPr>
            </a:pPr>
            <a:r>
              <a:rPr sz="1200" b="0">
                <a:solidFill>
                  <a:srgbClr val="B8D8C6"/>
                </a:solidFill>
                <a:latin typeface="Arial"/>
                <a:ea typeface="Arial"/>
                <a:cs typeface="Arial"/>
              </a:rPr>
              <a:t>22 / 30     Current foundation: booting kernel, capability tests and exact host-fixture replay.</a:t>
            </a:r>
          </a:p>
        </p:txBody>
      </p:sp>
    </p:spTree>
    <p:extLst>
      <p:ext uri="{BB962C8B-B14F-4D97-AF65-F5344CB8AC3E}">
        <p14:creationId xmlns:p14="http://schemas.microsoft.com/office/powerpoint/2010/main" val="225644197"/>
      </p:ext>
    </p:extLst>
  </p:cSld>
</p:sld>
</file>

<file path=ppt/slides/slide2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9422AAF3-ADBE-498A-B98E-2C24F0412E0A}"/>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Technical backup: trust model</a:t>
            </a:r>
          </a:p>
        </p:txBody>
      </p:sp>
      <p:graphicFrame>
        <p:nvGraphicFramePr>
          <p:cNvPr id="2" name="">
            <a:extLst xmlns:a="http://schemas.openxmlformats.org/drawingml/2006/main">
              <a:ext uri="{FF2B5EF4-FFF2-40B4-BE49-F238E27FC236}">
                <a16:creationId xmlns:a16="http://schemas.microsoft.com/office/drawing/2014/main" id="{6DD97674-D873-4D15-AD73-DB2D5B8D19D0}"/>
              </a:ext>
            </a:extLst>
          </p:cNvPr>
          <p:cNvGraphicFramePr/>
          <p:nvPr/>
        </p:nvGraphicFramePr>
        <p:xfrm>
          <a:off xmlns:a="http://schemas.openxmlformats.org/drawingml/2006/main" x="609600" y="1685925"/>
          <a:ext xmlns:a="http://schemas.openxmlformats.org/drawingml/2006/main" cx="10972800" cy="4400550"/>
        </p:xfrm>
        <a:graphic xmlns:a="http://schemas.openxmlformats.org/drawingml/2006/main">
          <a:graphicData uri="http://schemas.openxmlformats.org/drawingml/2006/table">
            <a:tbl>
              <a:tblPr firstRow="1" bandRow="0"/>
              <a:tblGrid>
                <a:gridCol w="3524250"/>
                <a:gridCol w="7448550"/>
              </a:tblGrid>
              <a:tr h="457200">
                <a:tc>
                  <a:txBody>
                    <a:bodyPr/>
                    <a:lstStyle/>
                    <a:p>
                      <a:r>
                        <a:rPr sz="1725" b="1">
                          <a:solidFill>
                            <a:srgbClr val="FCFCF8"/>
                          </a:solidFill>
                          <a:latin typeface="Arial"/>
                          <a:ea typeface="Arial"/>
                          <a:cs typeface="Arial"/>
                        </a:rPr>
                        <a:t>Party or component</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Assumption or obligation</a:t>
                      </a:r>
                    </a:p>
                  </a:txBody>
                  <a:tcPr marL="133350" marR="133350" marT="66675" marB="66675" anchor="ctr">
                    <a:solidFill>
                      <a:srgbClr val="122632"/>
                    </a:solidFill>
                  </a:tcPr>
                </a:tc>
              </a:tr>
              <a:tr h="657225">
                <a:tc>
                  <a:txBody>
                    <a:bodyPr/>
                    <a:lstStyle/>
                    <a:p>
                      <a:r>
                        <a:rPr sz="1875" b="1">
                          <a:solidFill>
                            <a:srgbClr val="122632"/>
                          </a:solidFill>
                          <a:latin typeface="Arial"/>
                          <a:ea typeface="Arial"/>
                          <a:cs typeface="Arial"/>
                        </a:rPr>
                        <a:t>Wasm application</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Potentially faulty or malicious within its admitted interface</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AI proposer</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Untrusted and unable to bypass deterministic checks</a:t>
                      </a:r>
                    </a:p>
                  </a:txBody>
                  <a:tcPr marL="133350" marR="133350" marT="66675" marB="66675" anchor="ctr">
                    <a:solidFill>
                      <a:srgbClr val="E9EDE7"/>
                    </a:solidFill>
                  </a:tcPr>
                </a:tc>
              </a:tr>
              <a:tr h="657225">
                <a:tc>
                  <a:txBody>
                    <a:bodyPr/>
                    <a:lstStyle/>
                    <a:p>
                      <a:r>
                        <a:rPr sz="1875" b="1">
                          <a:solidFill>
                            <a:srgbClr val="122632"/>
                          </a:solidFill>
                          <a:latin typeface="Arial"/>
                          <a:ea typeface="Arial"/>
                          <a:cs typeface="Arial"/>
                        </a:rPr>
                        <a:t>Microkernel</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Trusted enforcement of memory, CPU and object authority</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Verifier and executor</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Trusted state checks, bounded actions and publication logic</a:t>
                      </a:r>
                    </a:p>
                  </a:txBody>
                  <a:tcPr marL="133350" marR="133350" marT="66675" marB="66675" anchor="ctr">
                    <a:solidFill>
                      <a:srgbClr val="E9EDE7"/>
                    </a:solidFill>
                  </a:tcPr>
                </a:tc>
              </a:tr>
              <a:tr h="657225">
                <a:tc>
                  <a:txBody>
                    <a:bodyPr/>
                    <a:lstStyle/>
                    <a:p>
                      <a:r>
                        <a:rPr sz="1875" b="1">
                          <a:solidFill>
                            <a:srgbClr val="122632"/>
                          </a:solidFill>
                          <a:latin typeface="Arial"/>
                          <a:ea typeface="Arial"/>
                          <a:cs typeface="Arial"/>
                        </a:rPr>
                        <a:t>Log and storage service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Explicit integrity and persistence assumptions</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Hardware and boot chain</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Part of the stated trusted environment</a:t>
                      </a:r>
                    </a:p>
                  </a:txBody>
                  <a:tcPr marL="133350" marR="133350"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386FA624-2DD0-4E9C-8F46-9F7938CBD9C4}"/>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23 / 30     Proposed threat boundary. Whole-system compromise, side channels and physical attacks need separate scope.</a:t>
            </a:r>
          </a:p>
        </p:txBody>
      </p:sp>
    </p:spTree>
    <p:extLst>
      <p:ext uri="{BB962C8B-B14F-4D97-AF65-F5344CB8AC3E}">
        <p14:creationId xmlns:p14="http://schemas.microsoft.com/office/powerpoint/2010/main" val="32522502"/>
      </p:ext>
    </p:extLst>
  </p:cSld>
</p:sld>
</file>

<file path=ppt/slides/slide2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A82E0760-5D59-4322-A061-FD02B1FB0A0C}"/>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Technical backup: replay boundaries</a:t>
            </a:r>
          </a:p>
        </p:txBody>
      </p:sp>
      <p:sp>
        <p:nvSpPr>
          <p:cNvPr id="2" name="text-2">
            <a:extLst xmlns:a="http://schemas.openxmlformats.org/drawingml/2006/main">
              <a:ext uri="{FF2B5EF4-FFF2-40B4-BE49-F238E27FC236}">
                <a16:creationId xmlns:a16="http://schemas.microsoft.com/office/drawing/2014/main" id="{7BA7C249-3C85-43B1-AC4D-7B9326424CFA}"/>
              </a:ext>
            </a:extLst>
          </p:cNvPr>
          <p:cNvSpPr>
            <a:spLocks xmlns:a="http://schemas.openxmlformats.org/drawingml/2006/main" noGrp="1"/>
          </p:cNvSpPr>
          <p:nvPr/>
        </p:nvSpPr>
        <p:spPr>
          <a:xfrm xmlns:a="http://schemas.openxmlformats.org/drawingml/2006/main">
            <a:off x="609600" y="18478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Safe point</a:t>
            </a:r>
          </a:p>
        </p:txBody>
      </p:sp>
      <p:sp>
        <p:nvSpPr>
          <p:cNvPr id="3" name="text-3">
            <a:extLst xmlns:a="http://schemas.openxmlformats.org/drawingml/2006/main">
              <a:ext uri="{FF2B5EF4-FFF2-40B4-BE49-F238E27FC236}">
                <a16:creationId xmlns:a16="http://schemas.microsoft.com/office/drawing/2014/main" id="{350EC2C1-B901-4384-87D1-FA1CF4293CC5}"/>
              </a:ext>
            </a:extLst>
          </p:cNvPr>
          <p:cNvSpPr>
            <a:spLocks xmlns:a="http://schemas.openxmlformats.org/drawingml/2006/main" noGrp="1"/>
          </p:cNvSpPr>
          <p:nvPr/>
        </p:nvSpPr>
        <p:spPr>
          <a:xfrm xmlns:a="http://schemas.openxmlformats.org/drawingml/2006/main">
            <a:off x="3524250" y="18478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Capture state only between completed handlers in the first runtime.</a:t>
            </a:r>
          </a:p>
        </p:txBody>
      </p:sp>
      <p:sp>
        <p:nvSpPr>
          <p:cNvPr id="4" name="text-4">
            <a:extLst xmlns:a="http://schemas.openxmlformats.org/drawingml/2006/main">
              <a:ext uri="{FF2B5EF4-FFF2-40B4-BE49-F238E27FC236}">
                <a16:creationId xmlns:a16="http://schemas.microsoft.com/office/drawing/2014/main" id="{3CCB13E9-A285-43D7-BCAC-6A5CFDC98567}"/>
              </a:ext>
            </a:extLst>
          </p:cNvPr>
          <p:cNvSpPr>
            <a:spLocks xmlns:a="http://schemas.openxmlformats.org/drawingml/2006/main" noGrp="1"/>
          </p:cNvSpPr>
          <p:nvPr/>
        </p:nvSpPr>
        <p:spPr>
          <a:xfrm xmlns:a="http://schemas.openxmlformats.org/drawingml/2006/main">
            <a:off x="609600" y="28194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State inventory</a:t>
            </a:r>
          </a:p>
        </p:txBody>
      </p:sp>
      <p:sp>
        <p:nvSpPr>
          <p:cNvPr id="5" name="text-5">
            <a:extLst xmlns:a="http://schemas.openxmlformats.org/drawingml/2006/main">
              <a:ext uri="{FF2B5EF4-FFF2-40B4-BE49-F238E27FC236}">
                <a16:creationId xmlns:a16="http://schemas.microsoft.com/office/drawing/2014/main" id="{B2809803-4D27-4654-99D7-4AC590C1315F}"/>
              </a:ext>
            </a:extLst>
          </p:cNvPr>
          <p:cNvSpPr>
            <a:spLocks xmlns:a="http://schemas.openxmlformats.org/drawingml/2006/main" noGrp="1"/>
          </p:cNvSpPr>
          <p:nvPr/>
        </p:nvSpPr>
        <p:spPr>
          <a:xfrm xmlns:a="http://schemas.openxmlformats.org/drawingml/2006/main">
            <a:off x="3524250" y="28194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Account for globals, memory, queues, handles and pending operations.</a:t>
            </a:r>
          </a:p>
        </p:txBody>
      </p:sp>
      <p:sp>
        <p:nvSpPr>
          <p:cNvPr id="6" name="text-6">
            <a:extLst xmlns:a="http://schemas.openxmlformats.org/drawingml/2006/main">
              <a:ext uri="{FF2B5EF4-FFF2-40B4-BE49-F238E27FC236}">
                <a16:creationId xmlns:a16="http://schemas.microsoft.com/office/drawing/2014/main" id="{4BB90053-1AC6-4093-8B6E-B0FC7F73A52C}"/>
              </a:ext>
            </a:extLst>
          </p:cNvPr>
          <p:cNvSpPr>
            <a:spLocks xmlns:a="http://schemas.openxmlformats.org/drawingml/2006/main" noGrp="1"/>
          </p:cNvSpPr>
          <p:nvPr/>
        </p:nvSpPr>
        <p:spPr>
          <a:xfrm xmlns:a="http://schemas.openxmlformats.org/drawingml/2006/main">
            <a:off x="609600" y="379095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External effects</a:t>
            </a:r>
          </a:p>
        </p:txBody>
      </p:sp>
      <p:sp>
        <p:nvSpPr>
          <p:cNvPr id="7" name="text-7">
            <a:extLst xmlns:a="http://schemas.openxmlformats.org/drawingml/2006/main">
              <a:ext uri="{FF2B5EF4-FFF2-40B4-BE49-F238E27FC236}">
                <a16:creationId xmlns:a16="http://schemas.microsoft.com/office/drawing/2014/main" id="{44B2EF3D-6B5C-4A6E-BF90-5CB419F8F264}"/>
              </a:ext>
            </a:extLst>
          </p:cNvPr>
          <p:cNvSpPr>
            <a:spLocks xmlns:a="http://schemas.openxmlformats.org/drawingml/2006/main" noGrp="1"/>
          </p:cNvSpPr>
          <p:nvPr/>
        </p:nvSpPr>
        <p:spPr>
          <a:xfrm xmlns:a="http://schemas.openxmlformats.org/drawingml/2006/main">
            <a:off x="3524250" y="379095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Bind publication to durable state and receiver-side duplicate handling.</a:t>
            </a:r>
          </a:p>
        </p:txBody>
      </p:sp>
      <p:sp>
        <p:nvSpPr>
          <p:cNvPr id="8" name="text-8">
            <a:extLst xmlns:a="http://schemas.openxmlformats.org/drawingml/2006/main">
              <a:ext uri="{FF2B5EF4-FFF2-40B4-BE49-F238E27FC236}">
                <a16:creationId xmlns:a16="http://schemas.microsoft.com/office/drawing/2014/main" id="{D08D0308-FD75-418B-9F84-3493B3BB688B}"/>
              </a:ext>
            </a:extLst>
          </p:cNvPr>
          <p:cNvSpPr>
            <a:spLocks xmlns:a="http://schemas.openxmlformats.org/drawingml/2006/main" noGrp="1"/>
          </p:cNvSpPr>
          <p:nvPr/>
        </p:nvSpPr>
        <p:spPr>
          <a:xfrm xmlns:a="http://schemas.openxmlformats.org/drawingml/2006/main">
            <a:off x="609600" y="4762500"/>
            <a:ext cx="266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Concurrency</a:t>
            </a:r>
          </a:p>
        </p:txBody>
      </p:sp>
      <p:sp>
        <p:nvSpPr>
          <p:cNvPr id="9" name="text-9">
            <a:extLst xmlns:a="http://schemas.openxmlformats.org/drawingml/2006/main">
              <a:ext uri="{FF2B5EF4-FFF2-40B4-BE49-F238E27FC236}">
                <a16:creationId xmlns:a16="http://schemas.microsoft.com/office/drawing/2014/main" id="{2B06C115-F7AF-48C5-A8C8-51A4C95101F3}"/>
              </a:ext>
            </a:extLst>
          </p:cNvPr>
          <p:cNvSpPr>
            <a:spLocks xmlns:a="http://schemas.openxmlformats.org/drawingml/2006/main" noGrp="1"/>
          </p:cNvSpPr>
          <p:nvPr/>
        </p:nvSpPr>
        <p:spPr>
          <a:xfrm xmlns:a="http://schemas.openxmlformats.org/drawingml/2006/main">
            <a:off x="3524250" y="4762500"/>
            <a:ext cx="7886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22632"/>
                </a:solidFill>
                <a:latin typeface="Arial"/>
                <a:ea typeface="Arial"/>
                <a:cs typeface="Arial"/>
              </a:defRPr>
            </a:defPPr>
          </a:lstStyle>
          <a:p xmlns:a="http://schemas.openxmlformats.org/drawingml/2006/main">
            <a:pPr>
              <a:defRPr sz="2100" b="0">
                <a:solidFill>
                  <a:srgbClr val="122632"/>
                </a:solidFill>
                <a:latin typeface="Arial"/>
                <a:ea typeface="Arial"/>
                <a:cs typeface="Arial"/>
              </a:defRPr>
            </a:pPr>
            <a:r>
              <a:rPr sz="2100" b="0">
                <a:solidFill>
                  <a:srgbClr val="122632"/>
                </a:solidFill>
                <a:latin typeface="Arial"/>
                <a:ea typeface="Arial"/>
                <a:cs typeface="Arial"/>
              </a:rPr>
              <a:t>Coordinate related service histories before claiming group recovery.</a:t>
            </a:r>
          </a:p>
        </p:txBody>
      </p:sp>
      <p:sp>
        <p:nvSpPr>
          <p:cNvPr id="10" name="text-10">
            <a:extLst xmlns:a="http://schemas.openxmlformats.org/drawingml/2006/main">
              <a:ext uri="{FF2B5EF4-FFF2-40B4-BE49-F238E27FC236}">
                <a16:creationId xmlns:a16="http://schemas.microsoft.com/office/drawing/2014/main" id="{73526932-E69B-4FA9-BC15-D6105C9B45CA}"/>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24 / 30     Current lab covers one fixture and in-memory observations. General native replay is outside this milestone.</a:t>
            </a:r>
          </a:p>
        </p:txBody>
      </p:sp>
    </p:spTree>
    <p:extLst>
      <p:ext uri="{BB962C8B-B14F-4D97-AF65-F5344CB8AC3E}">
        <p14:creationId xmlns:p14="http://schemas.microsoft.com/office/powerpoint/2010/main" val="788928326"/>
      </p:ext>
    </p:extLst>
  </p:cSld>
</p:sld>
</file>

<file path=ppt/slides/slide2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189B4B6B-608E-45F3-B9DF-02AC337900A6}"/>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Technical backup: capability edge cases</a:t>
            </a:r>
          </a:p>
        </p:txBody>
      </p:sp>
      <p:graphicFrame>
        <p:nvGraphicFramePr>
          <p:cNvPr id="2" name="">
            <a:extLst xmlns:a="http://schemas.openxmlformats.org/drawingml/2006/main">
              <a:ext uri="{FF2B5EF4-FFF2-40B4-BE49-F238E27FC236}">
                <a16:creationId xmlns:a16="http://schemas.microsoft.com/office/drawing/2014/main" id="{5C08A1A4-D46F-4D54-B954-16FB104EED04}"/>
              </a:ext>
            </a:extLst>
          </p:cNvPr>
          <p:cNvGraphicFramePr/>
          <p:nvPr/>
        </p:nvGraphicFramePr>
        <p:xfrm>
          <a:off xmlns:a="http://schemas.openxmlformats.org/drawingml/2006/main" x="609600" y="1685925"/>
          <a:ext xmlns:a="http://schemas.openxmlformats.org/drawingml/2006/main" cx="10972800" cy="4400550"/>
        </p:xfrm>
        <a:graphic xmlns:a="http://schemas.openxmlformats.org/drawingml/2006/main">
          <a:graphicData uri="http://schemas.openxmlformats.org/drawingml/2006/table">
            <a:tbl>
              <a:tblPr firstRow="1" bandRow="0"/>
              <a:tblGrid>
                <a:gridCol w="3619500"/>
                <a:gridCol w="7353300"/>
              </a:tblGrid>
              <a:tr h="457200">
                <a:tc>
                  <a:txBody>
                    <a:bodyPr/>
                    <a:lstStyle/>
                    <a:p>
                      <a:r>
                        <a:rPr sz="1725" b="1">
                          <a:solidFill>
                            <a:srgbClr val="FCFCF8"/>
                          </a:solidFill>
                          <a:latin typeface="Arial"/>
                          <a:ea typeface="Arial"/>
                          <a:cs typeface="Arial"/>
                        </a:rPr>
                        <a:t>Case</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Current rule</a:t>
                      </a:r>
                    </a:p>
                  </a:txBody>
                  <a:tcPr marL="133350" marR="133350" marT="66675" marB="66675" anchor="ctr">
                    <a:solidFill>
                      <a:srgbClr val="122632"/>
                    </a:solidFill>
                  </a:tcPr>
                </a:tc>
              </a:tr>
              <a:tr h="657225">
                <a:tc>
                  <a:txBody>
                    <a:bodyPr/>
                    <a:lstStyle/>
                    <a:p>
                      <a:r>
                        <a:rPr sz="1875" b="1">
                          <a:solidFill>
                            <a:srgbClr val="122632"/>
                          </a:solidFill>
                          <a:latin typeface="Arial"/>
                          <a:ea typeface="Arial"/>
                          <a:cs typeface="Arial"/>
                        </a:rPr>
                        <a:t>Stale slot handle</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Reject mismatched generation</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Generation exhaustion</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Retire the slot permanently</a:t>
                      </a:r>
                    </a:p>
                  </a:txBody>
                  <a:tcPr marL="133350" marR="133350" marT="66675" marB="66675" anchor="ctr">
                    <a:solidFill>
                      <a:srgbClr val="E9EDE7"/>
                    </a:solidFill>
                  </a:tcPr>
                </a:tc>
              </a:tr>
              <a:tr h="657225">
                <a:tc>
                  <a:txBody>
                    <a:bodyPr/>
                    <a:lstStyle/>
                    <a:p>
                      <a:r>
                        <a:rPr sz="1875" b="1">
                          <a:solidFill>
                            <a:srgbClr val="122632"/>
                          </a:solidFill>
                          <a:latin typeface="Arial"/>
                          <a:ea typeface="Arial"/>
                          <a:cs typeface="Arial"/>
                        </a:rPr>
                        <a:t>Delegation amplification</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Reject rights outside the parent subset</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Full table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Fail allocation without changing existing authority</a:t>
                      </a:r>
                    </a:p>
                  </a:txBody>
                  <a:tcPr marL="133350" marR="133350" marT="66675" marB="66675" anchor="ctr">
                    <a:solidFill>
                      <a:srgbClr val="E9EDE7"/>
                    </a:solidFill>
                  </a:tcPr>
                </a:tc>
              </a:tr>
              <a:tr h="657225">
                <a:tc>
                  <a:txBody>
                    <a:bodyPr/>
                    <a:lstStyle/>
                    <a:p>
                      <a:r>
                        <a:rPr sz="1875" b="1">
                          <a:solidFill>
                            <a:srgbClr val="122632"/>
                          </a:solidFill>
                          <a:latin typeface="Arial"/>
                          <a:ea typeface="Arial"/>
                          <a:cs typeface="Arial"/>
                        </a:rPr>
                        <a:t>Subtree deletion</a:t>
                      </a:r>
                    </a:p>
                  </a:txBody>
                  <a:tcPr marL="133350" marR="133350" marT="66675" marB="66675" anchor="ctr">
                    <a:solidFill>
                      <a:srgbClr val="F6F4EE"/>
                    </a:solidFill>
                  </a:tcPr>
                </a:tc>
                <a:tc>
                  <a:txBody>
                    <a:bodyPr/>
                    <a:lstStyle/>
                    <a:p>
                      <a:r>
                        <a:rPr sz="1875" b="0">
                          <a:solidFill>
                            <a:srgbClr val="122632"/>
                          </a:solidFill>
                          <a:latin typeface="Arial"/>
                          <a:ea typeface="Arial"/>
                          <a:cs typeface="Arial"/>
                        </a:rPr>
                        <a:t>Delete descendants before dangling ancestry can arise</a:t>
                      </a:r>
                    </a:p>
                  </a:txBody>
                  <a:tcPr marL="133350" marR="133350" marT="66675" marB="66675" anchor="ctr">
                    <a:solidFill>
                      <a:srgbClr val="F6F4EE"/>
                    </a:solidFill>
                  </a:tcPr>
                </a:tc>
              </a:tr>
              <a:tr h="657225">
                <a:tc>
                  <a:txBody>
                    <a:bodyPr/>
                    <a:lstStyle/>
                    <a:p>
                      <a:r>
                        <a:rPr sz="1875" b="1">
                          <a:solidFill>
                            <a:srgbClr val="122632"/>
                          </a:solidFill>
                          <a:latin typeface="Arial"/>
                          <a:ea typeface="Arial"/>
                          <a:cs typeface="Arial"/>
                        </a:rPr>
                        <a:t>Object ID reuse</a:t>
                      </a:r>
                    </a:p>
                  </a:txBody>
                  <a:tcPr marL="133350" marR="133350" marT="66675" marB="66675" anchor="ctr">
                    <a:solidFill>
                      <a:srgbClr val="E9EDE7"/>
                    </a:solidFill>
                  </a:tcPr>
                </a:tc>
                <a:tc>
                  <a:txBody>
                    <a:bodyPr/>
                    <a:lstStyle/>
                    <a:p>
                      <a:r>
                        <a:rPr sz="1875" b="0">
                          <a:solidFill>
                            <a:srgbClr val="122632"/>
                          </a:solidFill>
                          <a:latin typeface="Arial"/>
                          <a:ea typeface="Arial"/>
                          <a:cs typeface="Arial"/>
                        </a:rPr>
                        <a:t>Trusted teardown must invalidate all referencing tables</a:t>
                      </a:r>
                    </a:p>
                  </a:txBody>
                  <a:tcPr marL="133350" marR="133350" marT="66675" marB="66675" anchor="ctr">
                    <a:solidFill>
                      <a:srgbClr val="E9EDE7"/>
                    </a:solidFill>
                  </a:tcPr>
                </a:tc>
              </a:tr>
            </a:tbl>
          </a:graphicData>
        </a:graphic>
      </p:graphicFrame>
      <p:sp>
        <p:nvSpPr>
          <p:cNvPr id="3" name="text-2">
            <a:extLst xmlns:a="http://schemas.openxmlformats.org/drawingml/2006/main">
              <a:ext uri="{FF2B5EF4-FFF2-40B4-BE49-F238E27FC236}">
                <a16:creationId xmlns:a16="http://schemas.microsoft.com/office/drawing/2014/main" id="{9E35DA46-6CFC-448B-BA75-355250F4FE09}"/>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25 / 30     Implemented allocation-free table. Revocation is synchronous O(N²) within a bounded capacity.</a:t>
            </a:r>
          </a:p>
        </p:txBody>
      </p:sp>
    </p:spTree>
    <p:extLst>
      <p:ext uri="{BB962C8B-B14F-4D97-AF65-F5344CB8AC3E}">
        <p14:creationId xmlns:p14="http://schemas.microsoft.com/office/powerpoint/2010/main" val="2059602343"/>
      </p:ext>
    </p:extLst>
  </p:cSld>
</p:sld>
</file>

<file path=ppt/slides/slide2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0A998104-839D-474F-B89E-8B556CC7EDBC}"/>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Technical backup: demo commands</a:t>
            </a:r>
          </a:p>
        </p:txBody>
      </p:sp>
      <p:sp>
        <p:nvSpPr>
          <p:cNvPr id="2" name="text-2">
            <a:extLst xmlns:a="http://schemas.openxmlformats.org/drawingml/2006/main">
              <a:ext uri="{FF2B5EF4-FFF2-40B4-BE49-F238E27FC236}">
                <a16:creationId xmlns:a16="http://schemas.microsoft.com/office/drawing/2014/main" id="{FC65CA3C-7F90-4479-9B36-E40FA2F732F0}"/>
              </a:ext>
            </a:extLst>
          </p:cNvPr>
          <p:cNvSpPr>
            <a:spLocks xmlns:a="http://schemas.openxmlformats.org/drawingml/2006/main" noGrp="1"/>
          </p:cNvSpPr>
          <p:nvPr/>
        </p:nvSpPr>
        <p:spPr>
          <a:xfrm xmlns:a="http://schemas.openxmlformats.org/drawingml/2006/main">
            <a:off x="609600" y="1771650"/>
            <a:ext cx="7686675" cy="429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146B5F"/>
                </a:solidFill>
                <a:latin typeface="Consolas"/>
                <a:ea typeface="Consolas"/>
                <a:cs typeface="Consolas"/>
              </a:defRPr>
            </a:defPPr>
          </a:lstStyle>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Set-Location 'C:\Users\ludic\Desktop\mnemosyne'</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python tools/present.py</a:t>
            </a:r>
          </a:p>
          <a:p xmlns:a="http://schemas.openxmlformats.org/drawingml/2006/main">
            <a:r>
              <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 Rehearsal without pauses</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python tools/present.py --auto</a:t>
            </a:r>
          </a:p>
          <a:p xmlns:a="http://schemas.openxmlformats.org/drawingml/2006/main">
            <a:r>
              <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 Host tests and replay only</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python tools/present.py --host-only</a:t>
            </a:r>
          </a:p>
          <a:p xmlns:a="http://schemas.openxmlformats.org/drawingml/2006/main">
            <a:r>
              <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 Saved evidence, clearly labeled</a:t>
            </a:r>
          </a:p>
          <a:p xmlns:a="http://schemas.openxmlformats.org/drawingml/2006/main">
            <a:pPr>
              <a:defRPr sz="1725" b="0">
                <a:solidFill>
                  <a:srgbClr val="146B5F"/>
                </a:solidFill>
                <a:latin typeface="Consolas"/>
                <a:ea typeface="Consolas"/>
                <a:cs typeface="Consolas"/>
              </a:defRPr>
            </a:pPr>
            <a:r>
              <a:rPr sz="1725" b="0">
                <a:solidFill>
                  <a:srgbClr val="146B5F"/>
                </a:solidFill>
                <a:latin typeface="Consolas"/>
                <a:ea typeface="Consolas"/>
                <a:cs typeface="Consolas"/>
              </a:rPr>
              <a:t>python tools/present.py --recorded</a:t>
            </a:r>
          </a:p>
        </p:txBody>
      </p:sp>
      <p:sp>
        <p:nvSpPr>
          <p:cNvPr id="3" name="text-3">
            <a:extLst xmlns:a="http://schemas.openxmlformats.org/drawingml/2006/main">
              <a:ext uri="{FF2B5EF4-FFF2-40B4-BE49-F238E27FC236}">
                <a16:creationId xmlns:a16="http://schemas.microsoft.com/office/drawing/2014/main" id="{CF6E2C37-E31A-4249-B02F-2589F179A96E}"/>
              </a:ext>
            </a:extLst>
          </p:cNvPr>
          <p:cNvSpPr>
            <a:spLocks xmlns:a="http://schemas.openxmlformats.org/drawingml/2006/main" noGrp="1"/>
          </p:cNvSpPr>
          <p:nvPr/>
        </p:nvSpPr>
        <p:spPr>
          <a:xfrm xmlns:a="http://schemas.openxmlformats.org/drawingml/2006/main">
            <a:off x="8648700" y="1800225"/>
            <a:ext cx="2905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122632"/>
                </a:solidFill>
                <a:latin typeface="Arial"/>
                <a:ea typeface="Arial"/>
                <a:cs typeface="Arial"/>
              </a:defRPr>
            </a:defPPr>
          </a:lstStyle>
          <a:p xmlns:a="http://schemas.openxmlformats.org/drawingml/2006/main">
            <a:pPr>
              <a:defRPr sz="2025" b="1">
                <a:solidFill>
                  <a:srgbClr val="122632"/>
                </a:solidFill>
                <a:latin typeface="Arial"/>
                <a:ea typeface="Arial"/>
                <a:cs typeface="Arial"/>
              </a:defRPr>
            </a:pPr>
            <a:r>
              <a:rPr sz="2025" b="1">
                <a:solidFill>
                  <a:srgbClr val="122632"/>
                </a:solidFill>
                <a:latin typeface="Arial"/>
                <a:ea typeface="Arial"/>
                <a:cs typeface="Arial"/>
              </a:rPr>
              <a:t>Preparation</a:t>
            </a:r>
          </a:p>
        </p:txBody>
      </p:sp>
      <p:sp>
        <p:nvSpPr>
          <p:cNvPr id="4" name="text-4">
            <a:extLst xmlns:a="http://schemas.openxmlformats.org/drawingml/2006/main">
              <a:ext uri="{FF2B5EF4-FFF2-40B4-BE49-F238E27FC236}">
                <a16:creationId xmlns:a16="http://schemas.microsoft.com/office/drawing/2014/main" id="{41EB2AC7-7CAB-4459-A348-9C69900832C1}"/>
              </a:ext>
            </a:extLst>
          </p:cNvPr>
          <p:cNvSpPr>
            <a:spLocks xmlns:a="http://schemas.openxmlformats.org/drawingml/2006/main" noGrp="1"/>
          </p:cNvSpPr>
          <p:nvPr/>
        </p:nvSpPr>
        <p:spPr>
          <a:xfrm xmlns:a="http://schemas.openxmlformats.org/drawingml/2006/main">
            <a:off x="8648700" y="2676525"/>
            <a:ext cx="2905125"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8656A"/>
                </a:solidFill>
                <a:latin typeface="Arial"/>
                <a:ea typeface="Arial"/>
                <a:cs typeface="Arial"/>
              </a:defRPr>
            </a:defPPr>
          </a:lstStyle>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Warm the build cache</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Use a readable terminal font</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Open the demo guide</a:t>
            </a:r>
          </a:p>
          <a:p xmlns:a="http://schemas.openxmlformats.org/drawingml/2006/main">
            <a:r>
              <a:t/>
            </a:r>
          </a:p>
          <a:p xmlns:a="http://schemas.openxmlformats.org/drawingml/2006/main">
            <a:pPr>
              <a:defRPr sz="1875" b="0">
                <a:solidFill>
                  <a:srgbClr val="58656A"/>
                </a:solidFill>
                <a:latin typeface="Arial"/>
                <a:ea typeface="Arial"/>
                <a:cs typeface="Arial"/>
              </a:defRPr>
            </a:pPr>
            <a:r>
              <a:rPr sz="1875" b="0">
                <a:solidFill>
                  <a:srgbClr val="58656A"/>
                </a:solidFill>
                <a:latin typeface="Arial"/>
                <a:ea typeface="Arial"/>
                <a:cs typeface="Arial"/>
              </a:rPr>
              <a:t>Keep the PDF as a fallback</a:t>
            </a:r>
          </a:p>
        </p:txBody>
      </p:sp>
      <p:sp>
        <p:nvSpPr>
          <p:cNvPr id="5" name="text-5">
            <a:extLst xmlns:a="http://schemas.openxmlformats.org/drawingml/2006/main">
              <a:ext uri="{FF2B5EF4-FFF2-40B4-BE49-F238E27FC236}">
                <a16:creationId xmlns:a16="http://schemas.microsoft.com/office/drawing/2014/main" id="{2E950BB4-0861-43D6-A3CF-8F35470BF06D}"/>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26 / 30     Exact setup, expected output and troubleshooting: presentation/demo-runbook.md.</a:t>
            </a:r>
          </a:p>
        </p:txBody>
      </p:sp>
    </p:spTree>
    <p:extLst>
      <p:ext uri="{BB962C8B-B14F-4D97-AF65-F5344CB8AC3E}">
        <p14:creationId xmlns:p14="http://schemas.microsoft.com/office/powerpoint/2010/main" val="835905479"/>
      </p:ext>
    </p:extLst>
  </p:cSld>
</p:sld>
</file>

<file path=ppt/slides/slide2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text-1">
            <a:extLst xmlns:a="http://schemas.openxmlformats.org/drawingml/2006/main">
              <a:ext uri="{FF2B5EF4-FFF2-40B4-BE49-F238E27FC236}">
                <a16:creationId xmlns:a16="http://schemas.microsoft.com/office/drawing/2014/main" id="{674EA49C-27E7-4AEB-904D-D25C304A89D2}"/>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Technical backup: likely review questions</a:t>
            </a:r>
          </a:p>
        </p:txBody>
      </p:sp>
      <p:sp>
        <p:nvSpPr>
          <p:cNvPr id="2" name="text-2">
            <a:extLst xmlns:a="http://schemas.openxmlformats.org/drawingml/2006/main">
              <a:ext uri="{FF2B5EF4-FFF2-40B4-BE49-F238E27FC236}">
                <a16:creationId xmlns:a16="http://schemas.microsoft.com/office/drawing/2014/main" id="{E643C121-9852-4FC0-8A27-86237E464A70}"/>
              </a:ext>
            </a:extLst>
          </p:cNvPr>
          <p:cNvSpPr>
            <a:spLocks xmlns:a="http://schemas.openxmlformats.org/drawingml/2006/main" noGrp="1"/>
          </p:cNvSpPr>
          <p:nvPr/>
        </p:nvSpPr>
        <p:spPr>
          <a:xfrm xmlns:a="http://schemas.openxmlformats.org/drawingml/2006/main">
            <a:off x="609600" y="1762125"/>
            <a:ext cx="5229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Why a custom kernel?</a:t>
            </a:r>
          </a:p>
        </p:txBody>
      </p:sp>
      <p:sp>
        <p:nvSpPr>
          <p:cNvPr id="3" name="text-3">
            <a:extLst xmlns:a="http://schemas.openxmlformats.org/drawingml/2006/main">
              <a:ext uri="{FF2B5EF4-FFF2-40B4-BE49-F238E27FC236}">
                <a16:creationId xmlns:a16="http://schemas.microsoft.com/office/drawing/2014/main" id="{7440190C-B6BA-46DA-8AC8-0FC18A43EF9D}"/>
              </a:ext>
            </a:extLst>
          </p:cNvPr>
          <p:cNvSpPr>
            <a:spLocks xmlns:a="http://schemas.openxmlformats.org/drawingml/2006/main" noGrp="1"/>
          </p:cNvSpPr>
          <p:nvPr/>
        </p:nvSpPr>
        <p:spPr>
          <a:xfrm xmlns:a="http://schemas.openxmlformats.org/drawingml/2006/main">
            <a:off x="609600" y="2247900"/>
            <a:ext cx="52292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The course artifact exposes the authority and recovery boundary directly.</a:t>
            </a:r>
          </a:p>
        </p:txBody>
      </p:sp>
      <p:sp>
        <p:nvSpPr>
          <p:cNvPr id="4" name="text-4">
            <a:extLst xmlns:a="http://schemas.openxmlformats.org/drawingml/2006/main">
              <a:ext uri="{FF2B5EF4-FFF2-40B4-BE49-F238E27FC236}">
                <a16:creationId xmlns:a16="http://schemas.microsoft.com/office/drawing/2014/main" id="{55240247-9B77-4C04-9354-2B3390B4A828}"/>
              </a:ext>
            </a:extLst>
          </p:cNvPr>
          <p:cNvSpPr>
            <a:spLocks xmlns:a="http://schemas.openxmlformats.org/drawingml/2006/main" noGrp="1"/>
          </p:cNvSpPr>
          <p:nvPr/>
        </p:nvSpPr>
        <p:spPr>
          <a:xfrm xmlns:a="http://schemas.openxmlformats.org/drawingml/2006/main">
            <a:off x="6210300" y="1762125"/>
            <a:ext cx="5229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Why Rust?</a:t>
            </a:r>
          </a:p>
        </p:txBody>
      </p:sp>
      <p:sp>
        <p:nvSpPr>
          <p:cNvPr id="5" name="text-5">
            <a:extLst xmlns:a="http://schemas.openxmlformats.org/drawingml/2006/main">
              <a:ext uri="{FF2B5EF4-FFF2-40B4-BE49-F238E27FC236}">
                <a16:creationId xmlns:a16="http://schemas.microsoft.com/office/drawing/2014/main" id="{DF215C05-2E75-46B7-99C0-416FCE4801BF}"/>
              </a:ext>
            </a:extLst>
          </p:cNvPr>
          <p:cNvSpPr>
            <a:spLocks xmlns:a="http://schemas.openxmlformats.org/drawingml/2006/main" noGrp="1"/>
          </p:cNvSpPr>
          <p:nvPr/>
        </p:nvSpPr>
        <p:spPr>
          <a:xfrm xmlns:a="http://schemas.openxmlformats.org/drawingml/2006/main">
            <a:off x="6210300" y="2247900"/>
            <a:ext cx="52292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Use ownership and types while keeping unsafe hardware code small and reviewable.</a:t>
            </a:r>
          </a:p>
        </p:txBody>
      </p:sp>
      <p:sp>
        <p:nvSpPr>
          <p:cNvPr id="6" name="text-6">
            <a:extLst xmlns:a="http://schemas.openxmlformats.org/drawingml/2006/main">
              <a:ext uri="{FF2B5EF4-FFF2-40B4-BE49-F238E27FC236}">
                <a16:creationId xmlns:a16="http://schemas.microsoft.com/office/drawing/2014/main" id="{2BEF2C8B-E6BA-4844-A47B-52475B48A790}"/>
              </a:ext>
            </a:extLst>
          </p:cNvPr>
          <p:cNvSpPr>
            <a:spLocks xmlns:a="http://schemas.openxmlformats.org/drawingml/2006/main" noGrp="1"/>
          </p:cNvSpPr>
          <p:nvPr/>
        </p:nvSpPr>
        <p:spPr>
          <a:xfrm xmlns:a="http://schemas.openxmlformats.org/drawingml/2006/main">
            <a:off x="609600" y="3257550"/>
            <a:ext cx="5229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Why Wasm first?</a:t>
            </a:r>
          </a:p>
        </p:txBody>
      </p:sp>
      <p:sp>
        <p:nvSpPr>
          <p:cNvPr id="7" name="text-7">
            <a:extLst xmlns:a="http://schemas.openxmlformats.org/drawingml/2006/main">
              <a:ext uri="{FF2B5EF4-FFF2-40B4-BE49-F238E27FC236}">
                <a16:creationId xmlns:a16="http://schemas.microsoft.com/office/drawing/2014/main" id="{91AF2817-3AA7-439A-9350-1A3AA1C2FF8E}"/>
              </a:ext>
            </a:extLst>
          </p:cNvPr>
          <p:cNvSpPr>
            <a:spLocks xmlns:a="http://schemas.openxmlformats.org/drawingml/2006/main" noGrp="1"/>
          </p:cNvSpPr>
          <p:nvPr/>
        </p:nvSpPr>
        <p:spPr>
          <a:xfrm xmlns:a="http://schemas.openxmlformats.org/drawingml/2006/main">
            <a:off x="609600" y="3743325"/>
            <a:ext cx="52292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A restricted import ABI gives a tractable state and input model.</a:t>
            </a:r>
          </a:p>
        </p:txBody>
      </p:sp>
      <p:sp>
        <p:nvSpPr>
          <p:cNvPr id="8" name="text-8">
            <a:extLst xmlns:a="http://schemas.openxmlformats.org/drawingml/2006/main">
              <a:ext uri="{FF2B5EF4-FFF2-40B4-BE49-F238E27FC236}">
                <a16:creationId xmlns:a16="http://schemas.microsoft.com/office/drawing/2014/main" id="{BDA08EEA-1767-47D8-8A82-BBD47D96CBE3}"/>
              </a:ext>
            </a:extLst>
          </p:cNvPr>
          <p:cNvSpPr>
            <a:spLocks xmlns:a="http://schemas.openxmlformats.org/drawingml/2006/main" noGrp="1"/>
          </p:cNvSpPr>
          <p:nvPr/>
        </p:nvSpPr>
        <p:spPr>
          <a:xfrm xmlns:a="http://schemas.openxmlformats.org/drawingml/2006/main">
            <a:off x="6210300" y="3257550"/>
            <a:ext cx="5229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What does AI add?</a:t>
            </a:r>
          </a:p>
        </p:txBody>
      </p:sp>
      <p:sp>
        <p:nvSpPr>
          <p:cNvPr id="9" name="text-9">
            <a:extLst xmlns:a="http://schemas.openxmlformats.org/drawingml/2006/main">
              <a:ext uri="{FF2B5EF4-FFF2-40B4-BE49-F238E27FC236}">
                <a16:creationId xmlns:a16="http://schemas.microsoft.com/office/drawing/2014/main" id="{DB25D399-62B4-48C2-80B9-7225FDB8B28F}"/>
              </a:ext>
            </a:extLst>
          </p:cNvPr>
          <p:cNvSpPr>
            <a:spLocks xmlns:a="http://schemas.openxmlformats.org/drawingml/2006/main" noGrp="1"/>
          </p:cNvSpPr>
          <p:nvPr/>
        </p:nvSpPr>
        <p:spPr>
          <a:xfrm xmlns:a="http://schemas.openxmlformats.org/drawingml/2006/main">
            <a:off x="6210300" y="3743325"/>
            <a:ext cx="52292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Candidate recovery strategies under the same deterministic enforcement boundary.</a:t>
            </a:r>
          </a:p>
        </p:txBody>
      </p:sp>
      <p:sp>
        <p:nvSpPr>
          <p:cNvPr id="10" name="text-10">
            <a:extLst xmlns:a="http://schemas.openxmlformats.org/drawingml/2006/main">
              <a:ext uri="{FF2B5EF4-FFF2-40B4-BE49-F238E27FC236}">
                <a16:creationId xmlns:a16="http://schemas.microsoft.com/office/drawing/2014/main" id="{D2026495-FBA9-4704-A9A7-A7F8D273E98D}"/>
              </a:ext>
            </a:extLst>
          </p:cNvPr>
          <p:cNvSpPr>
            <a:spLocks xmlns:a="http://schemas.openxmlformats.org/drawingml/2006/main" noGrp="1"/>
          </p:cNvSpPr>
          <p:nvPr/>
        </p:nvSpPr>
        <p:spPr>
          <a:xfrm xmlns:a="http://schemas.openxmlformats.org/drawingml/2006/main">
            <a:off x="609600" y="4752975"/>
            <a:ext cx="5229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What is the contribution?</a:t>
            </a:r>
          </a:p>
        </p:txBody>
      </p:sp>
      <p:sp>
        <p:nvSpPr>
          <p:cNvPr id="11" name="text-11">
            <a:extLst xmlns:a="http://schemas.openxmlformats.org/drawingml/2006/main">
              <a:ext uri="{FF2B5EF4-FFF2-40B4-BE49-F238E27FC236}">
                <a16:creationId xmlns:a16="http://schemas.microsoft.com/office/drawing/2014/main" id="{14C5CEA4-B4C5-4B58-9DC4-224EB50A4BFE}"/>
              </a:ext>
            </a:extLst>
          </p:cNvPr>
          <p:cNvSpPr>
            <a:spLocks xmlns:a="http://schemas.openxmlformats.org/drawingml/2006/main" noGrp="1"/>
          </p:cNvSpPr>
          <p:nvPr/>
        </p:nvSpPr>
        <p:spPr>
          <a:xfrm xmlns:a="http://schemas.openxmlformats.org/drawingml/2006/main">
            <a:off x="609600" y="5238750"/>
            <a:ext cx="52292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Evaluate recovery semantics that combine current authority, history and effects.</a:t>
            </a:r>
          </a:p>
        </p:txBody>
      </p:sp>
      <p:sp>
        <p:nvSpPr>
          <p:cNvPr id="12" name="text-12">
            <a:extLst xmlns:a="http://schemas.openxmlformats.org/drawingml/2006/main">
              <a:ext uri="{FF2B5EF4-FFF2-40B4-BE49-F238E27FC236}">
                <a16:creationId xmlns:a16="http://schemas.microsoft.com/office/drawing/2014/main" id="{BE4D7251-B14A-46B7-83DD-A1A376424605}"/>
              </a:ext>
            </a:extLst>
          </p:cNvPr>
          <p:cNvSpPr>
            <a:spLocks xmlns:a="http://schemas.openxmlformats.org/drawingml/2006/main" noGrp="1"/>
          </p:cNvSpPr>
          <p:nvPr/>
        </p:nvSpPr>
        <p:spPr>
          <a:xfrm xmlns:a="http://schemas.openxmlformats.org/drawingml/2006/main">
            <a:off x="6210300" y="4752975"/>
            <a:ext cx="5229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What proves completion?</a:t>
            </a:r>
          </a:p>
        </p:txBody>
      </p:sp>
      <p:sp>
        <p:nvSpPr>
          <p:cNvPr id="13" name="text-13">
            <a:extLst xmlns:a="http://schemas.openxmlformats.org/drawingml/2006/main">
              <a:ext uri="{FF2B5EF4-FFF2-40B4-BE49-F238E27FC236}">
                <a16:creationId xmlns:a16="http://schemas.microsoft.com/office/drawing/2014/main" id="{684967FD-E020-4B5B-A42E-A3DE7CFE4CA1}"/>
              </a:ext>
            </a:extLst>
          </p:cNvPr>
          <p:cNvSpPr>
            <a:spLocks xmlns:a="http://schemas.openxmlformats.org/drawingml/2006/main" noGrp="1"/>
          </p:cNvSpPr>
          <p:nvPr/>
        </p:nvSpPr>
        <p:spPr>
          <a:xfrm xmlns:a="http://schemas.openxmlformats.org/drawingml/2006/main">
            <a:off x="6210300" y="5238750"/>
            <a:ext cx="52292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A fault-and-recovery scenario with preserved state, authority and peer progress.</a:t>
            </a:r>
          </a:p>
        </p:txBody>
      </p:sp>
      <p:sp>
        <p:nvSpPr>
          <p:cNvPr id="14" name="text-14">
            <a:extLst xmlns:a="http://schemas.openxmlformats.org/drawingml/2006/main">
              <a:ext uri="{FF2B5EF4-FFF2-40B4-BE49-F238E27FC236}">
                <a16:creationId xmlns:a16="http://schemas.microsoft.com/office/drawing/2014/main" id="{5E2CE9B7-3CEE-4BCC-B47C-3B0DE4C46D42}"/>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27 / 30     The thesis and evaluation are proposed. Existing tests establish the current prototype behavior.</a:t>
            </a:r>
          </a:p>
        </p:txBody>
      </p:sp>
    </p:spTree>
    <p:extLst>
      <p:ext uri="{BB962C8B-B14F-4D97-AF65-F5344CB8AC3E}">
        <p14:creationId xmlns:p14="http://schemas.microsoft.com/office/powerpoint/2010/main" val="2117973353"/>
      </p:ext>
    </p:extLst>
  </p:cSld>
</p:sld>
</file>

<file path=ppt/slides/slide2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4" name="text-1">
            <a:extLst xmlns:a="http://schemas.openxmlformats.org/drawingml/2006/main">
              <a:ext uri="{FF2B5EF4-FFF2-40B4-BE49-F238E27FC236}">
                <a16:creationId xmlns:a16="http://schemas.microsoft.com/office/drawing/2014/main" id="{EF3F47CA-EC43-4AC5-B62A-8985F49FCA26}"/>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Technical backup: assurance claims</a:t>
            </a:r>
          </a:p>
        </p:txBody>
      </p:sp>
      <p:graphicFrame>
        <p:nvGraphicFramePr>
          <p:cNvPr id="2" name="">
            <a:extLst xmlns:a="http://schemas.openxmlformats.org/drawingml/2006/main">
              <a:ext uri="{FF2B5EF4-FFF2-40B4-BE49-F238E27FC236}">
                <a16:creationId xmlns:a16="http://schemas.microsoft.com/office/drawing/2014/main" id="{235DCB89-E8BE-4C01-8310-295C0F6DA45A}"/>
              </a:ext>
            </a:extLst>
          </p:cNvPr>
          <p:cNvGraphicFramePr/>
          <p:nvPr/>
        </p:nvGraphicFramePr>
        <p:xfrm>
          <a:off xmlns:a="http://schemas.openxmlformats.org/drawingml/2006/main" x="609600" y="1685925"/>
          <a:ext xmlns:a="http://schemas.openxmlformats.org/drawingml/2006/main" cx="10972800" cy="4552950"/>
        </p:xfrm>
        <a:graphic xmlns:a="http://schemas.openxmlformats.org/drawingml/2006/main">
          <a:graphicData uri="http://schemas.openxmlformats.org/drawingml/2006/table">
            <a:tbl>
              <a:tblPr firstRow="1" bandRow="0"/>
              <a:tblGrid>
                <a:gridCol w="3143250"/>
                <a:gridCol w="3857625"/>
                <a:gridCol w="3971925"/>
              </a:tblGrid>
              <a:tr h="457200">
                <a:tc>
                  <a:txBody>
                    <a:bodyPr/>
                    <a:lstStyle/>
                    <a:p>
                      <a:r>
                        <a:rPr sz="1725" b="1">
                          <a:solidFill>
                            <a:srgbClr val="FCFCF8"/>
                          </a:solidFill>
                          <a:latin typeface="Arial"/>
                          <a:ea typeface="Arial"/>
                          <a:cs typeface="Arial"/>
                        </a:rPr>
                        <a:t>Evidence or mechanism</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What it establishes</a:t>
                      </a:r>
                    </a:p>
                  </a:txBody>
                  <a:tcPr marL="133350" marR="133350" marT="66675" marB="66675" anchor="ctr">
                    <a:solidFill>
                      <a:srgbClr val="122632"/>
                    </a:solidFill>
                  </a:tcPr>
                </a:tc>
                <a:tc>
                  <a:txBody>
                    <a:bodyPr/>
                    <a:lstStyle/>
                    <a:p>
                      <a:r>
                        <a:rPr sz="1725" b="1">
                          <a:solidFill>
                            <a:srgbClr val="FCFCF8"/>
                          </a:solidFill>
                          <a:latin typeface="Arial"/>
                          <a:ea typeface="Arial"/>
                          <a:cs typeface="Arial"/>
                        </a:rPr>
                        <a:t>Limit</a:t>
                      </a:r>
                    </a:p>
                  </a:txBody>
                  <a:tcPr marL="133350" marR="133350" marT="66675" marB="66675" anchor="ctr">
                    <a:solidFill>
                      <a:srgbClr val="122632"/>
                    </a:solidFill>
                  </a:tcPr>
                </a:tc>
              </a:tr>
              <a:tr h="819150">
                <a:tc>
                  <a:txBody>
                    <a:bodyPr/>
                    <a:lstStyle/>
                    <a:p>
                      <a:r>
                        <a:rPr sz="1800" b="1">
                          <a:solidFill>
                            <a:srgbClr val="122632"/>
                          </a:solidFill>
                          <a:latin typeface="Arial"/>
                          <a:ea typeface="Arial"/>
                          <a:cs typeface="Arial"/>
                        </a:rPr>
                        <a:t>Unit tests</a:t>
                      </a:r>
                    </a:p>
                  </a:txBody>
                  <a:tcPr marL="133350" marR="133350" marT="66675" marB="66675" anchor="ctr">
                    <a:solidFill>
                      <a:srgbClr val="F6F4EE"/>
                    </a:solidFill>
                  </a:tcPr>
                </a:tc>
                <a:tc>
                  <a:txBody>
                    <a:bodyPr/>
                    <a:lstStyle/>
                    <a:p>
                      <a:r>
                        <a:rPr sz="1800" b="0">
                          <a:solidFill>
                            <a:srgbClr val="122632"/>
                          </a:solidFill>
                          <a:latin typeface="Arial"/>
                          <a:ea typeface="Arial"/>
                          <a:cs typeface="Arial"/>
                        </a:rPr>
                        <a:t>Expected behavior for exercised cases</a:t>
                      </a:r>
                    </a:p>
                  </a:txBody>
                  <a:tcPr marL="133350" marR="133350" marT="66675" marB="66675" anchor="ctr">
                    <a:solidFill>
                      <a:srgbClr val="F6F4EE"/>
                    </a:solidFill>
                  </a:tcPr>
                </a:tc>
                <a:tc>
                  <a:txBody>
                    <a:bodyPr/>
                    <a:lstStyle/>
                    <a:p>
                      <a:r>
                        <a:rPr sz="1800" b="0">
                          <a:solidFill>
                            <a:srgbClr val="122632"/>
                          </a:solidFill>
                          <a:latin typeface="Arial"/>
                          <a:ea typeface="Arial"/>
                          <a:cs typeface="Arial"/>
                        </a:rPr>
                        <a:t>No exhaustive whole-system proof</a:t>
                      </a:r>
                    </a:p>
                  </a:txBody>
                  <a:tcPr marL="133350" marR="133350" marT="66675" marB="66675" anchor="ctr">
                    <a:solidFill>
                      <a:srgbClr val="F6F4EE"/>
                    </a:solidFill>
                  </a:tcPr>
                </a:tc>
              </a:tr>
              <a:tr h="819150">
                <a:tc>
                  <a:txBody>
                    <a:bodyPr/>
                    <a:lstStyle/>
                    <a:p>
                      <a:r>
                        <a:rPr sz="1800" b="1">
                          <a:solidFill>
                            <a:srgbClr val="122632"/>
                          </a:solidFill>
                          <a:latin typeface="Arial"/>
                          <a:ea typeface="Arial"/>
                          <a:cs typeface="Arial"/>
                        </a:rPr>
                        <a:t>CPU fault probes</a:t>
                      </a:r>
                    </a:p>
                  </a:txBody>
                  <a:tcPr marL="133350" marR="133350" marT="66675" marB="66675" anchor="ctr">
                    <a:solidFill>
                      <a:srgbClr val="E9EDE7"/>
                    </a:solidFill>
                  </a:tcPr>
                </a:tc>
                <a:tc>
                  <a:txBody>
                    <a:bodyPr/>
                    <a:lstStyle/>
                    <a:p>
                      <a:r>
                        <a:rPr sz="1800" b="0">
                          <a:solidFill>
                            <a:srgbClr val="122632"/>
                          </a:solidFill>
                          <a:latin typeface="Arial"/>
                          <a:ea typeface="Arial"/>
                          <a:cs typeface="Arial"/>
                        </a:rPr>
                        <a:t>Protection on the test mapping</a:t>
                      </a:r>
                    </a:p>
                  </a:txBody>
                  <a:tcPr marL="133350" marR="133350" marT="66675" marB="66675" anchor="ctr">
                    <a:solidFill>
                      <a:srgbClr val="E9EDE7"/>
                    </a:solidFill>
                  </a:tcPr>
                </a:tc>
                <a:tc>
                  <a:txBody>
                    <a:bodyPr/>
                    <a:lstStyle/>
                    <a:p>
                      <a:r>
                        <a:rPr sz="1800" b="0">
                          <a:solidFill>
                            <a:srgbClr val="122632"/>
                          </a:solidFill>
                          <a:latin typeface="Arial"/>
                          <a:ea typeface="Arial"/>
                          <a:cs typeface="Arial"/>
                        </a:rPr>
                        <a:t>No process-isolation demo yet</a:t>
                      </a:r>
                    </a:p>
                  </a:txBody>
                  <a:tcPr marL="133350" marR="133350" marT="66675" marB="66675" anchor="ctr">
                    <a:solidFill>
                      <a:srgbClr val="E9EDE7"/>
                    </a:solidFill>
                  </a:tcPr>
                </a:tc>
              </a:tr>
              <a:tr h="819150">
                <a:tc>
                  <a:txBody>
                    <a:bodyPr/>
                    <a:lstStyle/>
                    <a:p>
                      <a:r>
                        <a:rPr sz="1800" b="1">
                          <a:solidFill>
                            <a:srgbClr val="122632"/>
                          </a:solidFill>
                          <a:latin typeface="Arial"/>
                          <a:ea typeface="Arial"/>
                          <a:cs typeface="Arial"/>
                        </a:rPr>
                        <a:t>Snapshot checksum</a:t>
                      </a:r>
                    </a:p>
                  </a:txBody>
                  <a:tcPr marL="133350" marR="133350" marT="66675" marB="66675" anchor="ctr">
                    <a:solidFill>
                      <a:srgbClr val="F6F4EE"/>
                    </a:solidFill>
                  </a:tcPr>
                </a:tc>
                <a:tc>
                  <a:txBody>
                    <a:bodyPr/>
                    <a:lstStyle/>
                    <a:p>
                      <a:r>
                        <a:rPr sz="1800" b="0">
                          <a:solidFill>
                            <a:srgbClr val="122632"/>
                          </a:solidFill>
                          <a:latin typeface="Arial"/>
                          <a:ea typeface="Arial"/>
                          <a:cs typeface="Arial"/>
                        </a:rPr>
                        <a:t>Detection of accidental changes</a:t>
                      </a:r>
                    </a:p>
                  </a:txBody>
                  <a:tcPr marL="133350" marR="133350" marT="66675" marB="66675" anchor="ctr">
                    <a:solidFill>
                      <a:srgbClr val="F6F4EE"/>
                    </a:solidFill>
                  </a:tcPr>
                </a:tc>
                <a:tc>
                  <a:txBody>
                    <a:bodyPr/>
                    <a:lstStyle/>
                    <a:p>
                      <a:r>
                        <a:rPr sz="1800" b="0">
                          <a:solidFill>
                            <a:srgbClr val="122632"/>
                          </a:solidFill>
                          <a:latin typeface="Arial"/>
                          <a:ea typeface="Arial"/>
                          <a:cs typeface="Arial"/>
                        </a:rPr>
                        <a:t>No authenticity or semantic validity</a:t>
                      </a:r>
                    </a:p>
                  </a:txBody>
                  <a:tcPr marL="133350" marR="133350" marT="66675" marB="66675" anchor="ctr">
                    <a:solidFill>
                      <a:srgbClr val="F6F4EE"/>
                    </a:solidFill>
                  </a:tcPr>
                </a:tc>
              </a:tr>
              <a:tr h="819150">
                <a:tc>
                  <a:txBody>
                    <a:bodyPr/>
                    <a:lstStyle/>
                    <a:p>
                      <a:r>
                        <a:rPr sz="1800" b="1">
                          <a:solidFill>
                            <a:srgbClr val="122632"/>
                          </a:solidFill>
                          <a:latin typeface="Arial"/>
                          <a:ea typeface="Arial"/>
                          <a:cs typeface="Arial"/>
                        </a:rPr>
                        <a:t>Deterministic verifier</a:t>
                      </a:r>
                    </a:p>
                  </a:txBody>
                  <a:tcPr marL="133350" marR="133350" marT="66675" marB="66675" anchor="ctr">
                    <a:solidFill>
                      <a:srgbClr val="E9EDE7"/>
                    </a:solidFill>
                  </a:tcPr>
                </a:tc>
                <a:tc>
                  <a:txBody>
                    <a:bodyPr/>
                    <a:lstStyle/>
                    <a:p>
                      <a:r>
                        <a:rPr sz="1800" b="0">
                          <a:solidFill>
                            <a:srgbClr val="122632"/>
                          </a:solidFill>
                          <a:latin typeface="Arial"/>
                          <a:ea typeface="Arial"/>
                          <a:cs typeface="Arial"/>
                        </a:rPr>
                        <a:t>Planned rejection against a policy</a:t>
                      </a:r>
                    </a:p>
                  </a:txBody>
                  <a:tcPr marL="133350" marR="133350" marT="66675" marB="66675" anchor="ctr">
                    <a:solidFill>
                      <a:srgbClr val="E9EDE7"/>
                    </a:solidFill>
                  </a:tcPr>
                </a:tc>
                <a:tc>
                  <a:txBody>
                    <a:bodyPr/>
                    <a:lstStyle/>
                    <a:p>
                      <a:r>
                        <a:rPr sz="1800" b="0">
                          <a:solidFill>
                            <a:srgbClr val="122632"/>
                          </a:solidFill>
                          <a:latin typeface="Arial"/>
                          <a:ea typeface="Arial"/>
                          <a:cs typeface="Arial"/>
                        </a:rPr>
                        <a:t>Needs a specification and sound executor</a:t>
                      </a:r>
                    </a:p>
                  </a:txBody>
                  <a:tcPr marL="133350" marR="133350" marT="66675" marB="66675" anchor="ctr">
                    <a:solidFill>
                      <a:srgbClr val="E9EDE7"/>
                    </a:solidFill>
                  </a:tcPr>
                </a:tc>
              </a:tr>
              <a:tr h="819150">
                <a:tc>
                  <a:txBody>
                    <a:bodyPr/>
                    <a:lstStyle/>
                    <a:p>
                      <a:r>
                        <a:rPr sz="1800" b="1">
                          <a:solidFill>
                            <a:srgbClr val="122632"/>
                          </a:solidFill>
                          <a:latin typeface="Arial"/>
                          <a:ea typeface="Arial"/>
                          <a:cs typeface="Arial"/>
                        </a:rPr>
                        <a:t>Formal proof</a:t>
                      </a:r>
                    </a:p>
                  </a:txBody>
                  <a:tcPr marL="133350" marR="133350" marT="66675" marB="66675" anchor="ctr">
                    <a:solidFill>
                      <a:srgbClr val="F6F4EE"/>
                    </a:solidFill>
                  </a:tcPr>
                </a:tc>
                <a:tc>
                  <a:txBody>
                    <a:bodyPr/>
                    <a:lstStyle/>
                    <a:p>
                      <a:r>
                        <a:rPr sz="1800" b="0">
                          <a:solidFill>
                            <a:srgbClr val="122632"/>
                          </a:solidFill>
                          <a:latin typeface="Arial"/>
                          <a:ea typeface="Arial"/>
                          <a:cs typeface="Arial"/>
                        </a:rPr>
                        <a:t>A theorem under explicit assumptions</a:t>
                      </a:r>
                    </a:p>
                  </a:txBody>
                  <a:tcPr marL="133350" marR="133350" marT="66675" marB="66675" anchor="ctr">
                    <a:solidFill>
                      <a:srgbClr val="F6F4EE"/>
                    </a:solidFill>
                  </a:tcPr>
                </a:tc>
                <a:tc>
                  <a:txBody>
                    <a:bodyPr/>
                    <a:lstStyle/>
                    <a:p>
                      <a:r>
                        <a:rPr sz="1800" b="0">
                          <a:solidFill>
                            <a:srgbClr val="122632"/>
                          </a:solidFill>
                          <a:latin typeface="Arial"/>
                          <a:ea typeface="Arial"/>
                          <a:cs typeface="Arial"/>
                        </a:rPr>
                        <a:t>Not completed for MnemosyneOS</a:t>
                      </a:r>
                    </a:p>
                  </a:txBody>
                  <a:tcPr marL="133350" marR="133350" marT="66675" marB="66675" anchor="ctr">
                    <a:solidFill>
                      <a:srgbClr val="F6F4EE"/>
                    </a:solidFill>
                  </a:tcPr>
                </a:tc>
              </a:tr>
            </a:tbl>
          </a:graphicData>
        </a:graphic>
      </p:graphicFrame>
      <p:sp>
        <p:nvSpPr>
          <p:cNvPr id="3" name="text-2">
            <a:extLst xmlns:a="http://schemas.openxmlformats.org/drawingml/2006/main">
              <a:ext uri="{FF2B5EF4-FFF2-40B4-BE49-F238E27FC236}">
                <a16:creationId xmlns:a16="http://schemas.microsoft.com/office/drawing/2014/main" id="{C9E86000-BA26-4B6F-97B0-ABA3A43CF5A1}"/>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28 / 30     “Verified AI-assisted recovery” names the proposed check-before-execution objective.</a:t>
            </a:r>
          </a:p>
        </p:txBody>
      </p:sp>
    </p:spTree>
    <p:extLst>
      <p:ext uri="{BB962C8B-B14F-4D97-AF65-F5344CB8AC3E}">
        <p14:creationId xmlns:p14="http://schemas.microsoft.com/office/powerpoint/2010/main" val="1590500385"/>
      </p:ext>
    </p:extLst>
  </p:cSld>
</p:sld>
</file>

<file path=ppt/slides/slide2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52517D4D-3437-4DB9-BC04-C695EA67E504}"/>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Formal project proposal</a:t>
            </a:r>
          </a:p>
        </p:txBody>
      </p:sp>
      <p:sp>
        <p:nvSpPr>
          <p:cNvPr id="2" name="text-2">
            <a:extLst xmlns:a="http://schemas.openxmlformats.org/drawingml/2006/main">
              <a:ext uri="{FF2B5EF4-FFF2-40B4-BE49-F238E27FC236}">
                <a16:creationId xmlns:a16="http://schemas.microsoft.com/office/drawing/2014/main" id="{E4AA92DF-C051-47DB-92F0-E7B55C36470E}"/>
              </a:ext>
            </a:extLst>
          </p:cNvPr>
          <p:cNvSpPr>
            <a:spLocks xmlns:a="http://schemas.openxmlformats.org/drawingml/2006/main" noGrp="1"/>
          </p:cNvSpPr>
          <p:nvPr/>
        </p:nvSpPr>
        <p:spPr>
          <a:xfrm xmlns:a="http://schemas.openxmlformats.org/drawingml/2006/main">
            <a:off x="609600" y="1609725"/>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46B5F"/>
                </a:solidFill>
                <a:latin typeface="Arial"/>
                <a:ea typeface="Arial"/>
                <a:cs typeface="Arial"/>
              </a:defRPr>
            </a:defPPr>
          </a:lstStyle>
          <a:p xmlns:a="http://schemas.openxmlformats.org/drawingml/2006/main">
            <a:pPr>
              <a:defRPr sz="2175" b="1">
                <a:solidFill>
                  <a:srgbClr val="146B5F"/>
                </a:solidFill>
                <a:latin typeface="Arial"/>
                <a:ea typeface="Arial"/>
                <a:cs typeface="Arial"/>
              </a:defRPr>
            </a:pPr>
            <a:r>
              <a:rPr sz="2175" b="1">
                <a:solidFill>
                  <a:srgbClr val="146B5F"/>
                </a:solidFill>
                <a:latin typeface="Arial"/>
                <a:ea typeface="Arial"/>
                <a:cs typeface="Arial"/>
              </a:rPr>
              <a:t>MnemosyneOS: Design and Implementation of a Capability-Secure Microkernel with Deterministic Service Replay and Verified AI-Assisted Recovery</a:t>
            </a:r>
          </a:p>
        </p:txBody>
      </p:sp>
      <p:sp>
        <p:nvSpPr>
          <p:cNvPr id="3" name="text-3">
            <a:extLst xmlns:a="http://schemas.openxmlformats.org/drawingml/2006/main">
              <a:ext uri="{FF2B5EF4-FFF2-40B4-BE49-F238E27FC236}">
                <a16:creationId xmlns:a16="http://schemas.microsoft.com/office/drawing/2014/main" id="{78F000C0-6F3B-4C80-A747-3F2AC3C9255E}"/>
              </a:ext>
            </a:extLst>
          </p:cNvPr>
          <p:cNvSpPr>
            <a:spLocks xmlns:a="http://schemas.openxmlformats.org/drawingml/2006/main" noGrp="1"/>
          </p:cNvSpPr>
          <p:nvPr/>
        </p:nvSpPr>
        <p:spPr>
          <a:xfrm xmlns:a="http://schemas.openxmlformats.org/drawingml/2006/main">
            <a:off x="609600" y="2971800"/>
            <a:ext cx="10972800" cy="3171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122632"/>
                </a:solidFill>
                <a:latin typeface="Arial"/>
                <a:ea typeface="Arial"/>
                <a:cs typeface="Arial"/>
              </a:defRPr>
            </a:defPPr>
          </a:lstStyle>
          <a:p xmlns:a="http://schemas.openxmlformats.org/drawingml/2006/main">
            <a:pPr>
              <a:defRPr sz="1875" b="0">
                <a:solidFill>
                  <a:srgbClr val="122632"/>
                </a:solidFill>
                <a:latin typeface="Arial"/>
                <a:ea typeface="Arial"/>
                <a:cs typeface="Arial"/>
              </a:defRPr>
            </a:pPr>
            <a:r>
              <a:rPr sz="1875" b="0">
                <a:solidFill>
                  <a:srgbClr val="122632"/>
                </a:solidFill>
                <a:latin typeface="Arial"/>
                <a:ea typeface="Arial"/>
                <a:cs typeface="Arial"/>
              </a:rPr>
              <a:t>MnemosyneOS is a research-oriented 64-bit microkernel designed to isolate, monitor and recover autonomous and potentially untrusted workloads. The system implements virtual memory, preemptive process scheduling, capability-based access control, inter-process communication, userspace services, a transactional snapshotting filesystem and a WebAssembly application runtime. Individual services may be checkpointed using copy-on-write memory and replayed using recorded IPC messages and nondeterministic system inputs. An AI-assisted control plane analyzes structured fault traces and proposes recovery actions in a typed policy language. Proposed actions are checked by a deterministic verifier for capability authority, resource bounds, privilege amplification, bounded execution and rollback availability before they are executed. The project evaluates IPC overhead, capability-validation cost, WebAssembly performance, checkpoint overhead, replay fidelity, failure-containment effectiveness and mean recovery time under injected faults.</a:t>
            </a:r>
          </a:p>
        </p:txBody>
      </p:sp>
      <p:sp>
        <p:nvSpPr>
          <p:cNvPr id="4" name="text-4">
            <a:extLst xmlns:a="http://schemas.openxmlformats.org/drawingml/2006/main">
              <a:ext uri="{FF2B5EF4-FFF2-40B4-BE49-F238E27FC236}">
                <a16:creationId xmlns:a16="http://schemas.microsoft.com/office/drawing/2014/main" id="{AE95765F-E5F2-4107-A1F9-D653CD6CBB70}"/>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29 / 30     Original proposed title and abstract. Feature statements describe completion targets, not current implementation.</a:t>
            </a:r>
          </a:p>
        </p:txBody>
      </p:sp>
    </p:spTree>
    <p:extLst>
      <p:ext uri="{BB962C8B-B14F-4D97-AF65-F5344CB8AC3E}">
        <p14:creationId xmlns:p14="http://schemas.microsoft.com/office/powerpoint/2010/main" val="2081883320"/>
      </p:ext>
    </p:extLst>
  </p:cSld>
</p:sld>
</file>

<file path=ppt/slides/slide3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5" name="text-1">
            <a:extLst xmlns:a="http://schemas.openxmlformats.org/drawingml/2006/main">
              <a:ext uri="{FF2B5EF4-FFF2-40B4-BE49-F238E27FC236}">
                <a16:creationId xmlns:a16="http://schemas.microsoft.com/office/drawing/2014/main" id="{30616CC3-D650-4E9A-9B18-ED65FEA10B8E}"/>
              </a:ext>
            </a:extLst>
          </p:cNvPr>
          <p:cNvSpPr>
            <a:spLocks xmlns:a="http://schemas.openxmlformats.org/drawingml/2006/main" noGrp="1"/>
          </p:cNvSpPr>
          <p:nvPr/>
        </p:nvSpPr>
        <p:spPr>
          <a:xfrm xmlns:a="http://schemas.openxmlformats.org/drawingml/2006/main">
            <a:off x="609600" y="514350"/>
            <a:ext cx="109728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22632"/>
                </a:solidFill>
                <a:latin typeface="Arial"/>
                <a:ea typeface="Arial"/>
                <a:cs typeface="Arial"/>
              </a:defRPr>
            </a:defPPr>
          </a:lstStyle>
          <a:p xmlns:a="http://schemas.openxmlformats.org/drawingml/2006/main">
            <a:pPr>
              <a:defRPr sz="3300" b="1">
                <a:solidFill>
                  <a:srgbClr val="122632"/>
                </a:solidFill>
                <a:latin typeface="Arial"/>
                <a:ea typeface="Arial"/>
                <a:cs typeface="Arial"/>
              </a:defRPr>
            </a:pPr>
            <a:r>
              <a:rPr sz="3300" b="1">
                <a:solidFill>
                  <a:srgbClr val="122632"/>
                </a:solidFill>
                <a:latin typeface="Arial"/>
                <a:ea typeface="Arial"/>
                <a:cs typeface="Arial"/>
              </a:rPr>
              <a:t>Selected papers and source repositories</a:t>
            </a:r>
          </a:p>
        </p:txBody>
      </p:sp>
      <p:sp>
        <p:nvSpPr>
          <p:cNvPr id="2" name="text-2">
            <a:extLst xmlns:a="http://schemas.openxmlformats.org/drawingml/2006/main">
              <a:ext uri="{FF2B5EF4-FFF2-40B4-BE49-F238E27FC236}">
                <a16:creationId xmlns:a16="http://schemas.microsoft.com/office/drawing/2014/main" id="{093132E3-2438-49B5-B944-C244BD33129E}"/>
              </a:ext>
            </a:extLst>
          </p:cNvPr>
          <p:cNvSpPr>
            <a:spLocks xmlns:a="http://schemas.openxmlformats.org/drawingml/2006/main" noGrp="1"/>
          </p:cNvSpPr>
          <p:nvPr/>
        </p:nvSpPr>
        <p:spPr>
          <a:xfrm xmlns:a="http://schemas.openxmlformats.org/drawingml/2006/main">
            <a:off x="609600" y="172402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seL4</a:t>
            </a:r>
          </a:p>
        </p:txBody>
      </p:sp>
      <p:sp>
        <p:nvSpPr>
          <p:cNvPr id="3" name="text-3">
            <a:extLst xmlns:a="http://schemas.openxmlformats.org/drawingml/2006/main">
              <a:ext uri="{FF2B5EF4-FFF2-40B4-BE49-F238E27FC236}">
                <a16:creationId xmlns:a16="http://schemas.microsoft.com/office/drawing/2014/main" id="{A940B80D-6D82-4C99-82ED-E3727DCA957D}"/>
              </a:ext>
            </a:extLst>
          </p:cNvPr>
          <p:cNvSpPr>
            <a:spLocks xmlns:a="http://schemas.openxmlformats.org/drawingml/2006/main" noGrp="1"/>
          </p:cNvSpPr>
          <p:nvPr/>
        </p:nvSpPr>
        <p:spPr>
          <a:xfrm xmlns:a="http://schemas.openxmlformats.org/drawingml/2006/main">
            <a:off x="4324350" y="1724025"/>
            <a:ext cx="7096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Klein et al., SOSP 2009</a:t>
            </a:r>
          </a:p>
        </p:txBody>
      </p:sp>
      <p:sp>
        <p:nvSpPr>
          <p:cNvPr id="4" name="text-4">
            <a:extLst xmlns:a="http://schemas.openxmlformats.org/drawingml/2006/main">
              <a:ext uri="{FF2B5EF4-FFF2-40B4-BE49-F238E27FC236}">
                <a16:creationId xmlns:a16="http://schemas.microsoft.com/office/drawing/2014/main" id="{52BAEBFE-22DC-4005-AFA1-5E41D7C36639}"/>
              </a:ext>
            </a:extLst>
          </p:cNvPr>
          <p:cNvSpPr>
            <a:spLocks xmlns:a="http://schemas.openxmlformats.org/drawingml/2006/main" noGrp="1"/>
          </p:cNvSpPr>
          <p:nvPr/>
        </p:nvSpPr>
        <p:spPr>
          <a:xfrm xmlns:a="http://schemas.openxmlformats.org/drawingml/2006/main">
            <a:off x="609600" y="243840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Theseus</a:t>
            </a:r>
          </a:p>
        </p:txBody>
      </p:sp>
      <p:sp>
        <p:nvSpPr>
          <p:cNvPr id="5" name="text-5">
            <a:extLst xmlns:a="http://schemas.openxmlformats.org/drawingml/2006/main">
              <a:ext uri="{FF2B5EF4-FFF2-40B4-BE49-F238E27FC236}">
                <a16:creationId xmlns:a16="http://schemas.microsoft.com/office/drawing/2014/main" id="{F400C659-F9B2-4C9C-A8FF-2504D2FC50ED}"/>
              </a:ext>
            </a:extLst>
          </p:cNvPr>
          <p:cNvSpPr>
            <a:spLocks xmlns:a="http://schemas.openxmlformats.org/drawingml/2006/main" noGrp="1"/>
          </p:cNvSpPr>
          <p:nvPr/>
        </p:nvSpPr>
        <p:spPr>
          <a:xfrm xmlns:a="http://schemas.openxmlformats.org/drawingml/2006/main">
            <a:off x="4324350" y="2438400"/>
            <a:ext cx="7096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Boos et al., OSDI 2020</a:t>
            </a:r>
          </a:p>
        </p:txBody>
      </p:sp>
      <p:sp>
        <p:nvSpPr>
          <p:cNvPr id="6" name="text-6">
            <a:extLst xmlns:a="http://schemas.openxmlformats.org/drawingml/2006/main">
              <a:ext uri="{FF2B5EF4-FFF2-40B4-BE49-F238E27FC236}">
                <a16:creationId xmlns:a16="http://schemas.microsoft.com/office/drawing/2014/main" id="{8BA633AB-C7A5-4433-ADBA-8A52993F0759}"/>
              </a:ext>
            </a:extLst>
          </p:cNvPr>
          <p:cNvSpPr>
            <a:spLocks xmlns:a="http://schemas.openxmlformats.org/drawingml/2006/main" noGrp="1"/>
          </p:cNvSpPr>
          <p:nvPr/>
        </p:nvSpPr>
        <p:spPr>
          <a:xfrm xmlns:a="http://schemas.openxmlformats.org/drawingml/2006/main">
            <a:off x="609600" y="315277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RIFL</a:t>
            </a:r>
          </a:p>
        </p:txBody>
      </p:sp>
      <p:sp>
        <p:nvSpPr>
          <p:cNvPr id="7" name="text-7">
            <a:extLst xmlns:a="http://schemas.openxmlformats.org/drawingml/2006/main">
              <a:ext uri="{FF2B5EF4-FFF2-40B4-BE49-F238E27FC236}">
                <a16:creationId xmlns:a16="http://schemas.microsoft.com/office/drawing/2014/main" id="{ED54588F-0A41-45D5-8995-C135816EF962}"/>
              </a:ext>
            </a:extLst>
          </p:cNvPr>
          <p:cNvSpPr>
            <a:spLocks xmlns:a="http://schemas.openxmlformats.org/drawingml/2006/main" noGrp="1"/>
          </p:cNvSpPr>
          <p:nvPr/>
        </p:nvSpPr>
        <p:spPr>
          <a:xfrm xmlns:a="http://schemas.openxmlformats.org/drawingml/2006/main">
            <a:off x="4324350" y="3152775"/>
            <a:ext cx="7096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Lee et al., SOSP 2015</a:t>
            </a:r>
          </a:p>
        </p:txBody>
      </p:sp>
      <p:sp>
        <p:nvSpPr>
          <p:cNvPr id="8" name="text-8">
            <a:extLst xmlns:a="http://schemas.openxmlformats.org/drawingml/2006/main">
              <a:ext uri="{FF2B5EF4-FFF2-40B4-BE49-F238E27FC236}">
                <a16:creationId xmlns:a16="http://schemas.microsoft.com/office/drawing/2014/main" id="{165D15A6-8763-42A4-9B1B-2FDC4432BFA8}"/>
              </a:ext>
            </a:extLst>
          </p:cNvPr>
          <p:cNvSpPr>
            <a:spLocks xmlns:a="http://schemas.openxmlformats.org/drawingml/2006/main" noGrp="1"/>
          </p:cNvSpPr>
          <p:nvPr/>
        </p:nvSpPr>
        <p:spPr>
          <a:xfrm xmlns:a="http://schemas.openxmlformats.org/drawingml/2006/main">
            <a:off x="609600" y="386715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CrashMonkey / B3</a:t>
            </a:r>
          </a:p>
        </p:txBody>
      </p:sp>
      <p:sp>
        <p:nvSpPr>
          <p:cNvPr id="9" name="text-9">
            <a:extLst xmlns:a="http://schemas.openxmlformats.org/drawingml/2006/main">
              <a:ext uri="{FF2B5EF4-FFF2-40B4-BE49-F238E27FC236}">
                <a16:creationId xmlns:a16="http://schemas.microsoft.com/office/drawing/2014/main" id="{3E5FC095-93EB-47BF-8376-E4585F23035F}"/>
              </a:ext>
            </a:extLst>
          </p:cNvPr>
          <p:cNvSpPr>
            <a:spLocks xmlns:a="http://schemas.openxmlformats.org/drawingml/2006/main" noGrp="1"/>
          </p:cNvSpPr>
          <p:nvPr/>
        </p:nvSpPr>
        <p:spPr>
          <a:xfrm xmlns:a="http://schemas.openxmlformats.org/drawingml/2006/main">
            <a:off x="4324350" y="3867150"/>
            <a:ext cx="7096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Mohan et al., OSDI 2018</a:t>
            </a:r>
          </a:p>
        </p:txBody>
      </p:sp>
      <p:sp>
        <p:nvSpPr>
          <p:cNvPr id="10" name="text-10">
            <a:extLst xmlns:a="http://schemas.openxmlformats.org/drawingml/2006/main">
              <a:ext uri="{FF2B5EF4-FFF2-40B4-BE49-F238E27FC236}">
                <a16:creationId xmlns:a16="http://schemas.microsoft.com/office/drawing/2014/main" id="{EAF19EE5-6EFE-4990-9330-AE74CCE40038}"/>
              </a:ext>
            </a:extLst>
          </p:cNvPr>
          <p:cNvSpPr>
            <a:spLocks xmlns:a="http://schemas.openxmlformats.org/drawingml/2006/main" noGrp="1"/>
          </p:cNvSpPr>
          <p:nvPr/>
        </p:nvSpPr>
        <p:spPr>
          <a:xfrm xmlns:a="http://schemas.openxmlformats.org/drawingml/2006/main">
            <a:off x="609600" y="458152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LLM-Modulo planning</a:t>
            </a:r>
          </a:p>
        </p:txBody>
      </p:sp>
      <p:sp>
        <p:nvSpPr>
          <p:cNvPr id="11" name="text-11">
            <a:extLst xmlns:a="http://schemas.openxmlformats.org/drawingml/2006/main">
              <a:ext uri="{FF2B5EF4-FFF2-40B4-BE49-F238E27FC236}">
                <a16:creationId xmlns:a16="http://schemas.microsoft.com/office/drawing/2014/main" id="{183315E1-B532-47C5-BD58-AA416FA083E7}"/>
              </a:ext>
            </a:extLst>
          </p:cNvPr>
          <p:cNvSpPr>
            <a:spLocks xmlns:a="http://schemas.openxmlformats.org/drawingml/2006/main" noGrp="1"/>
          </p:cNvSpPr>
          <p:nvPr/>
        </p:nvSpPr>
        <p:spPr>
          <a:xfrm xmlns:a="http://schemas.openxmlformats.org/drawingml/2006/main">
            <a:off x="4324350" y="4581525"/>
            <a:ext cx="7096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Gundawar et al., arXiv 2024</a:t>
            </a:r>
          </a:p>
        </p:txBody>
      </p:sp>
      <p:sp>
        <p:nvSpPr>
          <p:cNvPr id="12" name="text-12">
            <a:extLst xmlns:a="http://schemas.openxmlformats.org/drawingml/2006/main">
              <a:ext uri="{FF2B5EF4-FFF2-40B4-BE49-F238E27FC236}">
                <a16:creationId xmlns:a16="http://schemas.microsoft.com/office/drawing/2014/main" id="{D26061CC-005E-4D81-8ABA-79529F343807}"/>
              </a:ext>
            </a:extLst>
          </p:cNvPr>
          <p:cNvSpPr>
            <a:spLocks xmlns:a="http://schemas.openxmlformats.org/drawingml/2006/main" noGrp="1"/>
          </p:cNvSpPr>
          <p:nvPr/>
        </p:nvSpPr>
        <p:spPr>
          <a:xfrm xmlns:a="http://schemas.openxmlformats.org/drawingml/2006/main">
            <a:off x="609600" y="5295900"/>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146B5F"/>
                </a:solidFill>
                <a:latin typeface="Arial"/>
                <a:ea typeface="Arial"/>
                <a:cs typeface="Arial"/>
              </a:defRPr>
            </a:defPPr>
          </a:lstStyle>
          <a:p xmlns:a="http://schemas.openxmlformats.org/drawingml/2006/main">
            <a:pPr>
              <a:defRPr sz="2100" b="1">
                <a:solidFill>
                  <a:srgbClr val="146B5F"/>
                </a:solidFill>
                <a:latin typeface="Arial"/>
                <a:ea typeface="Arial"/>
                <a:cs typeface="Arial"/>
              </a:defRPr>
            </a:pPr>
            <a:r>
              <a:rPr sz="2100" b="1">
                <a:solidFill>
                  <a:srgbClr val="146B5F"/>
                </a:solidFill>
                <a:latin typeface="Arial"/>
                <a:ea typeface="Arial"/>
                <a:cs typeface="Arial"/>
              </a:rPr>
              <a:t>Implementation reuse</a:t>
            </a:r>
          </a:p>
        </p:txBody>
      </p:sp>
      <p:sp>
        <p:nvSpPr>
          <p:cNvPr id="13" name="text-13">
            <a:extLst xmlns:a="http://schemas.openxmlformats.org/drawingml/2006/main">
              <a:ext uri="{FF2B5EF4-FFF2-40B4-BE49-F238E27FC236}">
                <a16:creationId xmlns:a16="http://schemas.microsoft.com/office/drawing/2014/main" id="{244FC5AC-E894-4D9A-85D1-F34086CC32B7}"/>
              </a:ext>
            </a:extLst>
          </p:cNvPr>
          <p:cNvSpPr>
            <a:spLocks xmlns:a="http://schemas.openxmlformats.org/drawingml/2006/main" noGrp="1"/>
          </p:cNvSpPr>
          <p:nvPr/>
        </p:nvSpPr>
        <p:spPr>
          <a:xfrm xmlns:a="http://schemas.openxmlformats.org/drawingml/2006/main">
            <a:off x="4324350" y="5295900"/>
            <a:ext cx="70961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22632"/>
                </a:solidFill>
                <a:latin typeface="Arial"/>
                <a:ea typeface="Arial"/>
                <a:cs typeface="Arial"/>
              </a:defRPr>
            </a:defPPr>
          </a:lstStyle>
          <a:p xmlns:a="http://schemas.openxmlformats.org/drawingml/2006/main">
            <a:pPr>
              <a:defRPr sz="2025" b="0">
                <a:solidFill>
                  <a:srgbClr val="122632"/>
                </a:solidFill>
                <a:latin typeface="Arial"/>
                <a:ea typeface="Arial"/>
                <a:cs typeface="Arial"/>
              </a:defRPr>
            </a:pPr>
            <a:r>
              <a:rPr sz="2025" b="0">
                <a:solidFill>
                  <a:srgbClr val="122632"/>
                </a:solidFill>
                <a:latin typeface="Arial"/>
                <a:ea typeface="Arial"/>
                <a:cs typeface="Arial"/>
              </a:rPr>
              <a:t>Limine, Rust OSDev, Wasmi, wasm-tools</a:t>
            </a:r>
          </a:p>
        </p:txBody>
      </p:sp>
      <p:sp>
        <p:nvSpPr>
          <p:cNvPr id="14" name="text-14">
            <a:extLst xmlns:a="http://schemas.openxmlformats.org/drawingml/2006/main">
              <a:ext uri="{FF2B5EF4-FFF2-40B4-BE49-F238E27FC236}">
                <a16:creationId xmlns:a16="http://schemas.microsoft.com/office/drawing/2014/main" id="{6C033F49-49DA-4285-93F3-FC0FD9D8D764}"/>
              </a:ext>
            </a:extLst>
          </p:cNvPr>
          <p:cNvSpPr>
            <a:spLocks xmlns:a="http://schemas.openxmlformats.org/drawingml/2006/main" noGrp="1"/>
          </p:cNvSpPr>
          <p:nvPr/>
        </p:nvSpPr>
        <p:spPr>
          <a:xfrm xmlns:a="http://schemas.openxmlformats.org/drawingml/2006/main">
            <a:off x="609600" y="64484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8656A"/>
                </a:solidFill>
                <a:latin typeface="Arial"/>
                <a:ea typeface="Arial"/>
                <a:cs typeface="Arial"/>
              </a:defRPr>
            </a:defPPr>
          </a:lstStyle>
          <a:p xmlns:a="http://schemas.openxmlformats.org/drawingml/2006/main">
            <a:pPr>
              <a:defRPr sz="1200" b="0">
                <a:solidFill>
                  <a:srgbClr val="58656A"/>
                </a:solidFill>
                <a:latin typeface="Arial"/>
                <a:ea typeface="Arial"/>
                <a:cs typeface="Arial"/>
              </a:defRPr>
            </a:pPr>
            <a:r>
              <a:rPr sz="1200" b="0">
                <a:solidFill>
                  <a:srgbClr val="58656A"/>
                </a:solidFill>
                <a:latin typeface="Arial"/>
                <a:ea typeface="Arial"/>
                <a:cs typeface="Arial"/>
              </a:rPr>
              <a:t>30 / 30     Full citations and links appear in speaker notes. Repository research docs provide the extended review.</a:t>
            </a:r>
          </a:p>
        </p:txBody>
      </p:sp>
    </p:spTree>
    <p:extLst>
      <p:ext uri="{BB962C8B-B14F-4D97-AF65-F5344CB8AC3E}">
        <p14:creationId xmlns:p14="http://schemas.microsoft.com/office/powerpoint/2010/main" val="14730710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2026-10-09T05:33:38.3530000Z</dcterms:created>
  <dcterms:modified xsi:type="dcterms:W3CDTF">2026-10-09T05:33:38.3530000Z</dcterms:modified>
</coreProperties>
</file>